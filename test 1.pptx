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</p:sldMasterIdLst>
  <p:notesMasterIdLst>
    <p:notesMasterId r:id="rId11"/>
  </p:notesMasterIdLst>
  <p:sldIdLst>
    <p:sldId id="791" r:id="rId3"/>
    <p:sldId id="790" r:id="rId4"/>
    <p:sldId id="794" r:id="rId5"/>
    <p:sldId id="800" r:id="rId6"/>
    <p:sldId id="798" r:id="rId7"/>
    <p:sldId id="2147482627" r:id="rId8"/>
    <p:sldId id="795" r:id="rId9"/>
    <p:sldId id="79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116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1F4CBB-CCA9-4478-9FE6-9AACB69F7CDA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405DF1-20C6-4C37-9E38-6523CB6B5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081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B6A19A-5A46-4852-A445-67FCE37572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79630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6" Type="http://schemas.openxmlformats.org/officeDocument/2006/relationships/image" Target="../media/image7.emf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9.emf"/><Relationship Id="rId5" Type="http://schemas.openxmlformats.org/officeDocument/2006/relationships/image" Target="../media/image8.jpg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6.bin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7" Type="http://schemas.microsoft.com/office/2007/relationships/hdphoto" Target="../media/hdphoto1.wdp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emf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2119" y="1595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30" imgH="433" progId="TCLayout.ActiveDocument.1">
                  <p:embed/>
                </p:oleObj>
              </mc:Choice>
              <mc:Fallback>
                <p:oleObj name="think-cell Slide" r:id="rId3" imgW="430" imgH="433" progId="TCLayout.ActiveDocument.1">
                  <p:embed/>
                  <p:pic>
                    <p:nvPicPr>
                      <p:cNvPr id="8" name="Object 7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9" y="1595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3" name="Picture 3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"/>
            <a:ext cx="12192000" cy="6857433"/>
          </a:xfrm>
          <a:prstGeom prst="rect">
            <a:avLst/>
          </a:prstGeom>
          <a:ln>
            <a:noFill/>
          </a:ln>
        </p:spPr>
      </p:pic>
      <p:sp>
        <p:nvSpPr>
          <p:cNvPr id="7" name="Rectangle 6"/>
          <p:cNvSpPr/>
          <p:nvPr/>
        </p:nvSpPr>
        <p:spPr bwMode="auto">
          <a:xfrm>
            <a:off x="1" y="1809000"/>
            <a:ext cx="12192000" cy="3240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51435" tIns="25718" rIns="51435" bIns="25718" numCol="1" rtlCol="0" anchor="ctr" anchorCtr="0" compatLnSpc="1">
            <a:prstTxWarp prst="textNoShape">
              <a:avLst/>
            </a:prstTxWarp>
          </a:bodyPr>
          <a:lstStyle/>
          <a:p>
            <a:pPr algn="ctr" defTabSz="514350" fontAlgn="base">
              <a:spcBef>
                <a:spcPct val="0"/>
              </a:spcBef>
              <a:spcAft>
                <a:spcPct val="0"/>
              </a:spcAft>
            </a:pPr>
            <a:endParaRPr lang="en-GB" sz="1069" dirty="0">
              <a:solidFill>
                <a:srgbClr val="2D2926"/>
              </a:solidFill>
              <a:latin typeface="Arial" charset="0"/>
            </a:endParaRP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>
          <a:xfrm>
            <a:off x="0" y="6400800"/>
            <a:ext cx="2540000" cy="457200"/>
          </a:xfrm>
          <a:prstGeom prst="rect">
            <a:avLst/>
          </a:prstGeom>
          <a:ln/>
        </p:spPr>
        <p:txBody>
          <a:bodyPr lIns="36000" tIns="36000" rIns="36000" bIns="36000" anchor="b"/>
          <a:lstStyle>
            <a:lvl1pPr>
              <a:defRPr sz="675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 anchor="b"/>
          <a:lstStyle>
            <a:lvl1pPr>
              <a:defRPr sz="675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6516E9BE-843C-4425-80E4-36155279AD5E}" type="slidenum">
              <a:rPr lang="en-GB" smtClean="0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6572" y="2390406"/>
            <a:ext cx="11616000" cy="1918823"/>
          </a:xfrm>
          <a:prstGeom prst="rect">
            <a:avLst/>
          </a:prstGeom>
        </p:spPr>
        <p:txBody>
          <a:bodyPr anchor="ctr"/>
          <a:lstStyle>
            <a:lvl1pPr algn="l">
              <a:defRPr sz="2100" b="1">
                <a:solidFill>
                  <a:schemeClr val="tx1"/>
                </a:solidFill>
                <a:effectLst/>
                <a:latin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6571" y="5140422"/>
            <a:ext cx="5088000" cy="1080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05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defRPr>
            </a:lvl1pPr>
            <a:lvl2pPr marL="257175" indent="0" algn="ctr">
              <a:buNone/>
              <a:defRPr/>
            </a:lvl2pPr>
            <a:lvl3pPr marL="514350" indent="0" algn="ctr">
              <a:buNone/>
              <a:defRPr/>
            </a:lvl3pPr>
            <a:lvl4pPr marL="771525" indent="0" algn="ctr">
              <a:buNone/>
              <a:defRPr/>
            </a:lvl4pPr>
            <a:lvl5pPr marL="1028700" indent="0" algn="ctr">
              <a:buNone/>
              <a:defRPr/>
            </a:lvl5pPr>
            <a:lvl6pPr marL="1285875" indent="0" algn="ctr">
              <a:buNone/>
              <a:defRPr/>
            </a:lvl6pPr>
            <a:lvl7pPr marL="1543050" indent="0" algn="ctr">
              <a:buNone/>
              <a:defRPr/>
            </a:lvl7pPr>
            <a:lvl8pPr marL="1800225" indent="0" algn="ctr">
              <a:buNone/>
              <a:defRPr/>
            </a:lvl8pPr>
            <a:lvl9pPr marL="20574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 bwMode="auto">
          <a:xfrm>
            <a:off x="5104664" y="6755907"/>
            <a:ext cx="2925191" cy="10209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51435" tIns="25718" rIns="51435" bIns="25718" numCol="1" rtlCol="0" anchor="ctr" anchorCtr="0" compatLnSpc="1">
            <a:prstTxWarp prst="textNoShape">
              <a:avLst/>
            </a:prstTxWarp>
          </a:bodyPr>
          <a:lstStyle/>
          <a:p>
            <a:pPr algn="ctr" defTabSz="514350" fontAlgn="base">
              <a:spcBef>
                <a:spcPct val="0"/>
              </a:spcBef>
              <a:spcAft>
                <a:spcPct val="0"/>
              </a:spcAft>
            </a:pPr>
            <a:endParaRPr lang="en-GB" sz="675" dirty="0">
              <a:solidFill>
                <a:srgbClr val="2D2926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9746" y="526501"/>
            <a:ext cx="2876433" cy="7560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353" t="8741" r="101" b="27"/>
          <a:stretch/>
        </p:blipFill>
        <p:spPr bwMode="ltGray">
          <a:xfrm rot="16200000" flipH="1">
            <a:off x="9058187" y="-962476"/>
            <a:ext cx="369901" cy="591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30057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2119" y="1593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30" imgH="433" progId="TCLayout.ActiveDocument.1">
                  <p:embed/>
                </p:oleObj>
              </mc:Choice>
              <mc:Fallback>
                <p:oleObj name="think-cell Slide" r:id="rId3" imgW="430" imgH="433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9" y="1593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/>
          <p:cNvSpPr/>
          <p:nvPr/>
        </p:nvSpPr>
        <p:spPr bwMode="auto">
          <a:xfrm>
            <a:off x="0" y="0"/>
            <a:ext cx="12192000" cy="105273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GB" sz="1425" dirty="0">
              <a:solidFill>
                <a:srgbClr val="2D2926"/>
              </a:solidFill>
              <a:latin typeface="Arial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6327" y="477842"/>
            <a:ext cx="5575676" cy="5543451"/>
          </a:xfrm>
          <a:prstGeom prst="rect">
            <a:avLst/>
          </a:prstGeom>
        </p:spPr>
      </p:pic>
      <p:sp>
        <p:nvSpPr>
          <p:cNvPr id="6" name="Rectangle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16E9BE-843C-4425-80E4-36155279AD5E}" type="slidenum">
              <a:rPr lang="en-GB" smtClean="0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GB" dirty="0">
              <a:solidFill>
                <a:srgbClr val="FFFFFF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9188" y="1964569"/>
            <a:ext cx="11713633" cy="65091"/>
          </a:xfrm>
          <a:prstGeom prst="rect">
            <a:avLst/>
          </a:prstGeom>
        </p:spPr>
      </p:pic>
      <p:sp>
        <p:nvSpPr>
          <p:cNvPr id="8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239188" y="2181578"/>
            <a:ext cx="11713633" cy="146344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  <a:effectLst/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9" name="Text Placehold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239188" y="1266924"/>
            <a:ext cx="11713633" cy="561756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marL="0" indent="0">
              <a:buNone/>
              <a:defRPr sz="135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Section #</a:t>
            </a:r>
          </a:p>
        </p:txBody>
      </p:sp>
      <p:sp>
        <p:nvSpPr>
          <p:cNvPr id="11" name="Rectangle 4"/>
          <p:cNvSpPr>
            <a:spLocks noGrp="1" noChangeArrowheads="1"/>
          </p:cNvSpPr>
          <p:nvPr>
            <p:ph type="ftr" sz="quarter" idx="11"/>
          </p:nvPr>
        </p:nvSpPr>
        <p:spPr>
          <a:xfrm>
            <a:off x="239184" y="6400800"/>
            <a:ext cx="9409211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386638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2119" y="1593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30" imgH="433" progId="TCLayout.ActiveDocument.1">
                  <p:embed/>
                </p:oleObj>
              </mc:Choice>
              <mc:Fallback>
                <p:oleObj name="think-cell Slide" r:id="rId3" imgW="430" imgH="433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9" y="1593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"/>
          <p:cNvGrpSpPr/>
          <p:nvPr/>
        </p:nvGrpSpPr>
        <p:grpSpPr>
          <a:xfrm>
            <a:off x="0" y="1178584"/>
            <a:ext cx="12192000" cy="2547336"/>
            <a:chOff x="0" y="1178584"/>
            <a:chExt cx="12192000" cy="2547336"/>
          </a:xfrm>
        </p:grpSpPr>
        <p:grpSp>
          <p:nvGrpSpPr>
            <p:cNvPr id="5" name="Group 4"/>
            <p:cNvGrpSpPr/>
            <p:nvPr/>
          </p:nvGrpSpPr>
          <p:grpSpPr>
            <a:xfrm>
              <a:off x="4584735" y="1178585"/>
              <a:ext cx="7607265" cy="1277860"/>
              <a:chOff x="4242374" y="1266924"/>
              <a:chExt cx="7607265" cy="1277860"/>
            </a:xfrm>
          </p:grpSpPr>
          <p:pic>
            <p:nvPicPr>
              <p:cNvPr id="15" name="Picture 3"/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6788"/>
              <a:stretch/>
            </p:blipFill>
            <p:spPr bwMode="auto">
              <a:xfrm>
                <a:off x="7458055" y="1266924"/>
                <a:ext cx="4049222" cy="692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6" name="Picture 3"/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97157" b="17268"/>
              <a:stretch/>
            </p:blipFill>
            <p:spPr bwMode="auto">
              <a:xfrm>
                <a:off x="4242374" y="1266924"/>
                <a:ext cx="3215680" cy="12778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8" name="Picture 3"/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2683" r="99340" b="31624"/>
              <a:stretch/>
            </p:blipFill>
            <p:spPr bwMode="auto">
              <a:xfrm>
                <a:off x="10873398" y="1505214"/>
                <a:ext cx="616085" cy="3854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9" name="Picture 3"/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6788" b="7541"/>
              <a:stretch/>
            </p:blipFill>
            <p:spPr bwMode="auto">
              <a:xfrm>
                <a:off x="6747364" y="1904828"/>
                <a:ext cx="4049222" cy="6399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7" name="Picture 3"/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99746" b="50292"/>
              <a:stretch/>
            </p:blipFill>
            <p:spPr bwMode="auto">
              <a:xfrm>
                <a:off x="10181088" y="2094605"/>
                <a:ext cx="526195" cy="288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0" name="Picture 3"/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2683" r="99340" b="31624"/>
              <a:stretch/>
            </p:blipFill>
            <p:spPr bwMode="auto">
              <a:xfrm>
                <a:off x="11005120" y="1266924"/>
                <a:ext cx="844519" cy="12778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1" name="Picture 3"/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2683" r="99340" b="31624"/>
              <a:stretch/>
            </p:blipFill>
            <p:spPr bwMode="auto">
              <a:xfrm>
                <a:off x="10662759" y="1724108"/>
                <a:ext cx="1186880" cy="8206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23" name="Group 22"/>
            <p:cNvGrpSpPr/>
            <p:nvPr/>
          </p:nvGrpSpPr>
          <p:grpSpPr>
            <a:xfrm>
              <a:off x="3169032" y="2448060"/>
              <a:ext cx="7607265" cy="1277860"/>
              <a:chOff x="4242374" y="1266924"/>
              <a:chExt cx="7607265" cy="1277860"/>
            </a:xfrm>
          </p:grpSpPr>
          <p:pic>
            <p:nvPicPr>
              <p:cNvPr id="24" name="Picture 3"/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6788"/>
              <a:stretch/>
            </p:blipFill>
            <p:spPr bwMode="auto">
              <a:xfrm>
                <a:off x="7458055" y="1266924"/>
                <a:ext cx="4049222" cy="692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5" name="Picture 3"/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97157" b="17268"/>
              <a:stretch/>
            </p:blipFill>
            <p:spPr bwMode="auto">
              <a:xfrm>
                <a:off x="4242374" y="1266924"/>
                <a:ext cx="3215680" cy="12778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6" name="Picture 3"/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2683" r="99340" b="31624"/>
              <a:stretch/>
            </p:blipFill>
            <p:spPr bwMode="auto">
              <a:xfrm>
                <a:off x="10873398" y="1505214"/>
                <a:ext cx="616085" cy="3854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7" name="Picture 3"/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6788" b="7541"/>
              <a:stretch/>
            </p:blipFill>
            <p:spPr bwMode="auto">
              <a:xfrm>
                <a:off x="6747364" y="1904828"/>
                <a:ext cx="4049222" cy="6399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8" name="Picture 3"/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99746" b="50292"/>
              <a:stretch/>
            </p:blipFill>
            <p:spPr bwMode="auto">
              <a:xfrm>
                <a:off x="10181088" y="2094605"/>
                <a:ext cx="526195" cy="288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9" name="Picture 3"/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2683" r="99340" b="31624"/>
              <a:stretch/>
            </p:blipFill>
            <p:spPr bwMode="auto">
              <a:xfrm>
                <a:off x="11005120" y="1266924"/>
                <a:ext cx="844519" cy="12778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0" name="Picture 3"/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2683" r="99340" b="31624"/>
              <a:stretch/>
            </p:blipFill>
            <p:spPr bwMode="auto">
              <a:xfrm>
                <a:off x="10662759" y="1724108"/>
                <a:ext cx="1186880" cy="8206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31" name="Picture 3"/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683" r="99340" b="31624"/>
            <a:stretch/>
          </p:blipFill>
          <p:spPr bwMode="auto">
            <a:xfrm>
              <a:off x="10662758" y="2453554"/>
              <a:ext cx="1529242" cy="1272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2" name="Picture 3"/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683" r="99340" b="31624"/>
            <a:stretch/>
          </p:blipFill>
          <p:spPr bwMode="auto">
            <a:xfrm>
              <a:off x="0" y="1178584"/>
              <a:ext cx="4648131" cy="25473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" name="Rectangle 9"/>
          <p:cNvSpPr/>
          <p:nvPr/>
        </p:nvSpPr>
        <p:spPr bwMode="auto">
          <a:xfrm>
            <a:off x="0" y="0"/>
            <a:ext cx="12192000" cy="105273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GB" sz="1425" dirty="0">
              <a:solidFill>
                <a:srgbClr val="2D2926"/>
              </a:solidFill>
              <a:latin typeface="Arial" charset="0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16E9BE-843C-4425-80E4-36155279AD5E}" type="slidenum">
              <a:rPr lang="en-GB" smtClean="0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239185" y="2181578"/>
            <a:ext cx="8736139" cy="146344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9" name="Text Placehold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239185" y="1266924"/>
            <a:ext cx="8736139" cy="561756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marL="0" indent="0">
              <a:buNone/>
              <a:defRPr sz="135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#</a:t>
            </a:r>
          </a:p>
        </p:txBody>
      </p:sp>
      <p:sp>
        <p:nvSpPr>
          <p:cNvPr id="11" name="Rectangle 4"/>
          <p:cNvSpPr>
            <a:spLocks noGrp="1" noChangeArrowheads="1"/>
          </p:cNvSpPr>
          <p:nvPr>
            <p:ph type="ftr" sz="quarter" idx="11"/>
          </p:nvPr>
        </p:nvSpPr>
        <p:spPr>
          <a:xfrm>
            <a:off x="239184" y="6400800"/>
            <a:ext cx="9409211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pic>
        <p:nvPicPr>
          <p:cNvPr id="14" name="Picture 3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116" r="76604" b="25471"/>
          <a:stretch/>
        </p:blipFill>
        <p:spPr bwMode="auto">
          <a:xfrm>
            <a:off x="11399100" y="3113151"/>
            <a:ext cx="627693" cy="531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5" name="Straight Connector 34"/>
          <p:cNvCxnSpPr/>
          <p:nvPr/>
        </p:nvCxnSpPr>
        <p:spPr bwMode="auto">
          <a:xfrm>
            <a:off x="239184" y="2006353"/>
            <a:ext cx="8875152" cy="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6417133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Text Box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9" y="1592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30" imgH="433" progId="TCLayout.ActiveDocument.1">
                  <p:embed/>
                </p:oleObj>
              </mc:Choice>
              <mc:Fallback>
                <p:oleObj name="think-cell Slide" r:id="rId3" imgW="430" imgH="433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92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39185" y="0"/>
            <a:ext cx="10273307" cy="648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1500">
                <a:latin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11"/>
          </p:nvPr>
        </p:nvSpPr>
        <p:spPr>
          <a:xfrm>
            <a:off x="239184" y="6400800"/>
            <a:ext cx="9409211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1664620" y="6400800"/>
            <a:ext cx="527381" cy="4572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16E9BE-843C-4425-80E4-36155279AD5E}" type="slidenum">
              <a:rPr lang="en-GB" smtClean="0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239184" y="836712"/>
            <a:ext cx="11329424" cy="16557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Tx/>
              <a:buFontTx/>
              <a:buNone/>
              <a:tabLst/>
              <a:defRPr kumimoji="0" lang="en-US" sz="135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defRPr>
            </a:lvl1pPr>
            <a:lvl2pPr marL="557213" marR="0" indent="-214313" algn="l" defTabSz="6858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Tx/>
              <a:buFontTx/>
              <a:buChar char="–"/>
              <a:tabLst/>
              <a:def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defRPr>
            </a:lvl2pPr>
            <a:lvl3pPr marL="857250" marR="0" indent="-171450" algn="l" defTabSz="6858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Tx/>
              <a:buFontTx/>
              <a:buChar char="•"/>
              <a:tabLst/>
              <a:defRPr kumimoji="0" lang="en-US" sz="105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defRPr>
            </a:lvl3pPr>
            <a:lvl4pPr marL="1200150" marR="0" indent="-171450" algn="l" defTabSz="6858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Tx/>
              <a:buFontTx/>
              <a:buChar char="–"/>
              <a:tabLst/>
              <a:defRPr kumimoji="0" lang="en-US" sz="105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defRPr>
            </a:lvl4pPr>
            <a:lvl5pPr marL="1543050" marR="0" indent="-171450" algn="l" defTabSz="6858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Tx/>
              <a:buFontTx/>
              <a:buChar char="»"/>
              <a:tabLst/>
              <a:defRPr kumimoji="0" lang="en-US" sz="105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defRPr>
            </a:lvl5pPr>
            <a:lvl6pPr marL="0" marR="0" indent="0" algn="l" defTabSz="6858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Tx/>
              <a:buFontTx/>
              <a:buNone/>
              <a:tabLst/>
              <a:defRPr>
                <a:solidFill>
                  <a:schemeClr val="tx1"/>
                </a:solidFill>
              </a:defRPr>
            </a:lvl6pPr>
            <a:lvl8pPr marL="0" marR="0" indent="0" algn="l" defTabSz="6858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8pPr>
            <a:lvl9pPr marL="0" marR="0" indent="0" algn="l" defTabSz="6858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9pPr>
          </a:lstStyle>
          <a:p>
            <a:pPr marL="257175" marR="0" lvl="0" indent="-257175" algn="l" defTabSz="6858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+mn-lt"/>
              </a:rPr>
              <a:t>Edit Master text styles</a:t>
            </a:r>
          </a:p>
          <a:p>
            <a:pPr marL="557213" marR="0" lvl="1" indent="-214313" algn="l" defTabSz="6858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+mn-lt"/>
              </a:rPr>
              <a:t>Second level</a:t>
            </a:r>
          </a:p>
          <a:p>
            <a:pPr marL="857250" marR="0" lvl="2" indent="-171450" algn="l" defTabSz="6858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+mn-lt"/>
              </a:rPr>
              <a:t>Third level</a:t>
            </a:r>
          </a:p>
          <a:p>
            <a:pPr marL="1200150" marR="0" lvl="3" indent="-171450" algn="l" defTabSz="6858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+mn-lt"/>
              </a:rPr>
              <a:t>Fourth level</a:t>
            </a:r>
          </a:p>
          <a:p>
            <a:pPr marL="1543050" marR="0" lvl="4" indent="-171450" algn="l" defTabSz="6858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»"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+mn-lt"/>
              </a:rPr>
              <a:t>Fifth level</a:t>
            </a:r>
          </a:p>
          <a:p>
            <a:pPr marL="1885950" marR="0" lvl="5" indent="-171450" algn="l" defTabSz="6858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»"/>
              <a:tabLst/>
              <a:defRPr/>
            </a:pPr>
            <a:r>
              <a: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+mn-lt"/>
              </a:rPr>
              <a:t>Level six</a:t>
            </a:r>
          </a:p>
          <a:p>
            <a:pPr marL="0" marR="0" lvl="5" indent="0" algn="l" defTabSz="6858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n-lt"/>
              </a:rPr>
              <a:t>Level seven</a:t>
            </a:r>
          </a:p>
          <a:p>
            <a:pPr marL="0" marR="0" lvl="7" indent="0" algn="l" defTabSz="6858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</a:rPr>
              <a:t>Level eight</a:t>
            </a:r>
          </a:p>
          <a:p>
            <a:pPr marL="0" marR="0" lvl="8" indent="0" algn="l" defTabSz="6858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+mn-lt"/>
              </a:rPr>
              <a:t>Level nine</a:t>
            </a:r>
          </a:p>
        </p:txBody>
      </p:sp>
    </p:spTree>
    <p:extLst>
      <p:ext uri="{BB962C8B-B14F-4D97-AF65-F5344CB8AC3E}">
        <p14:creationId xmlns:p14="http://schemas.microsoft.com/office/powerpoint/2010/main" val="760630049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5120">
          <p15:clr>
            <a:srgbClr val="FBAE40"/>
          </p15:clr>
        </p15:guide>
        <p15:guide id="3" pos="191">
          <p15:clr>
            <a:srgbClr val="FBAE40"/>
          </p15:clr>
        </p15:guide>
        <p15:guide id="4" pos="10049">
          <p15:clr>
            <a:srgbClr val="FBAE40"/>
          </p15:clr>
        </p15:guide>
        <p15:guide id="5" orient="horz" pos="4020">
          <p15:clr>
            <a:srgbClr val="FBAE40"/>
          </p15:clr>
        </p15:guide>
        <p15:guide id="6" orient="horz" pos="527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2119" y="1593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30" imgH="433" progId="TCLayout.ActiveDocument.1">
                  <p:embed/>
                </p:oleObj>
              </mc:Choice>
              <mc:Fallback>
                <p:oleObj name="think-cell Slide" r:id="rId3" imgW="430" imgH="433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9" y="1593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1664620" y="6400800"/>
            <a:ext cx="527381" cy="4572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16E9BE-843C-4425-80E4-36155279AD5E}" type="slidenum">
              <a:rPr lang="en-GB" smtClean="0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39185" y="0"/>
            <a:ext cx="10273307" cy="648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1500">
                <a:latin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11"/>
          </p:nvPr>
        </p:nvSpPr>
        <p:spPr>
          <a:xfrm>
            <a:off x="239184" y="6400800"/>
            <a:ext cx="9409211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4693550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5120">
          <p15:clr>
            <a:srgbClr val="FBAE40"/>
          </p15:clr>
        </p15:guide>
        <p15:guide id="3" pos="191">
          <p15:clr>
            <a:srgbClr val="FBAE40"/>
          </p15:clr>
        </p15:guide>
        <p15:guide id="4" pos="10049">
          <p15:clr>
            <a:srgbClr val="FBAE40"/>
          </p15:clr>
        </p15:guide>
        <p15:guide id="5" orient="horz" pos="527">
          <p15:clr>
            <a:srgbClr val="FBAE40"/>
          </p15:clr>
        </p15:guide>
        <p15:guide id="6" orient="horz" pos="402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2119" y="1593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30" imgH="433" progId="TCLayout.ActiveDocument.1">
                  <p:embed/>
                </p:oleObj>
              </mc:Choice>
              <mc:Fallback>
                <p:oleObj name="think-cell Slide" r:id="rId4" imgW="430" imgH="433" progId="TCLayout.ActiveDocument.1">
                  <p:embed/>
                  <p:pic>
                    <p:nvPicPr>
                      <p:cNvPr id="6" name="Object 5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9" y="1593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/>
          <p:cNvSpPr/>
          <p:nvPr>
            <p:custDataLst>
              <p:tags r:id="rId2"/>
            </p:custDataLst>
          </p:nvPr>
        </p:nvSpPr>
        <p:spPr bwMode="auto">
          <a:xfrm>
            <a:off x="1" y="0"/>
            <a:ext cx="211667" cy="15875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GB" sz="750" dirty="0">
              <a:solidFill>
                <a:srgbClr val="2D2926"/>
              </a:solidFill>
              <a:cs typeface="Times New Roman"/>
              <a:sym typeface="Calibri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1664620" y="6400800"/>
            <a:ext cx="527381" cy="4572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16E9BE-843C-4425-80E4-36155279AD5E}" type="slidenum">
              <a:rPr lang="en-GB" smtClean="0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9" name="Rectangle 4"/>
          <p:cNvSpPr>
            <a:spLocks noGrp="1" noChangeArrowheads="1"/>
          </p:cNvSpPr>
          <p:nvPr>
            <p:ph type="ftr" sz="quarter" idx="11"/>
          </p:nvPr>
        </p:nvSpPr>
        <p:spPr>
          <a:xfrm>
            <a:off x="239184" y="6400800"/>
            <a:ext cx="9409211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8344666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2119" y="1593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30" imgH="433" progId="TCLayout.ActiveDocument.1">
                  <p:embed/>
                </p:oleObj>
              </mc:Choice>
              <mc:Fallback>
                <p:oleObj name="think-cell Slide" r:id="rId3" imgW="430" imgH="433" progId="TCLayout.ActiveDocument.1">
                  <p:embed/>
                  <p:pic>
                    <p:nvPicPr>
                      <p:cNvPr id="6" name="Object 5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9" y="1593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/>
          <p:nvPr/>
        </p:nvSpPr>
        <p:spPr bwMode="auto">
          <a:xfrm>
            <a:off x="0" y="0"/>
            <a:ext cx="12192000" cy="105273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GB" sz="1425" dirty="0">
              <a:solidFill>
                <a:srgbClr val="2D2926"/>
              </a:solidFill>
              <a:latin typeface="Arial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516E9BE-843C-4425-80E4-36155279AD5E}" type="slidenum">
              <a:rPr lang="en-GB" smtClean="0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12"/>
          </p:nvPr>
        </p:nvSpPr>
        <p:spPr>
          <a:xfrm>
            <a:off x="239184" y="6400800"/>
            <a:ext cx="9409211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661802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5120">
          <p15:clr>
            <a:srgbClr val="FBAE40"/>
          </p15:clr>
        </p15:guide>
        <p15:guide id="3" orient="horz" pos="4020">
          <p15:clr>
            <a:srgbClr val="FBAE40"/>
          </p15:clr>
        </p15:guide>
        <p15:guide id="4" pos="191">
          <p15:clr>
            <a:srgbClr val="FBAE40"/>
          </p15:clr>
        </p15:guide>
        <p15:guide id="5" pos="10049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Arrow half">
    <p:bg>
      <p:bgPr>
        <a:gradFill flip="none" rotWithShape="1">
          <a:gsLst>
            <a:gs pos="0">
              <a:srgbClr val="ED1D24"/>
            </a:gs>
            <a:gs pos="100000">
              <a:srgbClr val="870B0E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3772988-BAC3-45EB-8F49-ECA66C3B6F6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90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3772988-BAC3-45EB-8F49-ECA66C3B6F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0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Copyright" hidden="1"/>
          <p:cNvSpPr txBox="1"/>
          <p:nvPr/>
        </p:nvSpPr>
        <p:spPr>
          <a:xfrm rot="16200000">
            <a:off x="9486903" y="3934616"/>
            <a:ext cx="5133975" cy="7271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450"/>
              </a:spcAft>
            </a:pPr>
            <a:r>
              <a:rPr lang="en-US" sz="525" dirty="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2022 by Boston Consulting Group. All rights reserved.</a:t>
            </a:r>
          </a:p>
        </p:txBody>
      </p:sp>
      <p:sp>
        <p:nvSpPr>
          <p:cNvPr id="14" name="Pentagon 8"/>
          <p:cNvSpPr/>
          <p:nvPr/>
        </p:nvSpPr>
        <p:spPr bwMode="white">
          <a:xfrm>
            <a:off x="1" y="0"/>
            <a:ext cx="6363547" cy="6858000"/>
          </a:xfrm>
          <a:prstGeom prst="homePlate">
            <a:avLst>
              <a:gd name="adj" fmla="val 12939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  <a:spcAft>
                <a:spcPts val="750"/>
              </a:spcAft>
            </a:pPr>
            <a:endParaRPr lang="en-US" sz="900" dirty="0">
              <a:solidFill>
                <a:prstClr val="white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6" name="Title 2"/>
          <p:cNvSpPr>
            <a:spLocks noGrp="1"/>
          </p:cNvSpPr>
          <p:nvPr>
            <p:ph type="title" hasCustomPrompt="1"/>
          </p:nvPr>
        </p:nvSpPr>
        <p:spPr>
          <a:xfrm>
            <a:off x="630002" y="622800"/>
            <a:ext cx="4673647" cy="353174"/>
          </a:xfrm>
          <a:prstGeom prst="rect">
            <a:avLst/>
          </a:prstGeom>
        </p:spPr>
        <p:txBody>
          <a:bodyPr vert="horz" wrap="square" lIns="0" tIns="0" rIns="0" bIns="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2550" b="0" i="0" u="none" kern="1200" spc="0">
                <a:solidFill>
                  <a:srgbClr val="ED1D24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pic>
        <p:nvPicPr>
          <p:cNvPr id="9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805" y="3589606"/>
            <a:ext cx="1365251" cy="3382962"/>
          </a:xfrm>
          <a:custGeom>
            <a:avLst/>
            <a:gdLst>
              <a:gd name="connsiteX0" fmla="*/ 920598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0 w 1365250"/>
              <a:gd name="connsiteY3" fmla="*/ 3382962 h 3382962"/>
              <a:gd name="connsiteX4" fmla="*/ 0 w 1365250"/>
              <a:gd name="connsiteY4" fmla="*/ 3320782 h 3382962"/>
              <a:gd name="connsiteX5" fmla="*/ 126694 w 1365250"/>
              <a:gd name="connsiteY5" fmla="*/ 3320782 h 3382962"/>
              <a:gd name="connsiteX6" fmla="*/ 0 w 1365250"/>
              <a:gd name="connsiteY6" fmla="*/ 0 h 3382962"/>
              <a:gd name="connsiteX7" fmla="*/ 908172 w 1365250"/>
              <a:gd name="connsiteY7" fmla="*/ 0 h 3382962"/>
              <a:gd name="connsiteX8" fmla="*/ 0 w 1365250"/>
              <a:gd name="connsiteY8" fmla="*/ 2890357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65250" h="3382962">
                <a:moveTo>
                  <a:pt x="920598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0" y="3382962"/>
                </a:lnTo>
                <a:lnTo>
                  <a:pt x="0" y="3320782"/>
                </a:lnTo>
                <a:lnTo>
                  <a:pt x="126694" y="3320782"/>
                </a:lnTo>
                <a:close/>
                <a:moveTo>
                  <a:pt x="0" y="0"/>
                </a:moveTo>
                <a:lnTo>
                  <a:pt x="908172" y="0"/>
                </a:lnTo>
                <a:lnTo>
                  <a:pt x="0" y="289035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1203FE9-A075-4BF8-987F-E3175D587168}"/>
              </a:ext>
            </a:extLst>
          </p:cNvPr>
          <p:cNvSpPr txBox="1"/>
          <p:nvPr/>
        </p:nvSpPr>
        <p:spPr>
          <a:xfrm>
            <a:off x="11757835" y="6700052"/>
            <a:ext cx="381000" cy="115416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75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 kern="1200" dirty="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B280514-AAB0-4C3F-BD7F-3099741B263A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666" t="40333" b="40333"/>
          <a:stretch/>
        </p:blipFill>
        <p:spPr>
          <a:xfrm>
            <a:off x="10109202" y="6445250"/>
            <a:ext cx="1454151" cy="36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226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3"/>
            <a:ext cx="8534400" cy="473075"/>
          </a:xfrm>
          <a:prstGeom prst="rect">
            <a:avLst/>
          </a:prstGeom>
        </p:spPr>
        <p:txBody>
          <a:bodyPr/>
          <a:lstStyle/>
          <a:p>
            <a:r>
              <a:rPr lang="en-GB" noProof="0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636000" y="6471854"/>
            <a:ext cx="914400" cy="233749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fld id="{6516E9BE-843C-4425-80E4-36155279AD5E}" type="slidenum">
              <a:rPr lang="en-GB" smtClean="0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GB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8642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015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oleObject" Target="../embeddings/oleObject1.bin"/><Relationship Id="rId18" Type="http://schemas.openxmlformats.org/officeDocument/2006/relationships/image" Target="../media/image5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ags" Target="../tags/tag1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12"/>
            </p:custDataLst>
            <p:extLst>
              <p:ext uri="{D42A27DB-BD31-4B8C-83A1-F6EECF244321}">
                <p14:modId xmlns:p14="http://schemas.microsoft.com/office/powerpoint/2010/main" val="4054753942"/>
              </p:ext>
            </p:extLst>
          </p:nvPr>
        </p:nvGraphicFramePr>
        <p:xfrm>
          <a:off x="2119" y="1593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3" imgW="430" imgH="433" progId="TCLayout.ActiveDocument.1">
                  <p:embed/>
                </p:oleObj>
              </mc:Choice>
              <mc:Fallback>
                <p:oleObj name="think-cell Slide" r:id="rId13" imgW="430" imgH="433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119" y="1593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9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664620" y="6400800"/>
            <a:ext cx="527381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6000" tIns="36000" rIns="36000" bIns="36000" numCol="1" anchor="b" anchorCtr="0" compatLnSpc="1">
            <a:prstTxWarp prst="textNoShape">
              <a:avLst/>
            </a:prstTxWarp>
          </a:bodyPr>
          <a:lstStyle>
            <a:lvl1pPr algn="r">
              <a:defRPr sz="750">
                <a:solidFill>
                  <a:schemeClr val="bg2"/>
                </a:solidFill>
                <a:latin typeface="Calibri" panose="020F0502020204030204" pitchFamily="34" charset="0"/>
                <a:cs typeface="+mn-cs"/>
              </a:defRPr>
            </a:lvl1pPr>
          </a:lstStyle>
          <a:p>
            <a:pPr>
              <a:defRPr/>
            </a:pPr>
            <a:fld id="{6516E9BE-843C-4425-80E4-36155279AD5E}" type="slidenum">
              <a:rPr lang="en-GB" smtClean="0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GB" dirty="0">
              <a:solidFill>
                <a:srgbClr val="FFFFFF"/>
              </a:solidFill>
            </a:endParaRP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0416" y="6597352"/>
            <a:ext cx="1698136" cy="2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Rectangle 4"/>
          <p:cNvSpPr>
            <a:spLocks noGrp="1" noChangeArrowheads="1"/>
          </p:cNvSpPr>
          <p:nvPr>
            <p:ph type="ftr" sz="quarter" idx="3"/>
          </p:nvPr>
        </p:nvSpPr>
        <p:spPr>
          <a:xfrm>
            <a:off x="239184" y="6400800"/>
            <a:ext cx="9409211" cy="457200"/>
          </a:xfrm>
          <a:prstGeom prst="rect">
            <a:avLst/>
          </a:prstGeom>
          <a:ln/>
        </p:spPr>
        <p:txBody>
          <a:bodyPr lIns="36000" tIns="36000" rIns="36000" bIns="36000" anchor="b"/>
          <a:lstStyle>
            <a:lvl1pPr>
              <a:defRPr sz="750"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14" name="Group 13"/>
          <p:cNvGrpSpPr/>
          <p:nvPr/>
        </p:nvGrpSpPr>
        <p:grpSpPr>
          <a:xfrm>
            <a:off x="0" y="0"/>
            <a:ext cx="12192000" cy="692150"/>
            <a:chOff x="0" y="0"/>
            <a:chExt cx="9144000" cy="692150"/>
          </a:xfrm>
        </p:grpSpPr>
        <p:grpSp>
          <p:nvGrpSpPr>
            <p:cNvPr id="15" name="Group 14"/>
            <p:cNvGrpSpPr/>
            <p:nvPr/>
          </p:nvGrpSpPr>
          <p:grpSpPr>
            <a:xfrm>
              <a:off x="0" y="0"/>
              <a:ext cx="9144000" cy="692150"/>
              <a:chOff x="0" y="0"/>
              <a:chExt cx="9144000" cy="692150"/>
            </a:xfrm>
          </p:grpSpPr>
          <p:pic>
            <p:nvPicPr>
              <p:cNvPr id="17" name="Picture 3"/>
              <p:cNvPicPr>
                <a:picLocks noChangeAspect="1" noChangeArrowheads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9144000" cy="692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8" name="Picture 3"/>
              <p:cNvPicPr>
                <a:picLocks noChangeAspect="1" noChangeArrowheads="1"/>
              </p:cNvPicPr>
              <p:nvPr/>
            </p:nvPicPr>
            <p:blipFill rotWithShape="1"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97157"/>
              <a:stretch/>
            </p:blipFill>
            <p:spPr bwMode="auto">
              <a:xfrm>
                <a:off x="0" y="0"/>
                <a:ext cx="2411760" cy="692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9" name="Picture 3"/>
              <p:cNvPicPr>
                <a:picLocks noChangeAspect="1" noChangeArrowheads="1"/>
              </p:cNvPicPr>
              <p:nvPr/>
            </p:nvPicPr>
            <p:blipFill rotWithShape="1"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99746"/>
              <a:stretch/>
            </p:blipFill>
            <p:spPr bwMode="auto">
              <a:xfrm>
                <a:off x="8928847" y="0"/>
                <a:ext cx="215153" cy="692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0" name="Picture 3"/>
              <p:cNvPicPr>
                <a:picLocks noChangeAspect="1" noChangeArrowheads="1"/>
              </p:cNvPicPr>
              <p:nvPr/>
            </p:nvPicPr>
            <p:blipFill rotWithShape="1"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2683" r="99340" b="31624"/>
              <a:stretch/>
            </p:blipFill>
            <p:spPr bwMode="auto">
              <a:xfrm>
                <a:off x="8676456" y="153334"/>
                <a:ext cx="462064" cy="3854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16" name="Picture 3"/>
            <p:cNvPicPr>
              <a:picLocks noChangeAspect="1" noChangeArrowheads="1"/>
            </p:cNvPicPr>
            <p:nvPr/>
          </p:nvPicPr>
          <p:blipFill rotWithShape="1"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3116" r="76604" b="25471"/>
            <a:stretch/>
          </p:blipFill>
          <p:spPr bwMode="auto">
            <a:xfrm>
              <a:off x="8703539" y="116635"/>
              <a:ext cx="396000" cy="4474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353" t="8741" r="101" b="27"/>
          <a:stretch/>
        </p:blipFill>
        <p:spPr bwMode="ltGray">
          <a:xfrm rot="16200000" flipH="1">
            <a:off x="6006724" y="-5159178"/>
            <a:ext cx="369901" cy="12000657"/>
          </a:xfrm>
          <a:prstGeom prst="rect">
            <a:avLst/>
          </a:prstGeom>
        </p:spPr>
      </p:pic>
      <p:sp>
        <p:nvSpPr>
          <p:cNvPr id="22" name="TextBox 21"/>
          <p:cNvSpPr txBox="1"/>
          <p:nvPr userDrawn="1"/>
        </p:nvSpPr>
        <p:spPr>
          <a:xfrm>
            <a:off x="1016000" y="6477003"/>
            <a:ext cx="2844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rgbClr val="FFFFFF"/>
                </a:solidFill>
                <a:latin typeface="Verdana"/>
              </a:rPr>
              <a:t>GIA – Highly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726134-5E77-8D29-3713-675DA985C73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205105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E" sz="12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Classification: RAKBANK-Internal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9BD1FD-5E94-0B59-6D78-374074552D7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72580"/>
            <a:ext cx="1370013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FF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Classification: RAKBANK-Internal</a:t>
            </a:r>
          </a:p>
        </p:txBody>
      </p:sp>
    </p:spTree>
    <p:extLst>
      <p:ext uri="{BB962C8B-B14F-4D97-AF65-F5344CB8AC3E}">
        <p14:creationId xmlns:p14="http://schemas.microsoft.com/office/powerpoint/2010/main" val="3647920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1200" b="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Verdana" pitchFamily="34" charset="0"/>
          <a:cs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Verdana" pitchFamily="34" charset="0"/>
          <a:cs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Verdana" pitchFamily="34" charset="0"/>
          <a:cs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Verdana" pitchFamily="34" charset="0"/>
          <a:cs typeface="Times New Roman" pitchFamily="18" charset="0"/>
        </a:defRPr>
      </a:lvl5pPr>
      <a:lvl6pPr marL="342900"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Verdana" pitchFamily="34" charset="0"/>
          <a:cs typeface="Times New Roman" pitchFamily="18" charset="0"/>
        </a:defRPr>
      </a:lvl6pPr>
      <a:lvl7pPr marL="685800"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Verdana" pitchFamily="34" charset="0"/>
          <a:cs typeface="Times New Roman" pitchFamily="18" charset="0"/>
        </a:defRPr>
      </a:lvl7pPr>
      <a:lvl8pPr marL="1028700"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Verdana" pitchFamily="34" charset="0"/>
          <a:cs typeface="Times New Roman" pitchFamily="18" charset="0"/>
        </a:defRPr>
      </a:lvl8pPr>
      <a:lvl9pPr marL="1371600"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Verdana" pitchFamily="34" charset="0"/>
          <a:cs typeface="Times New Roman" pitchFamily="18" charset="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sz="135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sz="1200">
          <a:solidFill>
            <a:schemeClr val="tx1"/>
          </a:solidFill>
          <a:latin typeface="Calibri" panose="020F0502020204030204" pitchFamily="34" charset="0"/>
          <a:cs typeface="+mn-cs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sz="1050">
          <a:solidFill>
            <a:schemeClr val="tx1"/>
          </a:solidFill>
          <a:latin typeface="Calibri" panose="020F0502020204030204" pitchFamily="34" charset="0"/>
          <a:cs typeface="+mn-cs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sz="1050">
          <a:solidFill>
            <a:schemeClr val="tx1"/>
          </a:solidFill>
          <a:latin typeface="Calibri" panose="020F0502020204030204" pitchFamily="34" charset="0"/>
          <a:cs typeface="+mn-cs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sz="1050">
          <a:solidFill>
            <a:schemeClr val="tx1"/>
          </a:solidFill>
          <a:latin typeface="Calibri" panose="020F0502020204030204" pitchFamily="34" charset="0"/>
          <a:cs typeface="+mn-cs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cs typeface="+mn-cs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cs typeface="+mn-cs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cs typeface="+mn-cs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BE43C-6E81-8175-A9D0-75A0FF2D6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9E39266-F966-CDF8-E90C-5C88EE5F673F}"/>
              </a:ext>
            </a:extLst>
          </p:cNvPr>
          <p:cNvSpPr/>
          <p:nvPr/>
        </p:nvSpPr>
        <p:spPr bwMode="auto">
          <a:xfrm>
            <a:off x="90535" y="678919"/>
            <a:ext cx="11905306" cy="586913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9E6BC4-15CA-AAE0-6B03-74A576D05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534400" cy="602721"/>
          </a:xfrm>
        </p:spPr>
        <p:txBody>
          <a:bodyPr anchor="ctr"/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BAC Approval GIA Audit Plan – FY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A95110-BA50-73A9-B416-BF25698E01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16E9BE-843C-4425-80E4-36155279AD5E}" type="slidenum">
              <a:rPr kumimoji="0" lang="en-GB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EA6EC18D-B96D-4BCE-D4AC-ADD5B35943F7}"/>
              </a:ext>
            </a:extLst>
          </p:cNvPr>
          <p:cNvSpPr txBox="1">
            <a:spLocks/>
          </p:cNvSpPr>
          <p:nvPr/>
        </p:nvSpPr>
        <p:spPr>
          <a:xfrm>
            <a:off x="11887200" y="6624251"/>
            <a:ext cx="914400" cy="23374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516E9BE-843C-4425-80E4-36155279AD5E}" type="slidenum">
              <a:rPr kumimoji="0" lang="en-US" sz="900" b="1" i="0" u="none" strike="noStrike" kern="1200" cap="none" spc="0" normalizeH="0" baseline="0" noProof="0" smtClean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srgbClr val="2D2926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Arial" charset="0"/>
            </a:endParaRPr>
          </a:p>
        </p:txBody>
      </p:sp>
      <p:pic>
        <p:nvPicPr>
          <p:cNvPr id="6" name="Picture 5" descr="A screenshot of a computer">
            <a:extLst>
              <a:ext uri="{FF2B5EF4-FFF2-40B4-BE49-F238E27FC236}">
                <a16:creationId xmlns:a16="http://schemas.microsoft.com/office/drawing/2014/main" id="{14B9FFD2-AA47-2A25-7890-B099F5E329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784" t="11188" r="2797" b="14903"/>
          <a:stretch>
            <a:fillRect/>
          </a:stretch>
        </p:blipFill>
        <p:spPr>
          <a:xfrm>
            <a:off x="-72428" y="1146661"/>
            <a:ext cx="12068269" cy="4857452"/>
          </a:xfrm>
          <a:prstGeom prst="rect">
            <a:avLst/>
          </a:prstGeom>
        </p:spPr>
      </p:pic>
      <p:sp>
        <p:nvSpPr>
          <p:cNvPr id="8" name="GTBClassificationF1688129563">
            <a:extLst>
              <a:ext uri="{FF2B5EF4-FFF2-40B4-BE49-F238E27FC236}">
                <a16:creationId xmlns:a16="http://schemas.microsoft.com/office/drawing/2014/main" id="{0139FB8B-3642-6D0F-F612-0339E8920A6E}"/>
              </a:ext>
            </a:extLst>
          </p:cNvPr>
          <p:cNvSpPr txBox="1"/>
          <p:nvPr/>
        </p:nvSpPr>
        <p:spPr>
          <a:xfrm>
            <a:off x="0" y="6621780"/>
            <a:ext cx="12192000" cy="236220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b">
            <a:noAutofit/>
          </a:bodyPr>
          <a:lstStyle/>
          <a:p>
            <a:r>
              <a:rPr lang="en-US" sz="800" b="1">
                <a:solidFill>
                  <a:srgbClr val="000000">
                    <a:alpha val="70000"/>
                  </a:srgbClr>
                </a:solidFill>
                <a:latin typeface="verdana" panose="020B0604030504040204" pitchFamily="34" charset="0"/>
              </a:rPr>
              <a:t>Classification:</a:t>
            </a:r>
            <a:r>
              <a:rPr lang="en-US" sz="800">
                <a:solidFill>
                  <a:srgbClr val="000000">
                    <a:alpha val="70000"/>
                  </a:srgbClr>
                </a:solidFill>
                <a:latin typeface="verdana" panose="020B0604030504040204" pitchFamily="34" charset="0"/>
              </a:rPr>
              <a:t> </a:t>
            </a:r>
            <a:r>
              <a:rPr lang="en-US" sz="800" b="1">
                <a:solidFill>
                  <a:srgbClr val="FF0000">
                    <a:alpha val="70000"/>
                  </a:srgbClr>
                </a:solidFill>
                <a:latin typeface="verdana" panose="020B0604030504040204" pitchFamily="34" charset="0"/>
              </a:rPr>
              <a:t>RAKBANK-Confidential</a:t>
            </a:r>
            <a:endParaRPr lang="en-US" sz="800" b="1" dirty="0" err="1">
              <a:solidFill>
                <a:srgbClr val="FF0000">
                  <a:alpha val="70000"/>
                </a:srgbClr>
              </a:solidFill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9368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6EEC0-DA44-7A15-8732-645F61AAD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534400" cy="602721"/>
          </a:xfrm>
        </p:spPr>
        <p:txBody>
          <a:bodyPr anchor="ctr"/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Approved Audit Plan - 2026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B694C9-3456-CE64-2E6E-42B365ED7B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16E9BE-843C-4425-80E4-36155279AD5E}" type="slidenum">
              <a:rPr kumimoji="0" lang="en-GB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92F9C41-62B1-B092-78DC-8268D8B6EF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6328481"/>
              </p:ext>
            </p:extLst>
          </p:nvPr>
        </p:nvGraphicFramePr>
        <p:xfrm>
          <a:off x="533398" y="838200"/>
          <a:ext cx="11125201" cy="5633653"/>
        </p:xfrm>
        <a:graphic>
          <a:graphicData uri="http://schemas.openxmlformats.org/drawingml/2006/table">
            <a:tbl>
              <a:tblPr/>
              <a:tblGrid>
                <a:gridCol w="111251">
                  <a:extLst>
                    <a:ext uri="{9D8B030D-6E8A-4147-A177-3AD203B41FA5}">
                      <a16:colId xmlns:a16="http://schemas.microsoft.com/office/drawing/2014/main" val="2713093202"/>
                    </a:ext>
                  </a:extLst>
                </a:gridCol>
                <a:gridCol w="1211411">
                  <a:extLst>
                    <a:ext uri="{9D8B030D-6E8A-4147-A177-3AD203B41FA5}">
                      <a16:colId xmlns:a16="http://schemas.microsoft.com/office/drawing/2014/main" val="48559626"/>
                    </a:ext>
                  </a:extLst>
                </a:gridCol>
                <a:gridCol w="1211411">
                  <a:extLst>
                    <a:ext uri="{9D8B030D-6E8A-4147-A177-3AD203B41FA5}">
                      <a16:colId xmlns:a16="http://schemas.microsoft.com/office/drawing/2014/main" val="4132710210"/>
                    </a:ext>
                  </a:extLst>
                </a:gridCol>
                <a:gridCol w="1211411">
                  <a:extLst>
                    <a:ext uri="{9D8B030D-6E8A-4147-A177-3AD203B41FA5}">
                      <a16:colId xmlns:a16="http://schemas.microsoft.com/office/drawing/2014/main" val="4038045648"/>
                    </a:ext>
                  </a:extLst>
                </a:gridCol>
                <a:gridCol w="1211411">
                  <a:extLst>
                    <a:ext uri="{9D8B030D-6E8A-4147-A177-3AD203B41FA5}">
                      <a16:colId xmlns:a16="http://schemas.microsoft.com/office/drawing/2014/main" val="52431651"/>
                    </a:ext>
                  </a:extLst>
                </a:gridCol>
                <a:gridCol w="1211411">
                  <a:extLst>
                    <a:ext uri="{9D8B030D-6E8A-4147-A177-3AD203B41FA5}">
                      <a16:colId xmlns:a16="http://schemas.microsoft.com/office/drawing/2014/main" val="2839954561"/>
                    </a:ext>
                  </a:extLst>
                </a:gridCol>
                <a:gridCol w="1211411">
                  <a:extLst>
                    <a:ext uri="{9D8B030D-6E8A-4147-A177-3AD203B41FA5}">
                      <a16:colId xmlns:a16="http://schemas.microsoft.com/office/drawing/2014/main" val="2811964990"/>
                    </a:ext>
                  </a:extLst>
                </a:gridCol>
                <a:gridCol w="1211411">
                  <a:extLst>
                    <a:ext uri="{9D8B030D-6E8A-4147-A177-3AD203B41FA5}">
                      <a16:colId xmlns:a16="http://schemas.microsoft.com/office/drawing/2014/main" val="1752836352"/>
                    </a:ext>
                  </a:extLst>
                </a:gridCol>
                <a:gridCol w="1211411">
                  <a:extLst>
                    <a:ext uri="{9D8B030D-6E8A-4147-A177-3AD203B41FA5}">
                      <a16:colId xmlns:a16="http://schemas.microsoft.com/office/drawing/2014/main" val="1466838092"/>
                    </a:ext>
                  </a:extLst>
                </a:gridCol>
                <a:gridCol w="1211411">
                  <a:extLst>
                    <a:ext uri="{9D8B030D-6E8A-4147-A177-3AD203B41FA5}">
                      <a16:colId xmlns:a16="http://schemas.microsoft.com/office/drawing/2014/main" val="2124648565"/>
                    </a:ext>
                  </a:extLst>
                </a:gridCol>
                <a:gridCol w="111251">
                  <a:extLst>
                    <a:ext uri="{9D8B030D-6E8A-4147-A177-3AD203B41FA5}">
                      <a16:colId xmlns:a16="http://schemas.microsoft.com/office/drawing/2014/main" val="3758715242"/>
                    </a:ext>
                  </a:extLst>
                </a:gridCol>
              </a:tblGrid>
              <a:tr h="457674"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  <a:p>
                      <a:pPr algn="l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Approved Audit Plan - 2026</a:t>
                      </a:r>
                    </a:p>
                    <a:p>
                      <a:pPr algn="l" fontAlgn="b"/>
                      <a:r>
                        <a:rPr lang="en-AE" sz="9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9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1972014"/>
                  </a:ext>
                </a:extLst>
              </a:tr>
              <a:tr h="157473"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9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9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9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Verdana" panose="020B0604030504040204" pitchFamily="34" charset="0"/>
                        </a:rPr>
                        <a:t>Roll over from 2025 Plan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9545980"/>
                  </a:ext>
                </a:extLst>
              </a:tr>
              <a:tr h="201426"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0D0D0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Assignment Priority 2026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b="0" i="0" u="none" strike="noStrike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769120"/>
                  </a:ext>
                </a:extLst>
              </a:tr>
              <a:tr h="167855"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7C80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End of cycle / Risk based periodicity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</a:t>
                      </a:r>
                      <a:r>
                        <a:rPr lang="en-A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b="0" i="0" u="none" strike="noStrike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3229640"/>
                  </a:ext>
                </a:extLst>
              </a:tr>
              <a:tr h="167855"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CCFFCC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Regulatory Mandated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b="0" i="0" u="none" strike="noStrike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8933238"/>
                  </a:ext>
                </a:extLst>
              </a:tr>
              <a:tr h="167855"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D0D0D0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Total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E" sz="900" b="1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0D0D0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b="0" i="0" u="none" strike="noStrike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8332914"/>
                  </a:ext>
                </a:extLst>
              </a:tr>
              <a:tr h="176249"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8908499"/>
                  </a:ext>
                </a:extLst>
              </a:tr>
              <a:tr h="176249"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9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7C80"/>
                          </a:highlight>
                          <a:latin typeface="Verdana" panose="020B0604030504040204" pitchFamily="34" charset="0"/>
                        </a:rPr>
                        <a:t>END OF CYCLE / RISK BASED PERIODICITY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1782477"/>
                  </a:ext>
                </a:extLst>
              </a:tr>
              <a:tr h="755350"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Personal Loans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Protego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</a:t>
                      </a: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(I)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ATM Infrastructure &amp; Management </a:t>
                      </a: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(I)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Outbound Calls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Legal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Conduct Compliance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Fraud Risk </a:t>
                      </a: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(I)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Financial Planning &amp; Budgeting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Regulatory Reporting (BRFs)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1637218"/>
                  </a:ext>
                </a:extLst>
              </a:tr>
              <a:tr h="755350"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Information and Cyber Security Operations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Data Quality &amp; Governance audit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Network Architecture &amp; Resilience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Branches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Procurement and Vendor Management Office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Card Operations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Shared Service Operations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Wipro Outsourced Activities </a:t>
                      </a: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(I)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Pre-Implementation NAWAT </a:t>
                      </a: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(I)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E" sz="7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2868068"/>
                  </a:ext>
                </a:extLst>
              </a:tr>
              <a:tr h="755350"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Financial Institutions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Transaction Banking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Credit Governance &amp; Provisions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Commercial Banking &amp; Financing of Income Generating Properties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Digital Assets </a:t>
                      </a: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(I)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E" sz="7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3772895"/>
                  </a:ext>
                </a:extLst>
              </a:tr>
              <a:tr h="176249"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9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CCFFCC"/>
                          </a:highlight>
                          <a:latin typeface="Verdana" panose="020B0604030504040204" pitchFamily="34" charset="0"/>
                        </a:rPr>
                        <a:t>REGULATORY MANDATED AUDITS &amp; REVIEWS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99CCFF"/>
                        </a:highlight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E" sz="7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2113712"/>
                  </a:ext>
                </a:extLst>
              </a:tr>
              <a:tr h="755350"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Annual CRMS Compliance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EIBOR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Recovery Plan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4 x Pillar 3 disclosure reviews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Capital Management (CAR+ICAAP)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Regulatory Stress Testing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Financial Crime Compliance </a:t>
                      </a: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(I)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ADHICS Compliance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Shared Services &amp; Strategic Outsourcing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E" sz="7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429424"/>
                  </a:ext>
                </a:extLst>
              </a:tr>
              <a:tr h="763368"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b="0" i="0" u="none" strike="noStrike" dirty="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b="0" i="0" u="none" strike="noStrike" dirty="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b="0" i="0" u="none" strike="noStrike" dirty="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(I)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Integrated Audits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4432188"/>
                  </a:ext>
                </a:extLst>
              </a:tr>
            </a:tbl>
          </a:graphicData>
        </a:graphic>
      </p:graphicFrame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9B7ABB38-8682-8FA8-61ED-5AD65D5B16CF}"/>
              </a:ext>
            </a:extLst>
          </p:cNvPr>
          <p:cNvSpPr txBox="1">
            <a:spLocks/>
          </p:cNvSpPr>
          <p:nvPr/>
        </p:nvSpPr>
        <p:spPr>
          <a:xfrm>
            <a:off x="11887200" y="6624251"/>
            <a:ext cx="914400" cy="23374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516E9BE-843C-4425-80E4-36155279AD5E}" type="slidenum">
              <a:rPr kumimoji="0" lang="en-US" sz="900" b="1" i="0" u="none" strike="noStrike" kern="1200" cap="none" spc="0" normalizeH="0" baseline="0" noProof="0" smtClean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srgbClr val="2D2926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Arial" charset="0"/>
            </a:endParaRPr>
          </a:p>
        </p:txBody>
      </p:sp>
      <p:sp>
        <p:nvSpPr>
          <p:cNvPr id="8" name="GTBClassificationF2080689023">
            <a:extLst>
              <a:ext uri="{FF2B5EF4-FFF2-40B4-BE49-F238E27FC236}">
                <a16:creationId xmlns:a16="http://schemas.microsoft.com/office/drawing/2014/main" id="{0214205E-D9FD-721B-3B01-AEB3AA92C362}"/>
              </a:ext>
            </a:extLst>
          </p:cNvPr>
          <p:cNvSpPr txBox="1"/>
          <p:nvPr/>
        </p:nvSpPr>
        <p:spPr>
          <a:xfrm>
            <a:off x="0" y="6621780"/>
            <a:ext cx="12192000" cy="236220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b">
            <a:noAutofit/>
          </a:bodyPr>
          <a:lstStyle/>
          <a:p>
            <a:r>
              <a:rPr lang="en-US" sz="800" b="1">
                <a:solidFill>
                  <a:srgbClr val="000000">
                    <a:alpha val="70000"/>
                  </a:srgbClr>
                </a:solidFill>
                <a:latin typeface="verdana" panose="020B0604030504040204" pitchFamily="34" charset="0"/>
              </a:rPr>
              <a:t>Classification:</a:t>
            </a:r>
            <a:r>
              <a:rPr lang="en-US" sz="800">
                <a:solidFill>
                  <a:srgbClr val="000000">
                    <a:alpha val="70000"/>
                  </a:srgbClr>
                </a:solidFill>
                <a:latin typeface="verdana" panose="020B0604030504040204" pitchFamily="34" charset="0"/>
              </a:rPr>
              <a:t> </a:t>
            </a:r>
            <a:r>
              <a:rPr lang="en-US" sz="800" b="1">
                <a:solidFill>
                  <a:srgbClr val="FF0000">
                    <a:alpha val="70000"/>
                  </a:srgbClr>
                </a:solidFill>
                <a:latin typeface="verdana" panose="020B0604030504040204" pitchFamily="34" charset="0"/>
              </a:rPr>
              <a:t>RAKBANK-Confidential</a:t>
            </a:r>
            <a:endParaRPr lang="en-US" sz="800" b="1" dirty="0" err="1">
              <a:solidFill>
                <a:srgbClr val="FF0000">
                  <a:alpha val="70000"/>
                </a:srgbClr>
              </a:solidFill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43868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25112"/>
          </a:xfrm>
        </p:spPr>
        <p:txBody>
          <a:bodyPr anchor="ctr"/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Audit Universe – Coverage (FY 2026-2028)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16E9BE-843C-4425-80E4-36155279AD5E}" type="slidenum">
              <a:rPr kumimoji="0" lang="en-GB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90A8E858-38D7-B4BA-B2BF-7587DAD5D893}"/>
              </a:ext>
            </a:extLst>
          </p:cNvPr>
          <p:cNvSpPr txBox="1">
            <a:spLocks/>
          </p:cNvSpPr>
          <p:nvPr/>
        </p:nvSpPr>
        <p:spPr>
          <a:xfrm>
            <a:off x="11887200" y="6624251"/>
            <a:ext cx="914400" cy="23374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>
              <a:defRPr/>
            </a:pPr>
            <a:fld id="{6516E9BE-843C-4425-80E4-36155279AD5E}" type="slidenum">
              <a:rPr lang="en-US" sz="900" b="1" smtClean="0">
                <a:latin typeface="Verdana" panose="020B0604030504040204" pitchFamily="34" charset="0"/>
                <a:ea typeface="Verdana" panose="020B0604030504040204" pitchFamily="34" charset="0"/>
              </a:rPr>
              <a:pPr>
                <a:defRPr/>
              </a:pPr>
              <a:t>3</a:t>
            </a:fld>
            <a:endParaRPr lang="en-US" sz="9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1289D6B-55CB-D0EC-804F-2A307C54FF37}"/>
              </a:ext>
            </a:extLst>
          </p:cNvPr>
          <p:cNvGraphicFramePr>
            <a:graphicFrameLocks noGrp="1"/>
          </p:cNvGraphicFramePr>
          <p:nvPr/>
        </p:nvGraphicFramePr>
        <p:xfrm>
          <a:off x="381002" y="762000"/>
          <a:ext cx="11506198" cy="5201120"/>
        </p:xfrm>
        <a:graphic>
          <a:graphicData uri="http://schemas.openxmlformats.org/drawingml/2006/table">
            <a:tbl>
              <a:tblPr/>
              <a:tblGrid>
                <a:gridCol w="380998">
                  <a:extLst>
                    <a:ext uri="{9D8B030D-6E8A-4147-A177-3AD203B41FA5}">
                      <a16:colId xmlns:a16="http://schemas.microsoft.com/office/drawing/2014/main" val="24903948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358539733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16480447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47984253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625598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4022011984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160730704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57032627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9235376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089916607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</a:rPr>
                        <a:t>Ref</a:t>
                      </a:r>
                    </a:p>
                  </a:txBody>
                  <a:tcPr marL="5784" marR="5784" marT="57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</a:rPr>
                        <a:t>Business Function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</a:rPr>
                        <a:t>Residual Risk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</a:rPr>
                        <a:t>Entity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</a:rPr>
                        <a:t>Last Audit/</a:t>
                      </a:r>
                    </a:p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</a:rPr>
                        <a:t>Coverage Year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2026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</a:rPr>
                        <a:t>Audit Name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2027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2028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Notes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2122003"/>
                  </a:ext>
                </a:extLst>
              </a:tr>
              <a:tr h="287458">
                <a:tc rowSpan="11">
                  <a:txBody>
                    <a:bodyPr/>
                    <a:lstStyle/>
                    <a:p>
                      <a:pPr algn="ctr" fontAlgn="ctr"/>
                      <a:r>
                        <a:rPr lang="en-AE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1</a:t>
                      </a:r>
                    </a:p>
                  </a:txBody>
                  <a:tcPr marL="5784" marR="5784" marT="57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11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Retail Banking Group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C00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Voice &amp; Chat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2025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Outbound Calls 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1" i="0" u="none" strike="noStrike" dirty="0">
                          <a:solidFill>
                            <a:srgbClr val="0E2841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5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0514353"/>
                  </a:ext>
                </a:extLst>
              </a:tr>
              <a:tr h="201586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C00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Retail Sales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2025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500" b="0" i="0" u="none" strike="noStrike" dirty="0">
                        <a:solidFill>
                          <a:srgbClr val="00206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5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4819436"/>
                  </a:ext>
                </a:extLst>
              </a:tr>
              <a:tr h="265345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C00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Wealth Management (RAK Elite)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2025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500" b="0" i="0" u="none" strike="noStrike" dirty="0">
                        <a:solidFill>
                          <a:srgbClr val="00206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5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17717"/>
                  </a:ext>
                </a:extLst>
              </a:tr>
              <a:tr h="201586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C00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Credit Cards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2024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700" b="1" i="0" u="none" strike="noStrike" dirty="0">
                        <a:solidFill>
                          <a:srgbClr val="FFFF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500" b="0" i="0" u="none" strike="noStrike" dirty="0">
                        <a:solidFill>
                          <a:srgbClr val="00206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5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3246320"/>
                  </a:ext>
                </a:extLst>
              </a:tr>
              <a:tr h="201586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C00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Payments and Remittances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2025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500" b="0" i="0" u="none" strike="noStrike" dirty="0">
                        <a:solidFill>
                          <a:srgbClr val="00206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500" b="0" i="0" u="none" strike="noStrike">
                        <a:solidFill>
                          <a:srgbClr val="00206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5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5314128"/>
                  </a:ext>
                </a:extLst>
              </a:tr>
              <a:tr h="201586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92D05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Bancassurance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2025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500" b="0" i="0" u="none" strike="noStrike" dirty="0">
                        <a:solidFill>
                          <a:srgbClr val="00206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500" b="0" i="0" u="none" strike="noStrike" dirty="0">
                        <a:solidFill>
                          <a:srgbClr val="00206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9905205"/>
                  </a:ext>
                </a:extLst>
              </a:tr>
              <a:tr h="243234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C00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Retail Loans (Mortgages, Personal Loans, Auto Loans)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2024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Personal Loans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500" b="0" i="0" u="none" strike="noStrike" dirty="0">
                        <a:solidFill>
                          <a:srgbClr val="00206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5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5060169"/>
                  </a:ext>
                </a:extLst>
              </a:tr>
              <a:tr h="201586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C00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Wealth Management (Product)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2025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500" b="0" i="0" u="none" strike="noStrike" dirty="0">
                        <a:solidFill>
                          <a:srgbClr val="00206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500" b="0" i="0" u="none" strike="noStrike" dirty="0">
                        <a:solidFill>
                          <a:srgbClr val="00206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5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3424230"/>
                  </a:ext>
                </a:extLst>
              </a:tr>
              <a:tr h="201586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C00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Digital Channels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2023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ATM Infrastructure &amp; Management (I)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500" b="0" i="0" u="none" strike="noStrike" dirty="0">
                        <a:solidFill>
                          <a:srgbClr val="00206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500" b="0" i="0" u="none" strike="noStrike" dirty="0">
                        <a:solidFill>
                          <a:srgbClr val="00206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1763640"/>
                  </a:ext>
                </a:extLst>
              </a:tr>
              <a:tr h="201586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C00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Merchant Acquiring &amp; Skiply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2025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500" b="0" i="0" u="none" strike="noStrike" dirty="0">
                        <a:solidFill>
                          <a:srgbClr val="00206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500" b="0" i="0" u="none" strike="noStrike" dirty="0">
                        <a:solidFill>
                          <a:srgbClr val="00206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5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1392952"/>
                  </a:ext>
                </a:extLst>
              </a:tr>
              <a:tr h="257975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92D05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Branches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2025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Branches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5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978805"/>
                  </a:ext>
                </a:extLst>
              </a:tr>
              <a:tr h="201586"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en-AE" sz="900" b="1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</a:t>
                      </a:r>
                    </a:p>
                  </a:txBody>
                  <a:tcPr marL="5784" marR="5784" marT="57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Business Banking Group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C00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Governance &amp; Client Onboarding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2025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Commercial Banking &amp; FIGP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1" i="0" u="none" strike="noStrike" dirty="0">
                          <a:solidFill>
                            <a:srgbClr val="0E2841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b="1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3516104"/>
                  </a:ext>
                </a:extLst>
              </a:tr>
              <a:tr h="201586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C00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Products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2025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Commercial Banking &amp; FIGP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5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6696180"/>
                  </a:ext>
                </a:extLst>
              </a:tr>
              <a:tr h="201586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C00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Commercial Banking &amp; FIGP &amp; ABF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2025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Commercial Banking &amp; FIGP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500" b="0" i="0" u="none" strike="noStrike" dirty="0">
                        <a:solidFill>
                          <a:srgbClr val="00206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6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0155593"/>
                  </a:ext>
                </a:extLst>
              </a:tr>
              <a:tr h="201586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C00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Trade &amp; Working Capital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2024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500" b="0" i="0" u="none" strike="noStrike" dirty="0">
                        <a:solidFill>
                          <a:srgbClr val="00206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5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4053175"/>
                  </a:ext>
                </a:extLst>
              </a:tr>
              <a:tr h="201586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C00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Distribution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2025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500" b="0" i="0" u="none" strike="noStrike" dirty="0">
                        <a:solidFill>
                          <a:srgbClr val="00206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500" b="0" i="0" u="none" strike="noStrike" dirty="0">
                        <a:solidFill>
                          <a:srgbClr val="00206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5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9466013"/>
                  </a:ext>
                </a:extLst>
              </a:tr>
              <a:tr h="201586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C00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Liabilities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2025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500" b="0" i="0" u="none" strike="noStrike" dirty="0">
                        <a:solidFill>
                          <a:srgbClr val="00206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5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5903319"/>
                  </a:ext>
                </a:extLst>
              </a:tr>
              <a:tr h="201586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C00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Digital Platform and Propositions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2024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Pre-Implementation - NAWAT (I)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500" b="0" i="0" u="none" strike="noStrike" dirty="0">
                        <a:solidFill>
                          <a:srgbClr val="00206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943541"/>
                  </a:ext>
                </a:extLst>
              </a:tr>
              <a:tr h="201586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AE" sz="900" b="1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3</a:t>
                      </a:r>
                    </a:p>
                  </a:txBody>
                  <a:tcPr marL="5784" marR="5784" marT="57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Wholesale Banking Group (Coverage)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C00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Financial Institutions 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2024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Financial Institutions 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500" b="0" i="0" u="none" strike="noStrike" dirty="0">
                        <a:solidFill>
                          <a:srgbClr val="00206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2962503"/>
                  </a:ext>
                </a:extLst>
              </a:tr>
              <a:tr h="201586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C00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Business Operational Risk Management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2025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Financial Institutions 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2481519"/>
                  </a:ext>
                </a:extLst>
              </a:tr>
              <a:tr h="201586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C00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RAK Corporates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2025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500" b="0" i="0" u="none" strike="noStrike" dirty="0">
                        <a:solidFill>
                          <a:srgbClr val="00206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8964747"/>
                  </a:ext>
                </a:extLst>
              </a:tr>
              <a:tr h="201586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C00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Dubai Corporate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2025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500" b="0" i="0" u="none" strike="noStrike" dirty="0">
                        <a:solidFill>
                          <a:srgbClr val="00206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500" b="0" i="0" u="none" strike="noStrike" dirty="0">
                        <a:solidFill>
                          <a:srgbClr val="00206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8944469"/>
                  </a:ext>
                </a:extLst>
              </a:tr>
              <a:tr h="201586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C00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GRE &amp; Abu Dhabi Corporates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2025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500" b="0" i="0" u="none" strike="noStrike" dirty="0">
                        <a:solidFill>
                          <a:srgbClr val="00206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500" b="0" i="0" u="none" strike="noStrike" dirty="0">
                        <a:solidFill>
                          <a:srgbClr val="00206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784" marR="5784" marT="578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5096544"/>
                  </a:ext>
                </a:extLst>
              </a:tr>
            </a:tbl>
          </a:graphicData>
        </a:graphic>
      </p:graphicFrame>
      <p:sp>
        <p:nvSpPr>
          <p:cNvPr id="4" name="GTBClassificationF538204030">
            <a:extLst>
              <a:ext uri="{FF2B5EF4-FFF2-40B4-BE49-F238E27FC236}">
                <a16:creationId xmlns:a16="http://schemas.microsoft.com/office/drawing/2014/main" id="{993BBE42-49FC-77E8-7313-CA7DD997F8DF}"/>
              </a:ext>
            </a:extLst>
          </p:cNvPr>
          <p:cNvSpPr txBox="1"/>
          <p:nvPr/>
        </p:nvSpPr>
        <p:spPr>
          <a:xfrm>
            <a:off x="0" y="6621780"/>
            <a:ext cx="12192000" cy="236220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b">
            <a:noAutofit/>
          </a:bodyPr>
          <a:lstStyle/>
          <a:p>
            <a:r>
              <a:rPr lang="en-US" sz="800" b="1">
                <a:solidFill>
                  <a:srgbClr val="000000">
                    <a:alpha val="70000"/>
                  </a:srgbClr>
                </a:solidFill>
                <a:latin typeface="verdana" panose="020B0604030504040204" pitchFamily="34" charset="0"/>
              </a:rPr>
              <a:t>Classification:</a:t>
            </a:r>
            <a:r>
              <a:rPr lang="en-US" sz="800">
                <a:solidFill>
                  <a:srgbClr val="000000">
                    <a:alpha val="70000"/>
                  </a:srgbClr>
                </a:solidFill>
                <a:latin typeface="verdana" panose="020B0604030504040204" pitchFamily="34" charset="0"/>
              </a:rPr>
              <a:t> </a:t>
            </a:r>
            <a:r>
              <a:rPr lang="en-US" sz="800" b="1">
                <a:solidFill>
                  <a:srgbClr val="FF0000">
                    <a:alpha val="70000"/>
                  </a:srgbClr>
                </a:solidFill>
                <a:latin typeface="verdana" panose="020B0604030504040204" pitchFamily="34" charset="0"/>
              </a:rPr>
              <a:t>RAKBANK-Confidential</a:t>
            </a:r>
            <a:endParaRPr lang="en-US" sz="800" b="1" dirty="0" err="1">
              <a:solidFill>
                <a:srgbClr val="FF0000">
                  <a:alpha val="70000"/>
                </a:srgbClr>
              </a:solidFill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09500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25112"/>
          </a:xfrm>
        </p:spPr>
        <p:txBody>
          <a:bodyPr anchor="ctr"/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Audit Universe – Coverage (FY 2026-2028)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16E9BE-843C-4425-80E4-36155279AD5E}" type="slidenum">
              <a:rPr kumimoji="0" lang="en-GB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045C64EA-7385-B8C8-A646-D10560A9A1A8}"/>
              </a:ext>
            </a:extLst>
          </p:cNvPr>
          <p:cNvSpPr txBox="1">
            <a:spLocks/>
          </p:cNvSpPr>
          <p:nvPr/>
        </p:nvSpPr>
        <p:spPr>
          <a:xfrm>
            <a:off x="11887200" y="6624251"/>
            <a:ext cx="914400" cy="23374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>
              <a:defRPr/>
            </a:pPr>
            <a:fld id="{6516E9BE-843C-4425-80E4-36155279AD5E}" type="slidenum">
              <a:rPr lang="en-US" sz="900" b="1" smtClean="0">
                <a:latin typeface="Verdana" panose="020B0604030504040204" pitchFamily="34" charset="0"/>
                <a:ea typeface="Verdana" panose="020B0604030504040204" pitchFamily="34" charset="0"/>
              </a:rPr>
              <a:pPr>
                <a:defRPr/>
              </a:pPr>
              <a:t>4</a:t>
            </a:fld>
            <a:endParaRPr lang="en-US" sz="9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ACF5479-DF61-0691-BF8A-C93E2D4F406F}"/>
              </a:ext>
            </a:extLst>
          </p:cNvPr>
          <p:cNvGraphicFramePr>
            <a:graphicFrameLocks noGrp="1"/>
          </p:cNvGraphicFramePr>
          <p:nvPr/>
        </p:nvGraphicFramePr>
        <p:xfrm>
          <a:off x="381598" y="762000"/>
          <a:ext cx="11505602" cy="5792186"/>
        </p:xfrm>
        <a:graphic>
          <a:graphicData uri="http://schemas.openxmlformats.org/drawingml/2006/table">
            <a:tbl>
              <a:tblPr/>
              <a:tblGrid>
                <a:gridCol w="380402">
                  <a:extLst>
                    <a:ext uri="{9D8B030D-6E8A-4147-A177-3AD203B41FA5}">
                      <a16:colId xmlns:a16="http://schemas.microsoft.com/office/drawing/2014/main" val="3915140088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303069427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257162146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73674683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77879859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14988166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2946489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7796348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583484079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5861666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</a:rPr>
                        <a:t>Ref</a:t>
                      </a:r>
                    </a:p>
                  </a:txBody>
                  <a:tcPr marL="5216" marR="5216" marT="52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</a:rPr>
                        <a:t>Business Function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</a:rPr>
                        <a:t>Residual Risk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</a:rPr>
                        <a:t>Entity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</a:rPr>
                        <a:t>Last Audit/</a:t>
                      </a:r>
                    </a:p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</a:rPr>
                        <a:t>Coverage Year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2026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</a:rPr>
                        <a:t>Audit Name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2027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2028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Notes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5165800"/>
                  </a:ext>
                </a:extLst>
              </a:tr>
              <a:tr h="177232"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en-AE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4</a:t>
                      </a:r>
                    </a:p>
                  </a:txBody>
                  <a:tcPr marL="5216" marR="5216" marT="52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Wholesale Banking Group (Products)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C00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Financial Market Sales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2024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600" b="1" i="0" u="none" strike="noStrike" dirty="0">
                        <a:solidFill>
                          <a:srgbClr val="FFFFFF"/>
                        </a:solidFill>
                        <a:effectLst/>
                        <a:latin typeface="Aptos Display"/>
                      </a:endParaRP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/>
                          <a:sym typeface="Wingdings 2"/>
                        </a:rPr>
                        <a:t>Å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600" b="1" i="0" u="none" strike="noStrike" dirty="0">
                        <a:solidFill>
                          <a:srgbClr val="FFFFFF"/>
                        </a:solidFill>
                        <a:effectLst/>
                        <a:latin typeface="Aptos Display"/>
                      </a:endParaRP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600" b="1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8023308"/>
                  </a:ext>
                </a:extLst>
              </a:tr>
              <a:tr h="177232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C00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Investments &amp; Trading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2025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500" b="0" i="0" u="none" strike="noStrike" dirty="0">
                        <a:solidFill>
                          <a:srgbClr val="00206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AE" sz="90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500" b="0" i="0" u="none" strike="noStrike" kern="1200" dirty="0">
                          <a:solidFill>
                            <a:srgbClr val="002060"/>
                          </a:solidFill>
                          <a:effectLst/>
                          <a:latin typeface="Wingdings 2"/>
                          <a:ea typeface="+mn-ea"/>
                          <a:cs typeface="+mn-cs"/>
                          <a:sym typeface="Wingdings 2"/>
                        </a:rPr>
                        <a:t>Å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/>
                          <a:sym typeface="Wingdings 2"/>
                        </a:rPr>
                        <a:t>Å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50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8529895"/>
                  </a:ext>
                </a:extLst>
              </a:tr>
              <a:tr h="177232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C000"/>
                          </a:solidFill>
                          <a:effectLst/>
                          <a:latin typeface="Wingdings 2"/>
                          <a:sym typeface="Wingdings 2"/>
                        </a:rPr>
                        <a:t>Å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EIBOR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2025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/>
                          <a:sym typeface="Wingdings 2"/>
                        </a:rPr>
                        <a:t>Å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EIBOR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/>
                          <a:sym typeface="Wingdings 2"/>
                        </a:rPr>
                        <a:t>Å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/>
                          <a:sym typeface="Wingdings 2"/>
                        </a:rPr>
                        <a:t>Å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50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5365979"/>
                  </a:ext>
                </a:extLst>
              </a:tr>
              <a:tr h="177232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C00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Asset &amp; Liability Management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2025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500" b="0" i="0" u="none" strike="noStrike" dirty="0">
                        <a:solidFill>
                          <a:srgbClr val="00206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AE" sz="90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/>
                          <a:sym typeface="Wingdings 2"/>
                        </a:rPr>
                        <a:t>Å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500" b="0" i="0" u="none" strike="noStrike" dirty="0">
                        <a:solidFill>
                          <a:srgbClr val="00206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50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8644345"/>
                  </a:ext>
                </a:extLst>
              </a:tr>
              <a:tr h="177232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C00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Transaction Banking 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2024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Transaction Banking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500" b="0" i="0" u="none" strike="noStrike" dirty="0">
                        <a:solidFill>
                          <a:srgbClr val="00206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500" b="0" i="0" u="none" strike="noStrike" dirty="0">
                        <a:solidFill>
                          <a:srgbClr val="00206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50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6058905"/>
                  </a:ext>
                </a:extLst>
              </a:tr>
              <a:tr h="177232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Digital Assets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NEW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/>
                          <a:sym typeface="Wingdings 2"/>
                        </a:rPr>
                        <a:t>Å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Digital Assets (I)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/>
                          <a:sym typeface="Wingdings 2"/>
                        </a:rPr>
                        <a:t>Å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/>
                          <a:sym typeface="Wingdings 2"/>
                        </a:rPr>
                        <a:t>Å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1</a:t>
                      </a:r>
                      <a:endParaRPr lang="en-AE" sz="50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7798231"/>
                  </a:ext>
                </a:extLst>
              </a:tr>
              <a:tr h="214258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92D050"/>
                          </a:solidFill>
                          <a:effectLst/>
                          <a:latin typeface="Wingdings 2"/>
                          <a:sym typeface="Wingdings 2"/>
                        </a:rPr>
                        <a:t>Å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Strategy, Business Development and Governance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2025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500" b="0" i="0" u="none" strike="noStrike" dirty="0">
                        <a:solidFill>
                          <a:srgbClr val="00206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AE" sz="90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600" b="1" i="0" u="none" strike="noStrike" dirty="0">
                        <a:solidFill>
                          <a:srgbClr val="FFFFFF"/>
                        </a:solidFill>
                        <a:effectLst/>
                        <a:latin typeface="Aptos Display"/>
                      </a:endParaRP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/>
                          <a:sym typeface="Wingdings 2"/>
                        </a:rPr>
                        <a:t>Å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50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3146363"/>
                  </a:ext>
                </a:extLst>
              </a:tr>
              <a:tr h="214258">
                <a:tc rowSpan="8">
                  <a:txBody>
                    <a:bodyPr/>
                    <a:lstStyle/>
                    <a:p>
                      <a:pPr algn="ctr" fontAlgn="ctr"/>
                      <a:r>
                        <a:rPr lang="en-AE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5</a:t>
                      </a:r>
                    </a:p>
                  </a:txBody>
                  <a:tcPr marL="5216" marR="5216" marT="52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8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Credit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C000"/>
                          </a:solidFill>
                          <a:effectLst/>
                          <a:latin typeface="Wingdings 2"/>
                          <a:sym typeface="Wingdings 2"/>
                        </a:rPr>
                        <a:t>Å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Wholesale Banking &amp; Financial Institutions Credit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2025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/>
                          <a:sym typeface="Wingdings 2"/>
                        </a:rPr>
                        <a:t>Å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Financial Institutions 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/>
                          <a:sym typeface="Wingdings 2"/>
                        </a:rPr>
                        <a:t>Å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/>
                          <a:sym typeface="Wingdings 2"/>
                        </a:rPr>
                        <a:t>Å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4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360645"/>
                  </a:ext>
                </a:extLst>
              </a:tr>
              <a:tr h="177232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C00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Business Banking  Credit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2025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/>
                          <a:sym typeface="Wingdings 2"/>
                        </a:rPr>
                        <a:t>Å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Commercial Banking &amp; FIGP</a:t>
                      </a:r>
                      <a:endParaRPr lang="en-US" dirty="0"/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/>
                          <a:sym typeface="Wingdings 2"/>
                        </a:rPr>
                        <a:t>Å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/>
                          <a:sym typeface="Wingdings 2"/>
                        </a:rPr>
                        <a:t>Å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4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0042759"/>
                  </a:ext>
                </a:extLst>
              </a:tr>
              <a:tr h="272592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C00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BBG, WBG Collections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A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2025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/>
                          <a:sym typeface="Wingdings 2"/>
                        </a:rPr>
                        <a:t>Å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Annual Credit Risk Management Standards Compliance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/>
                          <a:sym typeface="Wingdings 2"/>
                        </a:rPr>
                        <a:t>Å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/>
                          <a:sym typeface="Wingdings 2"/>
                        </a:rPr>
                        <a:t>Å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AE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4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2514758"/>
                  </a:ext>
                </a:extLst>
              </a:tr>
              <a:tr h="177032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Commercial Banking &amp; FIGP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1516798"/>
                  </a:ext>
                </a:extLst>
              </a:tr>
              <a:tr h="233736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C000"/>
                          </a:solidFill>
                          <a:effectLst/>
                          <a:latin typeface="Wingdings 2"/>
                          <a:sym typeface="Wingdings 2"/>
                        </a:rPr>
                        <a:t>Å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RBG, LAI &amp; Investments Underwriting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2025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/>
                          <a:sym typeface="Wingdings 2"/>
                        </a:rPr>
                        <a:t>Å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Personal Loans 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/>
                          <a:sym typeface="Wingdings 2"/>
                        </a:rPr>
                        <a:t>Å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500" b="0" i="0" u="none" strike="noStrike" dirty="0">
                        <a:solidFill>
                          <a:srgbClr val="00206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4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560682"/>
                  </a:ext>
                </a:extLst>
              </a:tr>
              <a:tr h="177232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C00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RBG Collections and Recovery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2025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500" b="0" i="0" u="none" strike="noStrike" dirty="0">
                        <a:solidFill>
                          <a:srgbClr val="00206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600" b="1" i="0" u="none" strike="noStrike" dirty="0">
                        <a:solidFill>
                          <a:srgbClr val="FFFFFF"/>
                        </a:solidFill>
                        <a:effectLst/>
                        <a:latin typeface="Aptos Display"/>
                      </a:endParaRP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/>
                          <a:sym typeface="Wingdings 2"/>
                        </a:rPr>
                        <a:t>Å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4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0117446"/>
                  </a:ext>
                </a:extLst>
              </a:tr>
              <a:tr h="177232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C000"/>
                          </a:solidFill>
                          <a:effectLst/>
                          <a:latin typeface="Wingdings 2"/>
                          <a:sym typeface="Wingdings 2"/>
                        </a:rPr>
                        <a:t>Å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Credit Governance &amp; Provisions 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2023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/>
                          <a:sym typeface="Wingdings 2"/>
                        </a:rPr>
                        <a:t>Å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Credit Governance &amp; Provisions 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500" b="0" i="0" u="none" strike="noStrike" dirty="0">
                        <a:solidFill>
                          <a:srgbClr val="00206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/>
                          <a:sym typeface="Wingdings 2"/>
                        </a:rPr>
                        <a:t>Å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50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581020"/>
                  </a:ext>
                </a:extLst>
              </a:tr>
              <a:tr h="272592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C00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Annual Credit Risk Management Standards Compliance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2025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/>
                          <a:sym typeface="Wingdings 2"/>
                        </a:rPr>
                        <a:t>Å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Annual Credit Risk Management Standards Compliance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600" b="1" i="0" u="none" strike="noStrike" dirty="0">
                        <a:solidFill>
                          <a:srgbClr val="FFFFFF"/>
                        </a:solidFill>
                        <a:effectLst/>
                        <a:latin typeface="Aptos Display"/>
                      </a:endParaRP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/>
                          <a:sym typeface="Wingdings 2"/>
                        </a:rPr>
                        <a:t>Å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3406291"/>
                  </a:ext>
                </a:extLst>
              </a:tr>
              <a:tr h="177232">
                <a:tc rowSpan="11">
                  <a:txBody>
                    <a:bodyPr/>
                    <a:lstStyle/>
                    <a:p>
                      <a:pPr algn="ctr" fontAlgn="ctr"/>
                      <a:r>
                        <a:rPr lang="en-AE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6</a:t>
                      </a:r>
                    </a:p>
                  </a:txBody>
                  <a:tcPr marL="5216" marR="5216" marT="52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11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Finance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92D050"/>
                          </a:solidFill>
                          <a:effectLst/>
                          <a:latin typeface="Wingdings 2"/>
                          <a:sym typeface="Wingdings 2"/>
                        </a:rPr>
                        <a:t>Å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Financial, Reporting &amp; Controls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2021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500" b="0" i="0" u="none" strike="noStrike" dirty="0">
                        <a:solidFill>
                          <a:srgbClr val="00206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AE" sz="90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500" b="0" i="0" u="none" strike="noStrike" dirty="0">
                        <a:solidFill>
                          <a:srgbClr val="00206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/>
                          <a:sym typeface="Wingdings 2"/>
                        </a:rPr>
                        <a:t>Å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2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486659"/>
                  </a:ext>
                </a:extLst>
              </a:tr>
              <a:tr h="177232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C00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Financial Planning &amp; Budgeting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2021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Financial Planning &amp; Budgeting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600" b="1" i="0" u="none" strike="noStrike" dirty="0">
                        <a:solidFill>
                          <a:srgbClr val="FFFFFF"/>
                        </a:solidFill>
                        <a:effectLst/>
                        <a:latin typeface="Aptos Display"/>
                      </a:endParaRP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500" b="0" i="0" u="none" strike="noStrike" dirty="0">
                        <a:solidFill>
                          <a:srgbClr val="00206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2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9010251"/>
                  </a:ext>
                </a:extLst>
              </a:tr>
              <a:tr h="177232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C00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Taxation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2022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500" b="0" i="0" u="none" strike="noStrike" dirty="0">
                        <a:solidFill>
                          <a:srgbClr val="00206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AE" sz="90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/>
                          <a:sym typeface="Wingdings 2"/>
                        </a:rPr>
                        <a:t>Å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600" b="1" i="0" u="none" strike="noStrike" dirty="0">
                        <a:solidFill>
                          <a:srgbClr val="FFFFFF"/>
                        </a:solidFill>
                        <a:effectLst/>
                        <a:latin typeface="Aptos Display"/>
                      </a:endParaRP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2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2671599"/>
                  </a:ext>
                </a:extLst>
              </a:tr>
              <a:tr h="177232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C00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Regulatory Reporting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2024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Regulatory Reporting (BRFs)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500" b="0" i="0" u="none" strike="noStrike" dirty="0">
                        <a:solidFill>
                          <a:srgbClr val="00206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500" b="0" i="0" u="none" strike="noStrike" dirty="0">
                        <a:solidFill>
                          <a:srgbClr val="00206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50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3769969"/>
                  </a:ext>
                </a:extLst>
              </a:tr>
              <a:tr h="272592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C00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Capital &amp; Liquidity Management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A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2025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Capital Management (ICAAP + CAR)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/>
                          <a:sym typeface="Wingdings 2"/>
                        </a:rPr>
                        <a:t>Å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4</a:t>
                      </a:r>
                      <a:endParaRPr lang="en-AE" sz="50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9750793"/>
                  </a:ext>
                </a:extLst>
              </a:tr>
              <a:tr h="177032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4 x Pillar 3 disclosure reviews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AE" sz="50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9849760"/>
                  </a:ext>
                </a:extLst>
              </a:tr>
              <a:tr h="214258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C00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Corporate Governance &amp; Company Secretary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2022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500" b="0" i="0" u="none" strike="noStrike" dirty="0">
                        <a:solidFill>
                          <a:srgbClr val="00206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AE" sz="90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500" b="0" i="0" u="none" strike="noStrike" dirty="0">
                        <a:solidFill>
                          <a:srgbClr val="00206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2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8835487"/>
                  </a:ext>
                </a:extLst>
              </a:tr>
              <a:tr h="214258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C000"/>
                          </a:solidFill>
                          <a:effectLst/>
                          <a:latin typeface="Wingdings 2"/>
                          <a:sym typeface="Wingdings 2"/>
                        </a:rPr>
                        <a:t>Å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Procurement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2019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/>
                          <a:sym typeface="Wingdings 2"/>
                        </a:rPr>
                        <a:t>Å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Procurement &amp; VMO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500" b="0" i="0" u="none" strike="noStrike" dirty="0">
                        <a:solidFill>
                          <a:srgbClr val="00206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2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0655850"/>
                  </a:ext>
                </a:extLst>
              </a:tr>
              <a:tr h="214258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C000"/>
                          </a:solidFill>
                          <a:effectLst/>
                          <a:latin typeface="Wingdings 2"/>
                          <a:sym typeface="Wingdings 2"/>
                        </a:rPr>
                        <a:t>Å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Vendor Management Office (Procurement)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2019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/>
                          <a:sym typeface="Wingdings 2"/>
                        </a:rPr>
                        <a:t>Å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/>
                          <a:ea typeface="+mn-ea"/>
                          <a:cs typeface="+mn-cs"/>
                        </a:rPr>
                        <a:t>Procurement &amp; VMO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500" b="0" i="0" u="none" strike="noStrike" dirty="0">
                        <a:solidFill>
                          <a:srgbClr val="00206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2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0250853"/>
                  </a:ext>
                </a:extLst>
              </a:tr>
              <a:tr h="214258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C00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Sourcing &amp; Category- Strategic Procurement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2019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/>
                          <a:sym typeface="Wingdings 2"/>
                        </a:rPr>
                        <a:t>Å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+mn-ea"/>
                          <a:cs typeface="+mn-cs"/>
                        </a:rPr>
                        <a:t>Procurement &amp; VMO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600" b="1" i="0" u="none" strike="noStrike" dirty="0">
                        <a:solidFill>
                          <a:srgbClr val="FFFFFF"/>
                        </a:solidFill>
                        <a:effectLst/>
                        <a:latin typeface="Aptos Display"/>
                      </a:endParaRP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600" b="1" i="0" u="none" strike="noStrike" dirty="0">
                        <a:solidFill>
                          <a:srgbClr val="FFFFFF"/>
                        </a:solidFill>
                        <a:effectLst/>
                        <a:latin typeface="Aptos Display"/>
                      </a:endParaRP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2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9137112"/>
                  </a:ext>
                </a:extLst>
              </a:tr>
              <a:tr h="177232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C000"/>
                          </a:solidFill>
                          <a:effectLst/>
                          <a:latin typeface="Wingdings 2"/>
                          <a:sym typeface="Wingdings 2"/>
                        </a:rPr>
                        <a:t>Å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Payments &amp; Reconciliations Operations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NEW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/>
                          <a:sym typeface="Wingdings 2"/>
                        </a:rPr>
                        <a:t>Å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Wipro Outsourced Activities (I)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500" b="0" i="0" u="none" strike="noStrike" dirty="0">
                        <a:solidFill>
                          <a:srgbClr val="00206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500" b="0" i="0" u="none" strike="noStrike" dirty="0">
                        <a:solidFill>
                          <a:srgbClr val="00206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216" marR="5216" marT="5216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3680378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E8B85A18-52B6-6CC6-6AA7-26E5CEE89B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6553200"/>
            <a:ext cx="1676400" cy="272668"/>
          </a:xfrm>
          <a:prstGeom prst="rect">
            <a:avLst/>
          </a:prstGeom>
        </p:spPr>
      </p:pic>
      <p:sp>
        <p:nvSpPr>
          <p:cNvPr id="4" name="GTBClassificationF845850308">
            <a:extLst>
              <a:ext uri="{FF2B5EF4-FFF2-40B4-BE49-F238E27FC236}">
                <a16:creationId xmlns:a16="http://schemas.microsoft.com/office/drawing/2014/main" id="{2FA320B7-6A0D-4086-9F81-40E492628A53}"/>
              </a:ext>
            </a:extLst>
          </p:cNvPr>
          <p:cNvSpPr txBox="1"/>
          <p:nvPr/>
        </p:nvSpPr>
        <p:spPr>
          <a:xfrm>
            <a:off x="0" y="6621780"/>
            <a:ext cx="12192000" cy="236220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b">
            <a:noAutofit/>
          </a:bodyPr>
          <a:lstStyle/>
          <a:p>
            <a:r>
              <a:rPr lang="en-US" sz="800" b="1">
                <a:solidFill>
                  <a:srgbClr val="000000">
                    <a:alpha val="70000"/>
                  </a:srgbClr>
                </a:solidFill>
                <a:latin typeface="verdana" panose="020B0604030504040204" pitchFamily="34" charset="0"/>
              </a:rPr>
              <a:t>Classification:</a:t>
            </a:r>
            <a:r>
              <a:rPr lang="en-US" sz="800">
                <a:solidFill>
                  <a:srgbClr val="000000">
                    <a:alpha val="70000"/>
                  </a:srgbClr>
                </a:solidFill>
                <a:latin typeface="verdana" panose="020B0604030504040204" pitchFamily="34" charset="0"/>
              </a:rPr>
              <a:t> </a:t>
            </a:r>
            <a:r>
              <a:rPr lang="en-US" sz="800" b="1">
                <a:solidFill>
                  <a:srgbClr val="FF0000">
                    <a:alpha val="70000"/>
                  </a:srgbClr>
                </a:solidFill>
                <a:latin typeface="verdana" panose="020B0604030504040204" pitchFamily="34" charset="0"/>
              </a:rPr>
              <a:t>RAKBANK-Confidential</a:t>
            </a:r>
            <a:endParaRPr lang="en-US" sz="800" b="1" dirty="0" err="1">
              <a:solidFill>
                <a:srgbClr val="FF0000">
                  <a:alpha val="70000"/>
                </a:srgbClr>
              </a:solidFill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48383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25112"/>
          </a:xfrm>
        </p:spPr>
        <p:txBody>
          <a:bodyPr anchor="ctr"/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Audit Universe – Coverage (FY 2026-2028)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16E9BE-843C-4425-80E4-36155279AD5E}" type="slidenum">
              <a:rPr kumimoji="0" lang="en-GB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4AD0D08F-5BA3-A563-5A6B-822CBBD10974}"/>
              </a:ext>
            </a:extLst>
          </p:cNvPr>
          <p:cNvSpPr txBox="1">
            <a:spLocks/>
          </p:cNvSpPr>
          <p:nvPr/>
        </p:nvSpPr>
        <p:spPr>
          <a:xfrm>
            <a:off x="11887200" y="6624251"/>
            <a:ext cx="914400" cy="23374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>
              <a:defRPr/>
            </a:pPr>
            <a:fld id="{6516E9BE-843C-4425-80E4-36155279AD5E}" type="slidenum">
              <a:rPr lang="en-US" sz="900" b="1" smtClean="0">
                <a:latin typeface="Verdana" panose="020B0604030504040204" pitchFamily="34" charset="0"/>
                <a:ea typeface="Verdana" panose="020B0604030504040204" pitchFamily="34" charset="0"/>
              </a:rPr>
              <a:pPr>
                <a:defRPr/>
              </a:pPr>
              <a:t>5</a:t>
            </a:fld>
            <a:endParaRPr lang="en-US" sz="9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19EABA6-AA7D-9643-E704-F60B97337CCE}"/>
              </a:ext>
            </a:extLst>
          </p:cNvPr>
          <p:cNvGraphicFramePr>
            <a:graphicFrameLocks noGrp="1"/>
          </p:cNvGraphicFramePr>
          <p:nvPr/>
        </p:nvGraphicFramePr>
        <p:xfrm>
          <a:off x="370490" y="766022"/>
          <a:ext cx="11505599" cy="5253160"/>
        </p:xfrm>
        <a:graphic>
          <a:graphicData uri="http://schemas.openxmlformats.org/drawingml/2006/table">
            <a:tbl>
              <a:tblPr/>
              <a:tblGrid>
                <a:gridCol w="382256">
                  <a:extLst>
                    <a:ext uri="{9D8B030D-6E8A-4147-A177-3AD203B41FA5}">
                      <a16:colId xmlns:a16="http://schemas.microsoft.com/office/drawing/2014/main" val="1838378424"/>
                    </a:ext>
                  </a:extLst>
                </a:gridCol>
                <a:gridCol w="1872754">
                  <a:extLst>
                    <a:ext uri="{9D8B030D-6E8A-4147-A177-3AD203B41FA5}">
                      <a16:colId xmlns:a16="http://schemas.microsoft.com/office/drawing/2014/main" val="3652753895"/>
                    </a:ext>
                  </a:extLst>
                </a:gridCol>
                <a:gridCol w="564390">
                  <a:extLst>
                    <a:ext uri="{9D8B030D-6E8A-4147-A177-3AD203B41FA5}">
                      <a16:colId xmlns:a16="http://schemas.microsoft.com/office/drawing/2014/main" val="4169638193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385128867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97087416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580575724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2473659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400002077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341663019"/>
                    </a:ext>
                  </a:extLst>
                </a:gridCol>
                <a:gridCol w="761399">
                  <a:extLst>
                    <a:ext uri="{9D8B030D-6E8A-4147-A177-3AD203B41FA5}">
                      <a16:colId xmlns:a16="http://schemas.microsoft.com/office/drawing/2014/main" val="41936988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</a:rPr>
                        <a:t>Ref</a:t>
                      </a:r>
                    </a:p>
                  </a:txBody>
                  <a:tcPr marL="3645" marR="3645" marT="36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</a:rPr>
                        <a:t>Business Function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</a:rPr>
                        <a:t>Residual Risk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</a:rPr>
                        <a:t>Entity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</a:rPr>
                        <a:t>Last Audit/</a:t>
                      </a:r>
                    </a:p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</a:rPr>
                        <a:t>Coverage Year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2026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</a:rPr>
                        <a:t>Audit Name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2027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2028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Notes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514701"/>
                  </a:ext>
                </a:extLst>
              </a:tr>
              <a:tr h="208198">
                <a:tc rowSpan="13">
                  <a:txBody>
                    <a:bodyPr/>
                    <a:lstStyle/>
                    <a:p>
                      <a:pPr algn="ctr" fontAlgn="ctr"/>
                      <a:r>
                        <a:rPr lang="en-AE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7</a:t>
                      </a:r>
                    </a:p>
                  </a:txBody>
                  <a:tcPr marL="102090" marR="102090" marT="51045" marB="510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13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Chief Operating Office </a:t>
                      </a:r>
                      <a:b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(COO)</a:t>
                      </a:r>
                    </a:p>
                  </a:txBody>
                  <a:tcPr marL="102090" marR="102090" marT="51045" marB="51045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C00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Premises &amp; Administration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2024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700" b="0" i="0" u="none" strike="noStrike" dirty="0">
                        <a:solidFill>
                          <a:srgbClr val="00206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6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1519789"/>
                  </a:ext>
                </a:extLst>
              </a:tr>
              <a:tr h="208198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C00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Business Process Re-engineering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2024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Financial Planning &amp; Budgeting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600" b="0" i="0" u="none" strike="noStrike" dirty="0">
                        <a:solidFill>
                          <a:srgbClr val="00206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600" b="0" i="0" u="none" strike="noStrike" dirty="0">
                        <a:solidFill>
                          <a:srgbClr val="00206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6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957483"/>
                  </a:ext>
                </a:extLst>
              </a:tr>
              <a:tr h="208198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C00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Trade Operations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2024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600" b="0" i="0" u="none" strike="noStrike" dirty="0">
                        <a:solidFill>
                          <a:srgbClr val="00206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6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5437030"/>
                  </a:ext>
                </a:extLst>
              </a:tr>
              <a:tr h="208198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C00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Treasury Operations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2025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600" b="0" i="0" u="none" strike="noStrike" dirty="0">
                        <a:solidFill>
                          <a:srgbClr val="00206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600" b="0" i="0" u="none" strike="noStrike" dirty="0">
                        <a:solidFill>
                          <a:srgbClr val="00206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6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5627640"/>
                  </a:ext>
                </a:extLst>
              </a:tr>
              <a:tr h="208198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C00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Card Operations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2025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Card Operations &amp; Card 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Mgmt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Systems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600" b="0" i="0" u="none" strike="noStrike" dirty="0">
                        <a:solidFill>
                          <a:srgbClr val="00206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600" b="1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3268676"/>
                  </a:ext>
                </a:extLst>
              </a:tr>
              <a:tr h="208198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C00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102090" marR="102090" marT="51045" marB="51045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indent="0" algn="l" fontAlgn="ctr"/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+mn-ea"/>
                          <a:cs typeface="+mn-cs"/>
                        </a:rPr>
                        <a:t>Account Opening </a:t>
                      </a:r>
                    </a:p>
                  </a:txBody>
                  <a:tcPr marL="102090" marR="102090" marT="51045" marB="51045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AE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2025</a:t>
                      </a:r>
                    </a:p>
                  </a:txBody>
                  <a:tcPr marL="102090" marR="102090" marT="51045" marB="51045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102090" marR="102090" marT="51045" marB="51045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Commercial Banking &amp; FIGP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102090" marR="102090" marT="51045" marB="51045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102090" marR="102090" marT="51045" marB="51045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600" b="1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4596265"/>
                  </a:ext>
                </a:extLst>
              </a:tr>
              <a:tr h="208198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Branches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600" b="1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1085447"/>
                  </a:ext>
                </a:extLst>
              </a:tr>
              <a:tr h="208198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Financial Institutions 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6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1844022"/>
                  </a:ext>
                </a:extLst>
              </a:tr>
              <a:tr h="208198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C00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102090" marR="102090" marT="51045" marB="51045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Credit Operations</a:t>
                      </a:r>
                    </a:p>
                  </a:txBody>
                  <a:tcPr marL="102090" marR="102090" marT="51045" marB="51045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AE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2025</a:t>
                      </a:r>
                    </a:p>
                  </a:txBody>
                  <a:tcPr marL="102090" marR="102090" marT="51045" marB="51045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102090" marR="102090" marT="51045" marB="51045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Personal Loans 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102090" marR="102090" marT="51045" marB="51045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102090" marR="102090" marT="51045" marB="51045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600" b="1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6611644"/>
                  </a:ext>
                </a:extLst>
              </a:tr>
              <a:tr h="208198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Commercial Banking &amp; FIGP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AE" sz="6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102090" marR="102090" marT="51045" marB="51045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7735557"/>
                  </a:ext>
                </a:extLst>
              </a:tr>
              <a:tr h="208198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Financial Institutions 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8197099"/>
                  </a:ext>
                </a:extLst>
              </a:tr>
              <a:tr h="411007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C00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Shared Service Operations (Financial/ Non-Financial)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2025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Shared Service Operations 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600" b="0" i="0" u="none" strike="noStrike" dirty="0">
                        <a:solidFill>
                          <a:srgbClr val="00206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6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4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1174561"/>
                  </a:ext>
                </a:extLst>
              </a:tr>
              <a:tr h="411007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C00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Shared Services &amp; Strategic Outsourcing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2025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Shared Services &amp; Strategic Outsourcing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6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1823016"/>
                  </a:ext>
                </a:extLst>
              </a:tr>
              <a:tr h="208198"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en-AE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8</a:t>
                      </a:r>
                    </a:p>
                  </a:txBody>
                  <a:tcPr marL="102090" marR="102090" marT="51045" marB="510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Customer &amp; Strategic Analytics</a:t>
                      </a:r>
                    </a:p>
                  </a:txBody>
                  <a:tcPr marL="102090" marR="102090" marT="51045" marB="51045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C00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Customer Excellence &amp; Protection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2025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Personal Loans 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4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3265324"/>
                  </a:ext>
                </a:extLst>
              </a:tr>
              <a:tr h="208198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C00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Complaints Management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2025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Personal Loans 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4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6110333"/>
                  </a:ext>
                </a:extLst>
              </a:tr>
              <a:tr h="208198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92D05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Marketing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2025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600" b="0" i="0" u="none" strike="noStrike" dirty="0">
                        <a:solidFill>
                          <a:srgbClr val="00206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6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6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1809553"/>
                  </a:ext>
                </a:extLst>
              </a:tr>
              <a:tr h="208198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92D05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Strategic Planning &amp; Initiatives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2025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Personal Loans 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600" b="0" i="0" u="none" strike="noStrike" dirty="0">
                        <a:solidFill>
                          <a:srgbClr val="00206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4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3618354"/>
                  </a:ext>
                </a:extLst>
              </a:tr>
              <a:tr h="613815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C00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br>
                        <a:rPr lang="en-US" sz="900" b="0" i="0" u="none" strike="sng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Business Insights – Distribution Analytics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2025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Personal Loans 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6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1587004"/>
                  </a:ext>
                </a:extLst>
              </a:tr>
              <a:tr h="208198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C00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Digital Squads and EPMO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2024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600" b="0" i="0" u="none" strike="noStrike" dirty="0">
                        <a:solidFill>
                          <a:srgbClr val="00206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600" b="0" i="0" u="none" strike="noStrike" dirty="0">
                        <a:solidFill>
                          <a:srgbClr val="00206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4393813"/>
                  </a:ext>
                </a:extLst>
              </a:tr>
              <a:tr h="208198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C00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3645" marR="3645" marT="3645" marB="0" anchor="ctr"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Advanced Analytics &amp; AI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2025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600" b="0" i="0" u="none" strike="noStrike" dirty="0">
                        <a:solidFill>
                          <a:srgbClr val="00206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1</a:t>
                      </a:r>
                      <a:r>
                        <a:rPr lang="en-AE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1492184"/>
                  </a:ext>
                </a:extLst>
              </a:tr>
            </a:tbl>
          </a:graphicData>
        </a:graphic>
      </p:graphicFrame>
      <p:sp>
        <p:nvSpPr>
          <p:cNvPr id="4" name="GTBClassificationF644721266">
            <a:extLst>
              <a:ext uri="{FF2B5EF4-FFF2-40B4-BE49-F238E27FC236}">
                <a16:creationId xmlns:a16="http://schemas.microsoft.com/office/drawing/2014/main" id="{F2875616-FBA0-EEC3-2C92-7615F96B8F82}"/>
              </a:ext>
            </a:extLst>
          </p:cNvPr>
          <p:cNvSpPr txBox="1"/>
          <p:nvPr/>
        </p:nvSpPr>
        <p:spPr>
          <a:xfrm>
            <a:off x="0" y="6621780"/>
            <a:ext cx="12192000" cy="236220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b">
            <a:noAutofit/>
          </a:bodyPr>
          <a:lstStyle/>
          <a:p>
            <a:r>
              <a:rPr lang="en-US" sz="800" b="1">
                <a:solidFill>
                  <a:srgbClr val="000000">
                    <a:alpha val="70000"/>
                  </a:srgbClr>
                </a:solidFill>
                <a:latin typeface="verdana" panose="020B0604030504040204" pitchFamily="34" charset="0"/>
              </a:rPr>
              <a:t>Classification:</a:t>
            </a:r>
            <a:r>
              <a:rPr lang="en-US" sz="800">
                <a:solidFill>
                  <a:srgbClr val="000000">
                    <a:alpha val="70000"/>
                  </a:srgbClr>
                </a:solidFill>
                <a:latin typeface="verdana" panose="020B0604030504040204" pitchFamily="34" charset="0"/>
              </a:rPr>
              <a:t> </a:t>
            </a:r>
            <a:r>
              <a:rPr lang="en-US" sz="800" b="1">
                <a:solidFill>
                  <a:srgbClr val="FF0000">
                    <a:alpha val="70000"/>
                  </a:srgbClr>
                </a:solidFill>
                <a:latin typeface="verdana" panose="020B0604030504040204" pitchFamily="34" charset="0"/>
              </a:rPr>
              <a:t>RAKBANK-Confidential</a:t>
            </a:r>
            <a:endParaRPr lang="en-US" sz="800" b="1" dirty="0" err="1">
              <a:solidFill>
                <a:srgbClr val="FF0000">
                  <a:alpha val="70000"/>
                </a:srgbClr>
              </a:solidFill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7302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15A07-3AFB-0FF7-9735-E875AC051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A794F-3AA6-450B-0339-ED1370C08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25112"/>
          </a:xfrm>
        </p:spPr>
        <p:txBody>
          <a:bodyPr anchor="ctr"/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Audit Universe – Coverage (FY 2026-2028)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510514-89A2-383C-BE6F-432C65C006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16E9BE-843C-4425-80E4-36155279AD5E}" type="slidenum">
              <a:rPr kumimoji="0" lang="en-GB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A96EED8B-5C3C-D51D-4DAF-0B00C13F99C1}"/>
              </a:ext>
            </a:extLst>
          </p:cNvPr>
          <p:cNvSpPr txBox="1">
            <a:spLocks/>
          </p:cNvSpPr>
          <p:nvPr/>
        </p:nvSpPr>
        <p:spPr>
          <a:xfrm>
            <a:off x="11887200" y="6624251"/>
            <a:ext cx="914400" cy="23374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>
              <a:defRPr/>
            </a:pPr>
            <a:fld id="{6516E9BE-843C-4425-80E4-36155279AD5E}" type="slidenum">
              <a:rPr lang="en-US" sz="900" b="1" smtClean="0">
                <a:latin typeface="Verdana" panose="020B0604030504040204" pitchFamily="34" charset="0"/>
                <a:ea typeface="Verdana" panose="020B0604030504040204" pitchFamily="34" charset="0"/>
              </a:rPr>
              <a:pPr>
                <a:defRPr/>
              </a:pPr>
              <a:t>6</a:t>
            </a:fld>
            <a:endParaRPr lang="en-US" sz="9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09950A6-B545-26AF-4D7D-01E629121CF7}"/>
              </a:ext>
            </a:extLst>
          </p:cNvPr>
          <p:cNvGraphicFramePr>
            <a:graphicFrameLocks noGrp="1"/>
          </p:cNvGraphicFramePr>
          <p:nvPr/>
        </p:nvGraphicFramePr>
        <p:xfrm>
          <a:off x="371093" y="772280"/>
          <a:ext cx="11439907" cy="4947044"/>
        </p:xfrm>
        <a:graphic>
          <a:graphicData uri="http://schemas.openxmlformats.org/drawingml/2006/table">
            <a:tbl>
              <a:tblPr/>
              <a:tblGrid>
                <a:gridCol w="440321">
                  <a:extLst>
                    <a:ext uri="{9D8B030D-6E8A-4147-A177-3AD203B41FA5}">
                      <a16:colId xmlns:a16="http://schemas.microsoft.com/office/drawing/2014/main" val="1838378424"/>
                    </a:ext>
                  </a:extLst>
                </a:gridCol>
                <a:gridCol w="1268638">
                  <a:extLst>
                    <a:ext uri="{9D8B030D-6E8A-4147-A177-3AD203B41FA5}">
                      <a16:colId xmlns:a16="http://schemas.microsoft.com/office/drawing/2014/main" val="3652753895"/>
                    </a:ext>
                  </a:extLst>
                </a:gridCol>
                <a:gridCol w="638817">
                  <a:extLst>
                    <a:ext uri="{9D8B030D-6E8A-4147-A177-3AD203B41FA5}">
                      <a16:colId xmlns:a16="http://schemas.microsoft.com/office/drawing/2014/main" val="4169638193"/>
                    </a:ext>
                  </a:extLst>
                </a:gridCol>
                <a:gridCol w="2475417">
                  <a:extLst>
                    <a:ext uri="{9D8B030D-6E8A-4147-A177-3AD203B41FA5}">
                      <a16:colId xmlns:a16="http://schemas.microsoft.com/office/drawing/2014/main" val="3851288670"/>
                    </a:ext>
                  </a:extLst>
                </a:gridCol>
                <a:gridCol w="1277634">
                  <a:extLst>
                    <a:ext uri="{9D8B030D-6E8A-4147-A177-3AD203B41FA5}">
                      <a16:colId xmlns:a16="http://schemas.microsoft.com/office/drawing/2014/main" val="2970874163"/>
                    </a:ext>
                  </a:extLst>
                </a:gridCol>
                <a:gridCol w="718669">
                  <a:extLst>
                    <a:ext uri="{9D8B030D-6E8A-4147-A177-3AD203B41FA5}">
                      <a16:colId xmlns:a16="http://schemas.microsoft.com/office/drawing/2014/main" val="2580575724"/>
                    </a:ext>
                  </a:extLst>
                </a:gridCol>
                <a:gridCol w="2475417">
                  <a:extLst>
                    <a:ext uri="{9D8B030D-6E8A-4147-A177-3AD203B41FA5}">
                      <a16:colId xmlns:a16="http://schemas.microsoft.com/office/drawing/2014/main" val="24736593"/>
                    </a:ext>
                  </a:extLst>
                </a:gridCol>
                <a:gridCol w="718669">
                  <a:extLst>
                    <a:ext uri="{9D8B030D-6E8A-4147-A177-3AD203B41FA5}">
                      <a16:colId xmlns:a16="http://schemas.microsoft.com/office/drawing/2014/main" val="4000020779"/>
                    </a:ext>
                  </a:extLst>
                </a:gridCol>
                <a:gridCol w="558965">
                  <a:extLst>
                    <a:ext uri="{9D8B030D-6E8A-4147-A177-3AD203B41FA5}">
                      <a16:colId xmlns:a16="http://schemas.microsoft.com/office/drawing/2014/main" val="1341663019"/>
                    </a:ext>
                  </a:extLst>
                </a:gridCol>
                <a:gridCol w="867360">
                  <a:extLst>
                    <a:ext uri="{9D8B030D-6E8A-4147-A177-3AD203B41FA5}">
                      <a16:colId xmlns:a16="http://schemas.microsoft.com/office/drawing/2014/main" val="4193698859"/>
                    </a:ext>
                  </a:extLst>
                </a:gridCol>
              </a:tblGrid>
              <a:tr h="6592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</a:rPr>
                        <a:t>Ref</a:t>
                      </a:r>
                    </a:p>
                  </a:txBody>
                  <a:tcPr marL="3645" marR="3645" marT="36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</a:rPr>
                        <a:t>Business Function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</a:rPr>
                        <a:t>Residual Risk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</a:rPr>
                        <a:t>Entity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</a:rPr>
                        <a:t>Last Audit/</a:t>
                      </a:r>
                    </a:p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</a:rPr>
                        <a:t>Coverage Year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2026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</a:rPr>
                        <a:t>Audit Name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2027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2028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Notes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514701"/>
                  </a:ext>
                </a:extLst>
              </a:tr>
              <a:tr h="234364">
                <a:tc rowSpan="17">
                  <a:txBody>
                    <a:bodyPr/>
                    <a:lstStyle/>
                    <a:p>
                      <a:pPr algn="ctr" fontAlgn="ctr"/>
                      <a:r>
                        <a:rPr lang="en-AE" sz="900" b="1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9</a:t>
                      </a:r>
                    </a:p>
                  </a:txBody>
                  <a:tcPr marL="102090" marR="102090" marT="51045" marB="510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17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Risk</a:t>
                      </a:r>
                    </a:p>
                  </a:txBody>
                  <a:tcPr marL="102090" marR="102090" marT="51045" marB="51045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C00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102090" marR="102090" marT="51045" marB="51045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Enterprise Risk Management </a:t>
                      </a:r>
                    </a:p>
                  </a:txBody>
                  <a:tcPr marL="102090" marR="102090" marT="51045" marB="51045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A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2025</a:t>
                      </a:r>
                    </a:p>
                  </a:txBody>
                  <a:tcPr marL="102090" marR="102090" marT="51045" marB="51045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102090" marR="102090" marT="51045" marB="51045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Recovery Planning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102090" marR="102090" marT="51045" marB="51045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102090" marR="102090" marT="51045" marB="51045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AE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4</a:t>
                      </a:r>
                    </a:p>
                  </a:txBody>
                  <a:tcPr marL="102090" marR="102090" marT="51045" marB="51045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059482"/>
                  </a:ext>
                </a:extLst>
              </a:tr>
              <a:tr h="234364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ICAAP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7519978"/>
                  </a:ext>
                </a:extLst>
              </a:tr>
              <a:tr h="234364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Regulatory Stress Test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2963595"/>
                  </a:ext>
                </a:extLst>
              </a:tr>
              <a:tr h="234364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C00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Liquidity Risk &amp; IRBB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2023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6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4</a:t>
                      </a:r>
                    </a:p>
                  </a:txBody>
                  <a:tcPr marL="3645" marR="3645" marT="364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7093404"/>
                  </a:ext>
                </a:extLst>
              </a:tr>
              <a:tr h="234364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C00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Market Risk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2025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600" b="0" i="0" u="none" strike="noStrike" dirty="0">
                        <a:solidFill>
                          <a:srgbClr val="00206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600" b="0" i="0" u="none" strike="noStrike" dirty="0">
                        <a:solidFill>
                          <a:srgbClr val="00206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45" marR="3645" marT="364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5434755"/>
                  </a:ext>
                </a:extLst>
              </a:tr>
              <a:tr h="234364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92D05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Counterparty Risk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2023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6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6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6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4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9419546"/>
                  </a:ext>
                </a:extLst>
              </a:tr>
              <a:tr h="462661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Information and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Cyber Security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2024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Information &amp; Cyber Security Operations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  <a:endParaRPr lang="en-AE" sz="600" b="0" i="0" u="none" strike="noStrike" dirty="0">
                        <a:solidFill>
                          <a:srgbClr val="00206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3645" marR="3645" marT="364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169256"/>
                  </a:ext>
                </a:extLst>
              </a:tr>
              <a:tr h="234364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C00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102090" marR="102090" marT="51045" marB="51045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Credit Policy</a:t>
                      </a:r>
                    </a:p>
                  </a:txBody>
                  <a:tcPr marL="102090" marR="102090" marT="51045" marB="51045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A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2025</a:t>
                      </a:r>
                    </a:p>
                  </a:txBody>
                  <a:tcPr marL="102090" marR="102090" marT="51045" marB="51045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102090" marR="102090" marT="51045" marB="51045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Annual CRMS Compliance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102090" marR="102090" marT="51045" marB="51045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102090" marR="102090" marT="51045" marB="51045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AE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4</a:t>
                      </a:r>
                    </a:p>
                  </a:txBody>
                  <a:tcPr marL="102090" marR="102090" marT="51045" marB="51045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4254023"/>
                  </a:ext>
                </a:extLst>
              </a:tr>
              <a:tr h="234364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Commercial Banking &amp; FIGP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7026222"/>
                  </a:ext>
                </a:extLst>
              </a:tr>
              <a:tr h="234364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Financial Institutions 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8471416"/>
                  </a:ext>
                </a:extLst>
              </a:tr>
              <a:tr h="234364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C00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Operational Risk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2024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6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4</a:t>
                      </a:r>
                    </a:p>
                  </a:txBody>
                  <a:tcPr marL="3645" marR="3645" marT="364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3781839"/>
                  </a:ext>
                </a:extLst>
              </a:tr>
              <a:tr h="234364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C00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Business Continuity Management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2024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600" b="0" i="0" u="none" strike="noStrike" dirty="0">
                        <a:solidFill>
                          <a:srgbClr val="00206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45" marR="3645" marT="364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6245849"/>
                  </a:ext>
                </a:extLst>
              </a:tr>
              <a:tr h="234364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C00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Model Risk Management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2025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600" b="0" i="0" u="none" strike="noStrike" dirty="0">
                        <a:solidFill>
                          <a:srgbClr val="00206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600" b="0" i="0" u="none" strike="noStrike" dirty="0">
                        <a:solidFill>
                          <a:srgbClr val="00206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45" marR="3645" marT="364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6180670"/>
                  </a:ext>
                </a:extLst>
              </a:tr>
              <a:tr h="234364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C00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Fraud Risk Management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2022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Fraud Risk (I)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600" b="0" i="0" u="none" strike="noStrike" dirty="0">
                        <a:solidFill>
                          <a:srgbClr val="00206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6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275719"/>
                  </a:ext>
                </a:extLst>
              </a:tr>
              <a:tr h="462661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C00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Environment, Social &amp; Governance (ESG)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NEW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1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609299"/>
                  </a:ext>
                </a:extLst>
              </a:tr>
              <a:tr h="462661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Technology and Third Party Risk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2022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Shared Services &amp; Strategic Outsourcing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  <a:r>
                        <a:rPr lang="en-AE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5546504"/>
                  </a:ext>
                </a:extLst>
              </a:tr>
              <a:tr h="234364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C00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Cross Border Risk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2025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600" b="0" i="0" u="none" strike="noStrike" dirty="0">
                        <a:solidFill>
                          <a:srgbClr val="00206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4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6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45" marR="3645" marT="3645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9416642"/>
                  </a:ext>
                </a:extLst>
              </a:tr>
            </a:tbl>
          </a:graphicData>
        </a:graphic>
      </p:graphicFrame>
      <p:sp>
        <p:nvSpPr>
          <p:cNvPr id="4" name="GTBClassificationF1897603356">
            <a:extLst>
              <a:ext uri="{FF2B5EF4-FFF2-40B4-BE49-F238E27FC236}">
                <a16:creationId xmlns:a16="http://schemas.microsoft.com/office/drawing/2014/main" id="{E042407B-456B-F992-BE69-5E958B4C8F6E}"/>
              </a:ext>
            </a:extLst>
          </p:cNvPr>
          <p:cNvSpPr txBox="1"/>
          <p:nvPr/>
        </p:nvSpPr>
        <p:spPr>
          <a:xfrm>
            <a:off x="0" y="6621780"/>
            <a:ext cx="12192000" cy="236220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b">
            <a:noAutofit/>
          </a:bodyPr>
          <a:lstStyle/>
          <a:p>
            <a:r>
              <a:rPr lang="en-US" sz="800" b="1">
                <a:solidFill>
                  <a:srgbClr val="000000">
                    <a:alpha val="70000"/>
                  </a:srgbClr>
                </a:solidFill>
                <a:latin typeface="verdana" panose="020B0604030504040204" pitchFamily="34" charset="0"/>
              </a:rPr>
              <a:t>Classification:</a:t>
            </a:r>
            <a:r>
              <a:rPr lang="en-US" sz="800">
                <a:solidFill>
                  <a:srgbClr val="000000">
                    <a:alpha val="70000"/>
                  </a:srgbClr>
                </a:solidFill>
                <a:latin typeface="verdana" panose="020B0604030504040204" pitchFamily="34" charset="0"/>
              </a:rPr>
              <a:t> </a:t>
            </a:r>
            <a:r>
              <a:rPr lang="en-US" sz="800" b="1">
                <a:solidFill>
                  <a:srgbClr val="FF0000">
                    <a:alpha val="70000"/>
                  </a:srgbClr>
                </a:solidFill>
                <a:latin typeface="verdana" panose="020B0604030504040204" pitchFamily="34" charset="0"/>
              </a:rPr>
              <a:t>RAKBANK-Confidential</a:t>
            </a:r>
            <a:endParaRPr lang="en-US" sz="800" b="1" dirty="0" err="1">
              <a:solidFill>
                <a:srgbClr val="FF0000">
                  <a:alpha val="70000"/>
                </a:srgbClr>
              </a:solidFill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70268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25112"/>
          </a:xfrm>
        </p:spPr>
        <p:txBody>
          <a:bodyPr anchor="ctr"/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Audit Universe – Coverage (FY 2026-2028)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16E9BE-843C-4425-80E4-36155279AD5E}" type="slidenum">
              <a:rPr kumimoji="0" lang="en-GB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3E401402-5C71-2858-7CF1-E879D52EDCA7}"/>
              </a:ext>
            </a:extLst>
          </p:cNvPr>
          <p:cNvSpPr txBox="1">
            <a:spLocks/>
          </p:cNvSpPr>
          <p:nvPr/>
        </p:nvSpPr>
        <p:spPr>
          <a:xfrm>
            <a:off x="11887200" y="6624251"/>
            <a:ext cx="914400" cy="23374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>
              <a:defRPr/>
            </a:pPr>
            <a:fld id="{6516E9BE-843C-4425-80E4-36155279AD5E}" type="slidenum">
              <a:rPr lang="en-US" sz="900" b="1" smtClean="0">
                <a:latin typeface="Verdana" panose="020B0604030504040204" pitchFamily="34" charset="0"/>
                <a:ea typeface="Verdana" panose="020B0604030504040204" pitchFamily="34" charset="0"/>
              </a:rPr>
              <a:pPr>
                <a:defRPr/>
              </a:pPr>
              <a:t>7</a:t>
            </a:fld>
            <a:endParaRPr lang="en-US" sz="9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BFCD1A9-81A4-85C6-CFE5-9B2856AABD7A}"/>
              </a:ext>
            </a:extLst>
          </p:cNvPr>
          <p:cNvGraphicFramePr>
            <a:graphicFrameLocks noGrp="1"/>
          </p:cNvGraphicFramePr>
          <p:nvPr/>
        </p:nvGraphicFramePr>
        <p:xfrm>
          <a:off x="381600" y="806391"/>
          <a:ext cx="11505600" cy="5386073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3164732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69557629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398434512"/>
                    </a:ext>
                  </a:extLst>
                </a:gridCol>
                <a:gridCol w="2285400">
                  <a:extLst>
                    <a:ext uri="{9D8B030D-6E8A-4147-A177-3AD203B41FA5}">
                      <a16:colId xmlns:a16="http://schemas.microsoft.com/office/drawing/2014/main" val="1323004106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1533608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104307933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51260783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36935081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327118184"/>
                    </a:ext>
                  </a:extLst>
                </a:gridCol>
                <a:gridCol w="685200">
                  <a:extLst>
                    <a:ext uri="{9D8B030D-6E8A-4147-A177-3AD203B41FA5}">
                      <a16:colId xmlns:a16="http://schemas.microsoft.com/office/drawing/2014/main" val="3225919826"/>
                    </a:ext>
                  </a:extLst>
                </a:gridCol>
              </a:tblGrid>
              <a:tr h="29000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</a:rPr>
                        <a:t>Ref</a:t>
                      </a:r>
                    </a:p>
                  </a:txBody>
                  <a:tcPr marL="5704" marR="5704" marT="570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</a:rPr>
                        <a:t>Business Function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</a:rPr>
                        <a:t>Residual Risk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</a:rPr>
                        <a:t>Entity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</a:rPr>
                        <a:t>Last Audit/</a:t>
                      </a:r>
                    </a:p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</a:rPr>
                        <a:t>Coverage Year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2026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</a:rPr>
                        <a:t>Audit Name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2027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2028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Notes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5183516"/>
                  </a:ext>
                </a:extLst>
              </a:tr>
              <a:tr h="208336"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en-AE" sz="900" b="1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10</a:t>
                      </a:r>
                    </a:p>
                  </a:txBody>
                  <a:tcPr marL="5704" marR="5704" marT="570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Compliance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C00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Regulatory Compliance &amp; Advisory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2025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500" b="0" i="0" u="none" strike="noStrike" dirty="0">
                        <a:solidFill>
                          <a:srgbClr val="00206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5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4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494445"/>
                  </a:ext>
                </a:extLst>
              </a:tr>
              <a:tr h="208336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Financial Crime Compliance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2025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Financial Crime Compliance </a:t>
                      </a: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(I)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2944595"/>
                  </a:ext>
                </a:extLst>
              </a:tr>
              <a:tr h="208336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C00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Compliance Systems, Projects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2025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500" b="0" i="0" u="none" strike="noStrike" dirty="0">
                        <a:solidFill>
                          <a:srgbClr val="00206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500" b="0" i="0" u="none" strike="noStrike" dirty="0">
                        <a:solidFill>
                          <a:srgbClr val="00206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4899158"/>
                  </a:ext>
                </a:extLst>
              </a:tr>
              <a:tr h="204941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C00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Compliance Assurance &amp; Monitoring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A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2025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Conduct Compliance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6625259"/>
                  </a:ext>
                </a:extLst>
              </a:tr>
              <a:tr h="204941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Financial Crime Compliance (I)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115508"/>
                  </a:ext>
                </a:extLst>
              </a:tr>
              <a:tr h="208336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Conduct Risk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2025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Conduct Compliance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5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5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1210396"/>
                  </a:ext>
                </a:extLst>
              </a:tr>
              <a:tr h="208336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KYC remediation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2025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Financial Crime Compliance </a:t>
                      </a: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(I)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5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E" sz="5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  <a:r>
                        <a:rPr lang="en-US" sz="5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704" marR="5704" marT="5704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8732700"/>
                  </a:ext>
                </a:extLst>
              </a:tr>
              <a:tr h="208336"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1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11</a:t>
                      </a:r>
                    </a:p>
                  </a:txBody>
                  <a:tcPr marL="5704" marR="5704" marT="570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Legal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92D05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Legal - Litigation &amp; Advisory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2021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Legal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500" b="0" i="0" u="none" strike="noStrike" dirty="0">
                        <a:solidFill>
                          <a:srgbClr val="00206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5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</a:t>
                      </a:r>
                    </a:p>
                  </a:txBody>
                  <a:tcPr marL="5704" marR="5704" marT="5704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846074"/>
                  </a:ext>
                </a:extLst>
              </a:tr>
              <a:tr h="489484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AE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12</a:t>
                      </a:r>
                    </a:p>
                  </a:txBody>
                  <a:tcPr marL="5704" marR="5704" marT="570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People Experience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C00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Talent Acquisition &amp; HR Services / Business Partnership / Reward Strategy, Remuneration, Incentives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2025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5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5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5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5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0010111"/>
                  </a:ext>
                </a:extLst>
              </a:tr>
              <a:tr h="208336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C00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Emiratisation &amp; BRF Reporting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2024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500" b="0" i="0" u="none" strike="noStrike" dirty="0">
                        <a:solidFill>
                          <a:srgbClr val="00206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5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5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1527041"/>
                  </a:ext>
                </a:extLst>
              </a:tr>
              <a:tr h="208336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92D05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Learning &amp; Development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2024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500" b="0" i="0" u="none" strike="noStrike" dirty="0">
                        <a:solidFill>
                          <a:srgbClr val="00206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5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</a:t>
                      </a:r>
                    </a:p>
                  </a:txBody>
                  <a:tcPr marL="5704" marR="5704" marT="5704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549756"/>
                  </a:ext>
                </a:extLst>
              </a:tr>
              <a:tr h="208336">
                <a:tc rowSpan="12">
                  <a:txBody>
                    <a:bodyPr/>
                    <a:lstStyle/>
                    <a:p>
                      <a:pPr algn="ctr" fontAlgn="ctr"/>
                      <a:r>
                        <a:rPr lang="en-AE" sz="900" b="1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13</a:t>
                      </a:r>
                    </a:p>
                  </a:txBody>
                  <a:tcPr marL="5704" marR="5704" marT="570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1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Technology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C00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IT Projects Delivery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2024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5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5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5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4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0385484"/>
                  </a:ext>
                </a:extLst>
              </a:tr>
              <a:tr h="208336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C00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Disaster Recovery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2024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5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900" b="0" i="0" u="none" strike="noStrike">
                          <a:solidFill>
                            <a:srgbClr val="FF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500" b="0" i="0" u="none" strike="noStrike" dirty="0">
                        <a:solidFill>
                          <a:srgbClr val="00206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5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6044383"/>
                  </a:ext>
                </a:extLst>
              </a:tr>
              <a:tr h="208336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C00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IT Engineering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2024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5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900" b="0" i="0" u="none" strike="noStrike">
                          <a:solidFill>
                            <a:srgbClr val="FF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500" b="0" i="0" u="none" strike="noStrike" dirty="0">
                        <a:solidFill>
                          <a:srgbClr val="00206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5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3380324"/>
                  </a:ext>
                </a:extLst>
              </a:tr>
              <a:tr h="208336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C00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IT Operations &amp; Support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2025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Network Architecture &amp; Resilience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500" b="0" i="0" u="none" strike="noStrike" dirty="0">
                        <a:solidFill>
                          <a:srgbClr val="00206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5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037351"/>
                  </a:ext>
                </a:extLst>
              </a:tr>
              <a:tr h="248500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C00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Applications Support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A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2025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ATM Infrastructure &amp; Management (I)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AE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4</a:t>
                      </a:r>
                    </a:p>
                  </a:txBody>
                  <a:tcPr marL="5704" marR="5704" marT="5704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2680652"/>
                  </a:ext>
                </a:extLst>
              </a:tr>
              <a:tr h="204941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Fraud Risk (I)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6488388"/>
                  </a:ext>
                </a:extLst>
              </a:tr>
              <a:tr h="204941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Digital Assets (I)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8730944"/>
                  </a:ext>
                </a:extLst>
              </a:tr>
              <a:tr h="204941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Financial Crime Compliance (I)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5853330"/>
                  </a:ext>
                </a:extLst>
              </a:tr>
              <a:tr h="208336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C00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Strategy, Architecture &amp; Design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2025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500" b="0" i="0" u="none" strike="noStrike" dirty="0">
                        <a:solidFill>
                          <a:srgbClr val="00206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500" b="0" i="0" u="none" strike="noStrike" dirty="0">
                        <a:solidFill>
                          <a:srgbClr val="00206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5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2901563"/>
                  </a:ext>
                </a:extLst>
              </a:tr>
              <a:tr h="208336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C00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IT Transformation &amp; Governance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2025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500" b="0" i="0" u="none" strike="noStrike" dirty="0">
                        <a:solidFill>
                          <a:srgbClr val="00206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5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5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9789232"/>
                  </a:ext>
                </a:extLst>
              </a:tr>
              <a:tr h="208336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C00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Data Platforms &amp; Governance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NEW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Data Quality &amp; Governance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1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7196949"/>
                  </a:ext>
                </a:extLst>
              </a:tr>
              <a:tr h="208336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C00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Operational Development 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Centres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2025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500" b="1" i="0" u="none" strike="noStrike" dirty="0">
                        <a:solidFill>
                          <a:srgbClr val="153D64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5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5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1</a:t>
                      </a:r>
                    </a:p>
                  </a:txBody>
                  <a:tcPr marL="5704" marR="5704" marT="570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3960929"/>
                  </a:ext>
                </a:extLst>
              </a:tr>
            </a:tbl>
          </a:graphicData>
        </a:graphic>
      </p:graphicFrame>
      <p:sp>
        <p:nvSpPr>
          <p:cNvPr id="4" name="GTBClassificationF667628285">
            <a:extLst>
              <a:ext uri="{FF2B5EF4-FFF2-40B4-BE49-F238E27FC236}">
                <a16:creationId xmlns:a16="http://schemas.microsoft.com/office/drawing/2014/main" id="{3292F612-567B-9079-0359-612AB2150D00}"/>
              </a:ext>
            </a:extLst>
          </p:cNvPr>
          <p:cNvSpPr txBox="1"/>
          <p:nvPr/>
        </p:nvSpPr>
        <p:spPr>
          <a:xfrm>
            <a:off x="0" y="6621780"/>
            <a:ext cx="12192000" cy="236220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b">
            <a:noAutofit/>
          </a:bodyPr>
          <a:lstStyle/>
          <a:p>
            <a:r>
              <a:rPr lang="en-US" sz="800" b="1">
                <a:solidFill>
                  <a:srgbClr val="000000">
                    <a:alpha val="70000"/>
                  </a:srgbClr>
                </a:solidFill>
                <a:latin typeface="verdana" panose="020B0604030504040204" pitchFamily="34" charset="0"/>
              </a:rPr>
              <a:t>Classification:</a:t>
            </a:r>
            <a:r>
              <a:rPr lang="en-US" sz="800">
                <a:solidFill>
                  <a:srgbClr val="000000">
                    <a:alpha val="70000"/>
                  </a:srgbClr>
                </a:solidFill>
                <a:latin typeface="verdana" panose="020B0604030504040204" pitchFamily="34" charset="0"/>
              </a:rPr>
              <a:t> </a:t>
            </a:r>
            <a:r>
              <a:rPr lang="en-US" sz="800" b="1">
                <a:solidFill>
                  <a:srgbClr val="FF0000">
                    <a:alpha val="70000"/>
                  </a:srgbClr>
                </a:solidFill>
                <a:latin typeface="verdana" panose="020B0604030504040204" pitchFamily="34" charset="0"/>
              </a:rPr>
              <a:t>RAKBANK-Confidential</a:t>
            </a:r>
            <a:endParaRPr lang="en-US" sz="800" b="1" dirty="0" err="1">
              <a:solidFill>
                <a:srgbClr val="FF0000">
                  <a:alpha val="70000"/>
                </a:srgbClr>
              </a:solidFill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84051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25112"/>
          </a:xfrm>
        </p:spPr>
        <p:txBody>
          <a:bodyPr anchor="ctr"/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Audit Universe – Coverage (FY 2026-2028)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16E9BE-843C-4425-80E4-36155279AD5E}" type="slidenum">
              <a:rPr kumimoji="0" lang="en-GB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CE4342D2-038A-8548-AF83-7AE13B175AE2}"/>
              </a:ext>
            </a:extLst>
          </p:cNvPr>
          <p:cNvSpPr txBox="1">
            <a:spLocks/>
          </p:cNvSpPr>
          <p:nvPr/>
        </p:nvSpPr>
        <p:spPr>
          <a:xfrm>
            <a:off x="11887200" y="6624251"/>
            <a:ext cx="914400" cy="23374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>
              <a:defRPr/>
            </a:pPr>
            <a:fld id="{6516E9BE-843C-4425-80E4-36155279AD5E}" type="slidenum">
              <a:rPr lang="en-US" sz="900" b="1" smtClean="0">
                <a:latin typeface="Verdana" panose="020B0604030504040204" pitchFamily="34" charset="0"/>
                <a:ea typeface="Verdana" panose="020B0604030504040204" pitchFamily="34" charset="0"/>
              </a:rPr>
              <a:pPr>
                <a:defRPr/>
              </a:pPr>
              <a:t>8</a:t>
            </a:fld>
            <a:endParaRPr lang="en-US" sz="9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CB0A8B9-2712-FB19-E559-4EE63F776C15}"/>
              </a:ext>
            </a:extLst>
          </p:cNvPr>
          <p:cNvGraphicFramePr>
            <a:graphicFrameLocks noGrp="1"/>
          </p:cNvGraphicFramePr>
          <p:nvPr/>
        </p:nvGraphicFramePr>
        <p:xfrm>
          <a:off x="381000" y="762000"/>
          <a:ext cx="11506201" cy="4668063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580391407"/>
                    </a:ext>
                  </a:extLst>
                </a:gridCol>
                <a:gridCol w="161267">
                  <a:extLst>
                    <a:ext uri="{9D8B030D-6E8A-4147-A177-3AD203B41FA5}">
                      <a16:colId xmlns:a16="http://schemas.microsoft.com/office/drawing/2014/main" val="7514508"/>
                    </a:ext>
                  </a:extLst>
                </a:gridCol>
                <a:gridCol w="1276019">
                  <a:extLst>
                    <a:ext uri="{9D8B030D-6E8A-4147-A177-3AD203B41FA5}">
                      <a16:colId xmlns:a16="http://schemas.microsoft.com/office/drawing/2014/main" val="1465644901"/>
                    </a:ext>
                  </a:extLst>
                </a:gridCol>
                <a:gridCol w="467714">
                  <a:extLst>
                    <a:ext uri="{9D8B030D-6E8A-4147-A177-3AD203B41FA5}">
                      <a16:colId xmlns:a16="http://schemas.microsoft.com/office/drawing/2014/main" val="356191169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509495114"/>
                    </a:ext>
                  </a:extLst>
                </a:gridCol>
                <a:gridCol w="805422">
                  <a:extLst>
                    <a:ext uri="{9D8B030D-6E8A-4147-A177-3AD203B41FA5}">
                      <a16:colId xmlns:a16="http://schemas.microsoft.com/office/drawing/2014/main" val="527543349"/>
                    </a:ext>
                  </a:extLst>
                </a:gridCol>
                <a:gridCol w="1404378">
                  <a:extLst>
                    <a:ext uri="{9D8B030D-6E8A-4147-A177-3AD203B41FA5}">
                      <a16:colId xmlns:a16="http://schemas.microsoft.com/office/drawing/2014/main" val="259659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13369787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790242277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272152118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32747873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67552532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3632843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</a:rPr>
                        <a:t>Ref</a:t>
                      </a:r>
                    </a:p>
                  </a:txBody>
                  <a:tcPr marL="6594" marR="6594" marT="65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</a:rPr>
                        <a:t>Business Function</a:t>
                      </a:r>
                      <a:endParaRPr lang="en-US" sz="900" b="1" i="0" u="none" strike="noStrike" dirty="0">
                        <a:solidFill>
                          <a:srgbClr val="FFFFFF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594" marR="6594" marT="659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</a:rPr>
                        <a:t>Business Function</a:t>
                      </a:r>
                      <a:endParaRPr lang="en-US" sz="900" b="1" i="0" u="none" strike="noStrike" dirty="0">
                        <a:solidFill>
                          <a:srgbClr val="FFFFFF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594" marR="6594" marT="659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</a:rPr>
                        <a:t>Residual Risk</a:t>
                      </a:r>
                    </a:p>
                  </a:txBody>
                  <a:tcPr marL="6594" marR="6594" marT="659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</a:rPr>
                        <a:t>Residual Risk</a:t>
                      </a:r>
                      <a:endParaRPr lang="en-US" sz="900" b="1" i="0" u="none" strike="noStrike" dirty="0">
                        <a:solidFill>
                          <a:srgbClr val="FFFFFF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594" marR="6594" marT="659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</a:rPr>
                        <a:t>Entity</a:t>
                      </a:r>
                      <a:endParaRPr lang="en-US" sz="900" b="1" i="0" u="none" strike="noStrike" dirty="0">
                        <a:solidFill>
                          <a:srgbClr val="FFFFFF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594" marR="6594" marT="659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</a:rPr>
                        <a:t>Entity</a:t>
                      </a:r>
                    </a:p>
                  </a:txBody>
                  <a:tcPr marL="6594" marR="6594" marT="659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</a:rPr>
                        <a:t>Last Audit/</a:t>
                      </a:r>
                    </a:p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</a:rPr>
                        <a:t>Coverage Year</a:t>
                      </a:r>
                    </a:p>
                  </a:txBody>
                  <a:tcPr marL="6594" marR="6594" marT="659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2026</a:t>
                      </a:r>
                    </a:p>
                  </a:txBody>
                  <a:tcPr marL="6594" marR="6594" marT="659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</a:rPr>
                        <a:t>Audit Name</a:t>
                      </a:r>
                    </a:p>
                  </a:txBody>
                  <a:tcPr marL="6594" marR="6594" marT="659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2027</a:t>
                      </a:r>
                    </a:p>
                  </a:txBody>
                  <a:tcPr marL="6594" marR="6594" marT="659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2028</a:t>
                      </a:r>
                    </a:p>
                  </a:txBody>
                  <a:tcPr marL="6594" marR="6594" marT="659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Notes</a:t>
                      </a:r>
                    </a:p>
                  </a:txBody>
                  <a:tcPr marL="6594" marR="6594" marT="659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1985152"/>
                  </a:ext>
                </a:extLst>
              </a:tr>
              <a:tr h="237881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AE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14</a:t>
                      </a:r>
                    </a:p>
                  </a:txBody>
                  <a:tcPr marL="6594" marR="6594" marT="65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 gridSpan="3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Subsidiaries</a:t>
                      </a:r>
                      <a:endParaRPr lang="en-AE" sz="9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594" marR="6594" marT="659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 hMerge="1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Subsidiaries</a:t>
                      </a:r>
                    </a:p>
                  </a:txBody>
                  <a:tcPr marL="6594" marR="6594" marT="659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 hMerge="1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C00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6594" marR="6594" marT="659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C00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  <a:endParaRPr lang="en-US" sz="900" b="1" i="0" u="none" strike="noStrike" dirty="0">
                        <a:solidFill>
                          <a:srgbClr val="FFC00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6594" marR="6594" marT="659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RAKINSURANCE</a:t>
                      </a:r>
                      <a:endParaRPr lang="en-US" sz="900" b="1" i="0" u="none" strike="noStrike" dirty="0">
                        <a:solidFill>
                          <a:srgbClr val="FFC00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6594" marR="6594" marT="659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RAKINSURANCE</a:t>
                      </a:r>
                    </a:p>
                  </a:txBody>
                  <a:tcPr marL="6594" marR="6594" marT="659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2025</a:t>
                      </a:r>
                    </a:p>
                  </a:txBody>
                  <a:tcPr marL="6594" marR="6594" marT="659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6594" marR="6594" marT="659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ADHICS Compliance</a:t>
                      </a:r>
                    </a:p>
                  </a:txBody>
                  <a:tcPr marL="6594" marR="6594" marT="659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6594" marR="6594" marT="659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6594" marR="6594" marT="659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5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94" marR="6594" marT="659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0005811"/>
                  </a:ext>
                </a:extLst>
              </a:tr>
              <a:tr h="237881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C00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6594" marR="6594" marT="659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C00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6594" marR="6594" marT="659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Protego</a:t>
                      </a:r>
                      <a:endParaRPr lang="en-US" sz="900" b="1" i="0" u="none" strike="noStrike" dirty="0">
                        <a:solidFill>
                          <a:srgbClr val="FFC00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6594" marR="6594" marT="659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Protego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594" marR="6594" marT="659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2023</a:t>
                      </a:r>
                    </a:p>
                  </a:txBody>
                  <a:tcPr marL="6594" marR="6594" marT="659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6594" marR="6594" marT="659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Protego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Platform (I)</a:t>
                      </a:r>
                    </a:p>
                  </a:txBody>
                  <a:tcPr marL="6594" marR="6594" marT="659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500" b="0" i="0" u="none" strike="noStrike" dirty="0">
                        <a:solidFill>
                          <a:srgbClr val="00206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6594" marR="6594" marT="659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6594" marR="6594" marT="659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5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94" marR="6594" marT="659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7532929"/>
                  </a:ext>
                </a:extLst>
              </a:tr>
              <a:tr h="237881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92D05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6594" marR="6594" marT="659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92D05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  <a:endParaRPr lang="en-US" sz="900" b="1" i="0" u="none" strike="noStrike" dirty="0">
                        <a:solidFill>
                          <a:srgbClr val="92D05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6594" marR="6594" marT="659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Bangladesh Rep Office</a:t>
                      </a:r>
                      <a:endParaRPr lang="en-US" sz="900" b="1" i="0" u="none" strike="noStrike" dirty="0">
                        <a:solidFill>
                          <a:srgbClr val="92D05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6594" marR="6594" marT="659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Bangladesh Rep Office</a:t>
                      </a:r>
                    </a:p>
                  </a:txBody>
                  <a:tcPr marL="6594" marR="6594" marT="659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-</a:t>
                      </a:r>
                    </a:p>
                  </a:txBody>
                  <a:tcPr marL="6594" marR="6594" marT="659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5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6594" marR="6594" marT="659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94" marR="6594" marT="659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500" b="0" i="0" u="none" strike="noStrike" dirty="0">
                        <a:solidFill>
                          <a:srgbClr val="00206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6594" marR="6594" marT="659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500" b="0" i="0" u="none" strike="noStrike" dirty="0">
                        <a:solidFill>
                          <a:srgbClr val="00206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6594" marR="6594" marT="659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5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3</a:t>
                      </a:r>
                    </a:p>
                  </a:txBody>
                  <a:tcPr marL="6594" marR="6594" marT="659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9160470"/>
                  </a:ext>
                </a:extLst>
              </a:tr>
              <a:tr h="291000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92D05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6594" marR="6594" marT="659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92D05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  <a:endParaRPr lang="en-US" sz="900" b="1" i="0" u="none" strike="noStrike" dirty="0">
                        <a:solidFill>
                          <a:srgbClr val="92D05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6594" marR="6594" marT="659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RAKAZA</a:t>
                      </a:r>
                      <a:endParaRPr lang="en-US" sz="900" b="1" i="0" u="none" strike="noStrike" dirty="0">
                        <a:solidFill>
                          <a:srgbClr val="92D05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6594" marR="6594" marT="659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RAKAZA</a:t>
                      </a:r>
                    </a:p>
                  </a:txBody>
                  <a:tcPr marL="6594" marR="6594" marT="659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NEW</a:t>
                      </a:r>
                    </a:p>
                  </a:txBody>
                  <a:tcPr marL="6594" marR="6594" marT="659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6594" marR="6594" marT="659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Shared Services &amp; Strategic Outsourcing</a:t>
                      </a:r>
                    </a:p>
                  </a:txBody>
                  <a:tcPr marL="6594" marR="6594" marT="659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5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6594" marR="6594" marT="659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5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6594" marR="6594" marT="659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5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1</a:t>
                      </a:r>
                    </a:p>
                  </a:txBody>
                  <a:tcPr marL="6594" marR="6594" marT="6594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0151044"/>
                  </a:ext>
                </a:extLst>
              </a:tr>
              <a:tr h="237881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AE" sz="900" b="1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6594" marR="6594" marT="65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 gridSpan="3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Outsourced Partnerships</a:t>
                      </a:r>
                      <a:endParaRPr lang="en-AE" sz="9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594" marR="6594" marT="659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 hMerge="1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Outsourced Partnerships</a:t>
                      </a:r>
                    </a:p>
                  </a:txBody>
                  <a:tcPr marL="6594" marR="6594" marT="659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 hMerge="1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C00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6594" marR="6594" marT="659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C00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  <a:endParaRPr lang="en-US" sz="900" b="1" i="0" u="none" strike="noStrike" dirty="0">
                        <a:solidFill>
                          <a:srgbClr val="FFC00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6594" marR="6594" marT="659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WIPRO</a:t>
                      </a:r>
                      <a:endParaRPr lang="en-US" sz="900" b="1" i="0" u="none" strike="noStrike" dirty="0">
                        <a:solidFill>
                          <a:srgbClr val="FFC00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6594" marR="6594" marT="659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WIPRO</a:t>
                      </a:r>
                    </a:p>
                  </a:txBody>
                  <a:tcPr marL="6594" marR="6594" marT="659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2024</a:t>
                      </a:r>
                    </a:p>
                  </a:txBody>
                  <a:tcPr marL="6594" marR="6594" marT="659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6594" marR="6594" marT="659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Wipro Outsourced Activities (I)</a:t>
                      </a:r>
                    </a:p>
                  </a:txBody>
                  <a:tcPr marL="6594" marR="6594" marT="659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500" b="0" i="0" u="none" strike="noStrike" dirty="0">
                        <a:solidFill>
                          <a:srgbClr val="00206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6594" marR="6594" marT="659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6594" marR="6594" marT="659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5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94" marR="6594" marT="659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6815391"/>
                  </a:ext>
                </a:extLst>
              </a:tr>
              <a:tr h="237881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C00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6594" marR="6594" marT="659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C00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  <a:endParaRPr lang="en-US" sz="900" b="1" i="0" u="none" strike="noStrike" dirty="0">
                        <a:solidFill>
                          <a:srgbClr val="FFC00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6594" marR="6594" marT="659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C3</a:t>
                      </a:r>
                      <a:endParaRPr lang="en-US" sz="900" b="1" i="0" u="none" strike="noStrike" dirty="0">
                        <a:solidFill>
                          <a:srgbClr val="FFC00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6594" marR="6594" marT="659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C3</a:t>
                      </a:r>
                    </a:p>
                  </a:txBody>
                  <a:tcPr marL="6594" marR="6594" marT="659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2024</a:t>
                      </a:r>
                    </a:p>
                  </a:txBody>
                  <a:tcPr marL="6594" marR="6594" marT="659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500" b="0" i="0" u="none" strike="noStrike" dirty="0">
                        <a:solidFill>
                          <a:srgbClr val="00206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6594" marR="6594" marT="659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94" marR="6594" marT="659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6594" marR="6594" marT="659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500" b="0" i="0" u="none" strike="noStrike" dirty="0">
                        <a:solidFill>
                          <a:srgbClr val="00206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6594" marR="6594" marT="659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94" marR="6594" marT="659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2891922"/>
                  </a:ext>
                </a:extLst>
              </a:tr>
              <a:tr h="237881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92D05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6594" marR="6594" marT="659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92D05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  <a:endParaRPr lang="en-US" sz="900" b="1" i="0" u="none" strike="noStrike" dirty="0">
                        <a:solidFill>
                          <a:srgbClr val="92D05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6594" marR="6594" marT="659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BOSS</a:t>
                      </a:r>
                      <a:endParaRPr lang="en-US" sz="900" b="1" i="0" u="none" strike="noStrike" dirty="0">
                        <a:solidFill>
                          <a:srgbClr val="92D05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6594" marR="6594" marT="659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BOSS</a:t>
                      </a:r>
                    </a:p>
                  </a:txBody>
                  <a:tcPr marL="6594" marR="6594" marT="659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2021</a:t>
                      </a:r>
                    </a:p>
                  </a:txBody>
                  <a:tcPr marL="6594" marR="6594" marT="659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5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6594" marR="6594" marT="659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94" marR="6594" marT="659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5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6594" marR="6594" marT="659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5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6594" marR="6594" marT="659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3</a:t>
                      </a:r>
                    </a:p>
                  </a:txBody>
                  <a:tcPr marL="6594" marR="6594" marT="659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7610202"/>
                  </a:ext>
                </a:extLst>
              </a:tr>
              <a:tr h="278818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6594" marR="6594" marT="659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6594" marR="6594" marT="659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Cloud Platform (AWS &amp; Azure)</a:t>
                      </a:r>
                      <a:endParaRPr lang="en-US" sz="900" b="1" i="0" u="none" strike="noStrike" dirty="0">
                        <a:solidFill>
                          <a:srgbClr val="FF000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6594" marR="6594" marT="659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Cloud Platform (AWS &amp; Azure)</a:t>
                      </a:r>
                    </a:p>
                  </a:txBody>
                  <a:tcPr marL="6594" marR="6594" marT="659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2025</a:t>
                      </a:r>
                    </a:p>
                  </a:txBody>
                  <a:tcPr marL="6594" marR="6594" marT="659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 dirty="0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6594" marR="6594" marT="659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Network Architecture &amp; Resilience</a:t>
                      </a:r>
                    </a:p>
                  </a:txBody>
                  <a:tcPr marL="6594" marR="6594" marT="659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>
                          <a:solidFill>
                            <a:srgbClr val="002060"/>
                          </a:solidFill>
                          <a:effectLst/>
                          <a:latin typeface="Wingdings 2" panose="05020102010507070707" pitchFamily="18" charset="2"/>
                        </a:rPr>
                        <a:t>Å</a:t>
                      </a:r>
                    </a:p>
                  </a:txBody>
                  <a:tcPr marL="6594" marR="6594" marT="659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500" b="0" i="0" u="none" strike="noStrike" dirty="0">
                        <a:solidFill>
                          <a:srgbClr val="00206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6594" marR="6594" marT="659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94" marR="6594" marT="6594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1947398"/>
                  </a:ext>
                </a:extLst>
              </a:tr>
              <a:tr h="757261">
                <a:tc gridSpan="7">
                  <a:txBody>
                    <a:bodyPr/>
                    <a:lstStyle/>
                    <a:p>
                      <a:pPr algn="l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(I) - Integrated Audits</a:t>
                      </a:r>
                      <a:b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**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Continuous Auditing/Monitoring will cover multiple Auditable Entities with the streamlining of Data Analytics Unit. In the current FY 2026, GIA will conduct ~7 Integrated Audits.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594" marR="6594" marT="65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>
                    <a:lnL w="12700" cmpd="sng">
                      <a:noFill/>
                      <a:prstDash val="solid"/>
                    </a:lnL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>
                    <a:lnL w="12700" cmpd="sng">
                      <a:noFill/>
                      <a:prstDash val="solid"/>
                    </a:lnL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94" marR="6594" marT="659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8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6594" marR="6594" marT="659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94" marR="6594" marT="659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8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6594" marR="6594" marT="659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600" b="0" i="0" u="none" strike="noStrike" dirty="0">
                        <a:solidFill>
                          <a:srgbClr val="00206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6594" marR="6594" marT="659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600" b="0" i="0" u="none" strike="noStrike" dirty="0">
                        <a:solidFill>
                          <a:srgbClr val="002060"/>
                        </a:solidFill>
                        <a:effectLst/>
                        <a:latin typeface="Wingdings 2" panose="05020102010507070707" pitchFamily="18" charset="2"/>
                      </a:endParaRPr>
                    </a:p>
                  </a:txBody>
                  <a:tcPr marL="6594" marR="6594" marT="6594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2579495"/>
                  </a:ext>
                </a:extLst>
              </a:tr>
              <a:tr h="170025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AE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94" marR="6594" marT="65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AE" sz="7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594" marR="6594" marT="659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94" marR="6594" marT="6594" marB="0" anchor="ctr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AE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94" marR="6594" marT="6594" marB="0" anchor="ctr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594" marR="6594" marT="6594" marB="0" anchor="ctr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594" marR="6594" marT="6594" marB="0" anchor="ctr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94" marR="6594" marT="659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94" marR="6594" marT="659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8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6594" marR="6594" marT="659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594" marR="6594" marT="659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8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6594" marR="6594" marT="659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8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6594" marR="6594" marT="659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8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6594" marR="6594" marT="6594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9388591"/>
                  </a:ext>
                </a:extLst>
              </a:tr>
              <a:tr h="174484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AE" sz="700" b="1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94" marR="6594" marT="65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AE" sz="700" b="1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594" marR="6594" marT="659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Notes</a:t>
                      </a:r>
                    </a:p>
                  </a:txBody>
                  <a:tcPr marL="6594" marR="6594" marT="659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AE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94" marR="6594" marT="6594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594" marR="6594" marT="65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594" marR="6594" marT="65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94" marR="6594" marT="65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94" marR="6594" marT="659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8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6594" marR="6594" marT="659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594" marR="6594" marT="659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8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6594" marR="6594" marT="659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8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6594" marR="6594" marT="659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8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6594" marR="6594" marT="6594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7344199"/>
                  </a:ext>
                </a:extLst>
              </a:tr>
              <a:tr h="233809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AE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1</a:t>
                      </a:r>
                    </a:p>
                  </a:txBody>
                  <a:tcPr marL="6594" marR="6594" marT="65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AE" sz="9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594" marR="6594" marT="659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New addition to the Audit Universe</a:t>
                      </a:r>
                    </a:p>
                  </a:txBody>
                  <a:tcPr marL="6594" marR="6594" marT="6594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594" marR="6594" marT="65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594" marR="6594" marT="65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94" marR="6594" marT="65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94" marR="6594" marT="659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8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6594" marR="6594" marT="659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594" marR="6594" marT="659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8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6594" marR="6594" marT="659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8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6594" marR="6594" marT="659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8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6594" marR="6594" marT="6594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6246570"/>
                  </a:ext>
                </a:extLst>
              </a:tr>
              <a:tr h="233809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AE" sz="900" b="1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</a:t>
                      </a:r>
                    </a:p>
                  </a:txBody>
                  <a:tcPr marL="6594" marR="6594" marT="65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AE" sz="900" b="1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594" marR="6594" marT="659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Justifiable audit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lifecycle deviation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594" marR="6594" marT="6594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594" marR="6594" marT="65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594" marR="6594" marT="65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94" marR="6594" marT="65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94" marR="6594" marT="659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8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6594" marR="6594" marT="659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594" marR="6594" marT="659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8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6594" marR="6594" marT="659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8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6594" marR="6594" marT="659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8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6594" marR="6594" marT="6594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8616922"/>
                  </a:ext>
                </a:extLst>
              </a:tr>
              <a:tr h="233809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AE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3</a:t>
                      </a:r>
                    </a:p>
                  </a:txBody>
                  <a:tcPr marL="6594" marR="6594" marT="65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AE" sz="900" b="1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594" marR="6594" marT="659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Ongoing monitoring as per GIA Manual</a:t>
                      </a:r>
                    </a:p>
                  </a:txBody>
                  <a:tcPr marL="6594" marR="6594" marT="6594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594" marR="6594" marT="65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594" marR="6594" marT="65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94" marR="6594" marT="65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94" marR="6594" marT="659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8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6594" marR="6594" marT="659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594" marR="6594" marT="659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8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6594" marR="6594" marT="659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8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6594" marR="6594" marT="659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8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6594" marR="6594" marT="6594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5016905"/>
                  </a:ext>
                </a:extLst>
              </a:tr>
              <a:tr h="296623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AE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4</a:t>
                      </a:r>
                    </a:p>
                  </a:txBody>
                  <a:tcPr marL="6594" marR="6594" marT="65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AE" sz="900" b="1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594" marR="6594" marT="659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Multiple audits covering different aspects of an entity</a:t>
                      </a:r>
                    </a:p>
                  </a:txBody>
                  <a:tcPr marL="6594" marR="6594" marT="6594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594" marR="6594" marT="65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594" marR="6594" marT="65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94" marR="6594" marT="65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94" marR="6594" marT="659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8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6594" marR="6594" marT="659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594" marR="6594" marT="659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8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6594" marR="6594" marT="659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8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6594" marR="6594" marT="659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6594" marR="6594" marT="6594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7253001"/>
                  </a:ext>
                </a:extLst>
              </a:tr>
              <a:tr h="290225">
                <a:tc gridSpan="2">
                  <a:txBody>
                    <a:bodyPr/>
                    <a:lstStyle/>
                    <a:p>
                      <a:pPr algn="ctr" fontAlgn="ctr"/>
                      <a:endParaRPr lang="en-AE" sz="700" b="1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594" marR="6594" marT="65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AE" sz="700" b="1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594" marR="6594" marT="659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594" marR="6594" marT="659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594" marR="6594" marT="6594" marB="0" anchor="ctr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594" marR="6594" marT="659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594" marR="6594" marT="659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594" marR="6594" marT="659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594" marR="6594" marT="659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800" b="1" i="0" u="none" strike="noStrike">
                        <a:solidFill>
                          <a:srgbClr val="FFFF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6594" marR="6594" marT="659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594" marR="6594" marT="659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800" b="1" i="0" u="none" strike="noStrike">
                        <a:solidFill>
                          <a:srgbClr val="FFFF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6594" marR="6594" marT="659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800" b="1" i="0" u="none" strike="noStrike">
                        <a:solidFill>
                          <a:srgbClr val="FFFF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6594" marR="6594" marT="659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800" b="1" i="0" u="none" strike="noStrike" dirty="0">
                        <a:solidFill>
                          <a:srgbClr val="FFFF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6594" marR="6594" marT="6594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2442500"/>
                  </a:ext>
                </a:extLst>
              </a:tr>
            </a:tbl>
          </a:graphicData>
        </a:graphic>
      </p:graphicFrame>
      <p:sp>
        <p:nvSpPr>
          <p:cNvPr id="4" name="GTBClassificationF1600194173">
            <a:extLst>
              <a:ext uri="{FF2B5EF4-FFF2-40B4-BE49-F238E27FC236}">
                <a16:creationId xmlns:a16="http://schemas.microsoft.com/office/drawing/2014/main" id="{D92F36C1-C294-5C25-430F-2EDDC051708A}"/>
              </a:ext>
            </a:extLst>
          </p:cNvPr>
          <p:cNvSpPr txBox="1"/>
          <p:nvPr/>
        </p:nvSpPr>
        <p:spPr>
          <a:xfrm>
            <a:off x="0" y="6621780"/>
            <a:ext cx="12192000" cy="236220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b">
            <a:noAutofit/>
          </a:bodyPr>
          <a:lstStyle/>
          <a:p>
            <a:r>
              <a:rPr lang="en-US" sz="800" b="1">
                <a:solidFill>
                  <a:srgbClr val="000000">
                    <a:alpha val="70000"/>
                  </a:srgbClr>
                </a:solidFill>
                <a:latin typeface="verdana" panose="020B0604030504040204" pitchFamily="34" charset="0"/>
              </a:rPr>
              <a:t>Classification:</a:t>
            </a:r>
            <a:r>
              <a:rPr lang="en-US" sz="800">
                <a:solidFill>
                  <a:srgbClr val="000000">
                    <a:alpha val="70000"/>
                  </a:srgbClr>
                </a:solidFill>
                <a:latin typeface="verdana" panose="020B0604030504040204" pitchFamily="34" charset="0"/>
              </a:rPr>
              <a:t> </a:t>
            </a:r>
            <a:r>
              <a:rPr lang="en-US" sz="800" b="1">
                <a:solidFill>
                  <a:srgbClr val="FF0000">
                    <a:alpha val="70000"/>
                  </a:srgbClr>
                </a:solidFill>
                <a:latin typeface="verdana" panose="020B0604030504040204" pitchFamily="34" charset="0"/>
              </a:rPr>
              <a:t>RAKBANK-Confidential</a:t>
            </a:r>
            <a:endParaRPr lang="en-US" sz="800" b="1" dirty="0" err="1">
              <a:solidFill>
                <a:srgbClr val="FF0000">
                  <a:alpha val="70000"/>
                </a:srgbClr>
              </a:solidFill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624876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ZM2bqDxQIOBWziIghVoeQ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Theme1">
  <a:themeElements>
    <a:clrScheme name="Group Strategy Color Scheme">
      <a:dk1>
        <a:srgbClr val="2D2926"/>
      </a:dk1>
      <a:lt1>
        <a:srgbClr val="FFFFFF"/>
      </a:lt1>
      <a:dk2>
        <a:srgbClr val="C00000"/>
      </a:dk2>
      <a:lt2>
        <a:srgbClr val="000000"/>
      </a:lt2>
      <a:accent1>
        <a:srgbClr val="FFFFFF"/>
      </a:accent1>
      <a:accent2>
        <a:srgbClr val="9D928B"/>
      </a:accent2>
      <a:accent3>
        <a:srgbClr val="AB8A54"/>
      </a:accent3>
      <a:accent4>
        <a:srgbClr val="3F3F3F"/>
      </a:accent4>
      <a:accent5>
        <a:srgbClr val="003860"/>
      </a:accent5>
      <a:accent6>
        <a:srgbClr val="FFD430"/>
      </a:accent6>
      <a:hlink>
        <a:srgbClr val="0000FF"/>
      </a:hlink>
      <a:folHlink>
        <a:srgbClr val="7F7F7F"/>
      </a:folHlink>
    </a:clrScheme>
    <a:fontScheme name="Group Strategy Font Setting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Angle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20400000"/>
            </a:lightRig>
          </a:scene3d>
          <a:sp3d contourW="6350">
            <a:bevelT w="41275" h="19050" prst="angle"/>
            <a:contourClr>
              <a:schemeClr val="phClr">
                <a:shade val="25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  <a:txDef>
      <a:spPr>
        <a:noFill/>
      </a:spPr>
      <a:bodyPr wrap="square" rtlCol="0" anchor="t">
        <a:spAutoFit/>
      </a:bodyPr>
      <a:lstStyle>
        <a:defPPr>
          <a:defRPr dirty="0" err="1" smtClean="0">
            <a:latin typeface="Calibri" panose="020F0502020204030204" pitchFamily="34" charset="0"/>
          </a:defRPr>
        </a:defPPr>
      </a:lstStyle>
    </a:txDef>
  </a:objectDefaults>
  <a:extraClrSchemeLst>
    <a:extraClrScheme>
      <a:clrScheme name="1_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1" id="{75DC6AC7-544E-4B09-AAC8-02F09D48B55E}" vid="{62EEB129-718C-45FB-9AD5-D257F928597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GTBClassification>
  <attrValue xml:space="preserve">RAKBANK-Confidential</attrValue>
  <customPropName>RAKBANK Classification</customPropName>
  <timestamp>12/17/2025 11:18:46 AM</timestamp>
  <userName>WATANI_RAK\ysameer</userName>
  <computerName>AZ-P-W-ODWN-065.RAKBANK.CO.AE</computerName>
  <guid>{1ed20a86-cda9-4f66-82a8-81ccbd3b2438}</guid>
  <ftr>
    <r>
      <fontName>verdana</fontName>
      <fontColor>000000</fontColor>
      <fontSize>8</fontSize>
      <b/>
      <text xml:space="preserve">Classification:</text>
    </r>
    <r>
      <fontName>verdana</fontName>
      <fontColor>000000</fontColor>
      <fontSize>8</fontSize>
      <text xml:space="preserve"> </text>
    </r>
    <r>
      <fontName>verdana</fontName>
      <fontColor>FF0000</fontColor>
      <fontSize>8</fontSize>
      <b/>
      <text xml:space="preserve">RAKBANK-Confidential</text>
    </r>
  </ftr>
</GTBClassification>
</file>

<file path=customXml/itemProps1.xml><?xml version="1.0" encoding="utf-8"?>
<ds:datastoreItem xmlns:ds="http://schemas.openxmlformats.org/officeDocument/2006/customXml" ds:itemID="{5D38E4CD-EF94-44EF-8C5B-36CE0A755C16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1805</Words>
  <Application>Microsoft Office PowerPoint</Application>
  <PresentationFormat>Widescreen</PresentationFormat>
  <Paragraphs>1045</Paragraphs>
  <Slides>8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9" baseType="lpstr">
      <vt:lpstr>Aptos</vt:lpstr>
      <vt:lpstr>Aptos Display</vt:lpstr>
      <vt:lpstr>Aptos Narrow</vt:lpstr>
      <vt:lpstr>Arial</vt:lpstr>
      <vt:lpstr>Calibri</vt:lpstr>
      <vt:lpstr>Times New Roman</vt:lpstr>
      <vt:lpstr>Verdana</vt:lpstr>
      <vt:lpstr>Verdana</vt:lpstr>
      <vt:lpstr>Wingdings 2</vt:lpstr>
      <vt:lpstr>1_Theme1</vt:lpstr>
      <vt:lpstr>think-cell Slide</vt:lpstr>
      <vt:lpstr>BAC Approval GIA Audit Plan – FY 2026</vt:lpstr>
      <vt:lpstr>Approved Audit Plan - 2026</vt:lpstr>
      <vt:lpstr>   Audit Universe – Coverage (FY 2026-2028)</vt:lpstr>
      <vt:lpstr>   Audit Universe – Coverage (FY 2026-2028)</vt:lpstr>
      <vt:lpstr>  Audit Universe – Coverage (FY 2026-2028)</vt:lpstr>
      <vt:lpstr>  Audit Universe – Coverage (FY 2026-2028)</vt:lpstr>
      <vt:lpstr>  Audit Universe – Coverage (FY 2026-2028)</vt:lpstr>
      <vt:lpstr>   Audit Universe – Coverage (FY 2026-2028)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Sameer Yusuf Tayeb Chandiwala</dc:creator>
  <cp:keywords>ClassificationData:&lt;RAKBANK Classification:RAKBANK-Confidential&gt;</cp:keywords>
  <cp:lastModifiedBy>Sameer Yusuf Tayeb Chandiwala</cp:lastModifiedBy>
  <cp:revision>1</cp:revision>
  <dcterms:created xsi:type="dcterms:W3CDTF">2025-12-17T06:20:17Z</dcterms:created>
  <dcterms:modified xsi:type="dcterms:W3CDTF">2025-12-17T07:19:33Z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RAKBANK Classification">
    <vt:lpwstr>RAKBANK-Confidential</vt:lpwstr>
  </property>
  <property fmtid="{D5CDD505-2E9C-101B-9397-08002B2CF9AE}" pid="3" name="ClassifiedBy">
    <vt:lpwstr>WATANI_RAK\ysameer</vt:lpwstr>
  </property>
  <property fmtid="{D5CDD505-2E9C-101B-9397-08002B2CF9AE}" pid="4" name="ClassificationHost">
    <vt:lpwstr>AZ-P-W-ODWN-065.RAKBANK.CO.AE</vt:lpwstr>
  </property>
  <property fmtid="{D5CDD505-2E9C-101B-9397-08002B2CF9AE}" pid="5" name="ClassificationDate">
    <vt:lpwstr>12/17/2025 11:18:46 AM</vt:lpwstr>
  </property>
  <property fmtid="{D5CDD505-2E9C-101B-9397-08002B2CF9AE}" pid="6" name="ClassificationGUID">
    <vt:lpwstr>{1ed20a86-cda9-4f66-82a8-81ccbd3b2438}</vt:lpwstr>
  </property>
  <property fmtid="{D5CDD505-2E9C-101B-9397-08002B2CF9AE}" pid="7" name="MSIP_Label_caa88fe9-e822-4727-abde-1b56444e8f2b_Enabled">
    <vt:lpwstr>true</vt:lpwstr>
  </property>
  <property fmtid="{D5CDD505-2E9C-101B-9397-08002B2CF9AE}" pid="8" name="MSIP_Label_caa88fe9-e822-4727-abde-1b56444e8f2b_SetDate">
    <vt:lpwstr>2025-12-17T07:18:47Z</vt:lpwstr>
  </property>
  <property fmtid="{D5CDD505-2E9C-101B-9397-08002B2CF9AE}" pid="9" name="MSIP_Label_caa88fe9-e822-4727-abde-1b56444e8f2b_Method">
    <vt:lpwstr>Standard</vt:lpwstr>
  </property>
  <property fmtid="{D5CDD505-2E9C-101B-9397-08002B2CF9AE}" pid="10" name="MSIP_Label_caa88fe9-e822-4727-abde-1b56444e8f2b_Name">
    <vt:lpwstr>RAKBANK-Internal for files</vt:lpwstr>
  </property>
  <property fmtid="{D5CDD505-2E9C-101B-9397-08002B2CF9AE}" pid="11" name="MSIP_Label_caa88fe9-e822-4727-abde-1b56444e8f2b_SiteId">
    <vt:lpwstr>fbb70b95-2828-4ce3-90d5-c6e1ff243618</vt:lpwstr>
  </property>
  <property fmtid="{D5CDD505-2E9C-101B-9397-08002B2CF9AE}" pid="12" name="MSIP_Label_caa88fe9-e822-4727-abde-1b56444e8f2b_ActionId">
    <vt:lpwstr>397b9c12-bce2-4edf-83aa-d45611841e58</vt:lpwstr>
  </property>
  <property fmtid="{D5CDD505-2E9C-101B-9397-08002B2CF9AE}" pid="13" name="MSIP_Label_caa88fe9-e822-4727-abde-1b56444e8f2b_ContentBits">
    <vt:lpwstr>2</vt:lpwstr>
  </property>
  <property fmtid="{D5CDD505-2E9C-101B-9397-08002B2CF9AE}" pid="14" name="MSIP_Label_caa88fe9-e822-4727-abde-1b56444e8f2b_Tag">
    <vt:lpwstr>10, 3, 0, 1</vt:lpwstr>
  </property>
  <property fmtid="{D5CDD505-2E9C-101B-9397-08002B2CF9AE}" pid="15" name="ClassificationContentMarkingFooterLocations">
    <vt:lpwstr>1_Theme1:5</vt:lpwstr>
  </property>
  <property fmtid="{D5CDD505-2E9C-101B-9397-08002B2CF9AE}" pid="16" name="ClassificationContentMarkingFooterText">
    <vt:lpwstr>Classification: RAKBANK-Internal</vt:lpwstr>
  </property>
</Properties>
</file>
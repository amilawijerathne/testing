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47"/>
  </p:notesMasterIdLst>
  <p:handoutMasterIdLst>
    <p:handoutMasterId r:id="rId48"/>
  </p:handoutMasterIdLst>
  <p:sldIdLst>
    <p:sldId id="256" r:id="rId6"/>
    <p:sldId id="271" r:id="rId7"/>
    <p:sldId id="257" r:id="rId8"/>
    <p:sldId id="267" r:id="rId9"/>
    <p:sldId id="268" r:id="rId10"/>
    <p:sldId id="258" r:id="rId11"/>
    <p:sldId id="269" r:id="rId12"/>
    <p:sldId id="272" r:id="rId13"/>
    <p:sldId id="259" r:id="rId14"/>
    <p:sldId id="260" r:id="rId15"/>
    <p:sldId id="261" r:id="rId16"/>
    <p:sldId id="262" r:id="rId17"/>
    <p:sldId id="263" r:id="rId18"/>
    <p:sldId id="264" r:id="rId19"/>
    <p:sldId id="265" r:id="rId20"/>
    <p:sldId id="266" r:id="rId21"/>
    <p:sldId id="277" r:id="rId22"/>
    <p:sldId id="276" r:id="rId23"/>
    <p:sldId id="274" r:id="rId24"/>
    <p:sldId id="275" r:id="rId25"/>
    <p:sldId id="278" r:id="rId26"/>
    <p:sldId id="279" r:id="rId27"/>
    <p:sldId id="280" r:id="rId28"/>
    <p:sldId id="282" r:id="rId29"/>
    <p:sldId id="283" r:id="rId30"/>
    <p:sldId id="281" r:id="rId31"/>
    <p:sldId id="284" r:id="rId32"/>
    <p:sldId id="285" r:id="rId33"/>
    <p:sldId id="286" r:id="rId34"/>
    <p:sldId id="287" r:id="rId35"/>
    <p:sldId id="288" r:id="rId36"/>
    <p:sldId id="289" r:id="rId37"/>
    <p:sldId id="292" r:id="rId38"/>
    <p:sldId id="291" r:id="rId39"/>
    <p:sldId id="290" r:id="rId40"/>
    <p:sldId id="293" r:id="rId41"/>
    <p:sldId id="294" r:id="rId42"/>
    <p:sldId id="295" r:id="rId43"/>
    <p:sldId id="296" r:id="rId44"/>
    <p:sldId id="297" r:id="rId45"/>
    <p:sldId id="298" r:id="rId4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70" d="100"/>
          <a:sy n="70" d="100"/>
        </p:scale>
        <p:origin x="512"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204A8CA8-575D-4487-B69E-E4AECA8C5D64}" type="datetimeFigureOut">
              <a:rPr lang="en-US" smtClean="0"/>
              <a:t>1/24/2023</a:t>
            </a:fld>
            <a:endParaRPr lang="en-US"/>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68C55C7D-26BE-4728-BE38-EA6406B43695}" type="slidenum">
              <a:rPr lang="en-US" smtClean="0"/>
              <a:t>‹#›</a:t>
            </a:fld>
            <a:endParaRPr lang="en-US"/>
          </a:p>
        </p:txBody>
      </p:sp>
    </p:spTree>
    <p:extLst>
      <p:ext uri="{BB962C8B-B14F-4D97-AF65-F5344CB8AC3E}">
        <p14:creationId xmlns:p14="http://schemas.microsoft.com/office/powerpoint/2010/main" val="30222505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9717C5A-0270-46C5-9C2A-50C31E9BEC03}" type="datetimeFigureOut">
              <a:rPr lang="en-US" smtClean="0"/>
              <a:t>1/24/2023</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89C17005-F97B-4D29-8CD8-FE5E4C623207}" type="slidenum">
              <a:rPr lang="en-US" smtClean="0"/>
              <a:t>‹#›</a:t>
            </a:fld>
            <a:endParaRPr lang="en-US"/>
          </a:p>
        </p:txBody>
      </p:sp>
    </p:spTree>
    <p:extLst>
      <p:ext uri="{BB962C8B-B14F-4D97-AF65-F5344CB8AC3E}">
        <p14:creationId xmlns:p14="http://schemas.microsoft.com/office/powerpoint/2010/main" val="4035906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C17005-F97B-4D29-8CD8-FE5E4C623207}" type="slidenum">
              <a:rPr lang="en-US" smtClean="0"/>
              <a:t>1</a:t>
            </a:fld>
            <a:endParaRPr lang="en-US"/>
          </a:p>
        </p:txBody>
      </p:sp>
    </p:spTree>
    <p:extLst>
      <p:ext uri="{BB962C8B-B14F-4D97-AF65-F5344CB8AC3E}">
        <p14:creationId xmlns:p14="http://schemas.microsoft.com/office/powerpoint/2010/main" val="3850655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3838" y="806450"/>
            <a:ext cx="7185026" cy="4041775"/>
          </a:xfrm>
        </p:spPr>
      </p:sp>
      <p:sp>
        <p:nvSpPr>
          <p:cNvPr id="3" name="Notes Placeholder 2"/>
          <p:cNvSpPr>
            <a:spLocks noGrp="1"/>
          </p:cNvSpPr>
          <p:nvPr>
            <p:ph type="body" idx="1"/>
          </p:nvPr>
        </p:nvSpPr>
        <p:spPr/>
        <p:txBody>
          <a:bodyPr>
            <a:normAutofit/>
          </a:bodyPr>
          <a:lstStyle/>
          <a:p>
            <a:r>
              <a:rPr lang="en-US" dirty="0" smtClean="0"/>
              <a:t>Communicate the Agenda</a:t>
            </a:r>
            <a:endParaRPr lang="en-US" dirty="0"/>
          </a:p>
        </p:txBody>
      </p:sp>
    </p:spTree>
    <p:extLst>
      <p:ext uri="{BB962C8B-B14F-4D97-AF65-F5344CB8AC3E}">
        <p14:creationId xmlns:p14="http://schemas.microsoft.com/office/powerpoint/2010/main" val="33873265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p:cNvPicPr>
            <a:picLocks noChangeAspect="1"/>
          </p:cNvPicPr>
          <p:nvPr/>
        </p:nvPicPr>
        <p:blipFill>
          <a:blip r:embed="rId2" cstate="print">
            <a:extLst>
              <a:ext uri="{28A0092B-C50C-407E-A947-70E740481C1C}">
                <a14:useLocalDpi xmlns:a14="http://schemas.microsoft.com/office/drawing/2010/main" val="0"/>
              </a:ext>
            </a:extLst>
          </a:blip>
          <a:srcRect b="27023"/>
          <a:stretch>
            <a:fillRect/>
          </a:stretch>
        </p:blipFill>
        <p:spPr bwMode="auto">
          <a:xfrm>
            <a:off x="0" y="239713"/>
            <a:ext cx="12175067"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9"/>
          <p:cNvSpPr txBox="1">
            <a:spLocks noChangeArrowheads="1"/>
          </p:cNvSpPr>
          <p:nvPr/>
        </p:nvSpPr>
        <p:spPr bwMode="auto">
          <a:xfrm>
            <a:off x="607484" y="5040314"/>
            <a:ext cx="37339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sz="1200" dirty="0" smtClean="0">
                <a:solidFill>
                  <a:srgbClr val="808080"/>
                </a:solidFill>
                <a:latin typeface="Verdana" pitchFamily="34" charset="0"/>
              </a:rPr>
              <a:t>The National Bank of Ras Al-Khaimah (P.S.C.)</a:t>
            </a:r>
          </a:p>
        </p:txBody>
      </p:sp>
      <p:pic>
        <p:nvPicPr>
          <p:cNvPr id="6" name="Picture 16"/>
          <p:cNvPicPr>
            <a:picLocks noChangeAspect="1"/>
          </p:cNvPicPr>
          <p:nvPr/>
        </p:nvPicPr>
        <p:blipFill>
          <a:blip r:embed="rId3"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7"/>
          <p:cNvPicPr>
            <a:picLocks noChangeAspect="1"/>
          </p:cNvPicPr>
          <p:nvPr/>
        </p:nvPicPr>
        <p:blipFill>
          <a:blip r:embed="rId4" cstate="print">
            <a:extLst>
              <a:ext uri="{28A0092B-C50C-407E-A947-70E740481C1C}">
                <a14:useLocalDpi xmlns:a14="http://schemas.microsoft.com/office/drawing/2010/main" val="0"/>
              </a:ext>
            </a:extLst>
          </a:blip>
          <a:srcRect l="12234" t="13202" r="12038" b="14536"/>
          <a:stretch>
            <a:fillRect/>
          </a:stretch>
        </p:blipFill>
        <p:spPr bwMode="auto">
          <a:xfrm>
            <a:off x="9753600" y="6324601"/>
            <a:ext cx="21336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1727200" y="1698626"/>
            <a:ext cx="8432800" cy="815975"/>
          </a:xfrm>
        </p:spPr>
        <p:txBody>
          <a:bodyPr/>
          <a:lstStyle>
            <a:lvl1pPr>
              <a:defRPr b="1"/>
            </a:lvl1pPr>
          </a:lstStyle>
          <a:p>
            <a:pPr lvl="0"/>
            <a:r>
              <a:rPr lang="en-US" noProof="0" smtClean="0"/>
              <a:t>Click to edit Master title style</a:t>
            </a:r>
          </a:p>
        </p:txBody>
      </p:sp>
      <p:sp>
        <p:nvSpPr>
          <p:cNvPr id="5123" name="Rectangle 3"/>
          <p:cNvSpPr>
            <a:spLocks noGrp="1" noChangeArrowheads="1"/>
          </p:cNvSpPr>
          <p:nvPr>
            <p:ph type="subTitle" idx="1"/>
          </p:nvPr>
        </p:nvSpPr>
        <p:spPr>
          <a:xfrm>
            <a:off x="1727200" y="2438400"/>
            <a:ext cx="8534400" cy="533400"/>
          </a:xfrm>
        </p:spPr>
        <p:txBody>
          <a:bodyPr/>
          <a:lstStyle>
            <a:lvl1pPr marL="0" indent="0">
              <a:buFontTx/>
              <a:buNone/>
              <a:defRPr sz="2400">
                <a:solidFill>
                  <a:schemeClr val="bg1"/>
                </a:solidFill>
              </a:defRPr>
            </a:lvl1pPr>
          </a:lstStyle>
          <a:p>
            <a:pPr lvl="0"/>
            <a:r>
              <a:rPr lang="en-US" noProof="0" smtClean="0"/>
              <a:t>Click to edit Master subtitle style</a:t>
            </a:r>
          </a:p>
        </p:txBody>
      </p:sp>
      <p:sp>
        <p:nvSpPr>
          <p:cNvPr id="8" name="Rectangle 4"/>
          <p:cNvSpPr>
            <a:spLocks noGrp="1" noChangeArrowheads="1"/>
          </p:cNvSpPr>
          <p:nvPr>
            <p:ph type="dt" sz="half" idx="10"/>
          </p:nvPr>
        </p:nvSpPr>
        <p:spPr/>
        <p:txBody>
          <a:bodyPr/>
          <a:lstStyle>
            <a:lvl1pPr>
              <a:defRPr/>
            </a:lvl1pPr>
          </a:lstStyle>
          <a:p>
            <a:fld id="{94EFE77C-B1DD-471F-BF7E-0013C00080F2}" type="datetime1">
              <a:rPr lang="en-US" smtClean="0"/>
              <a:t>1/24/2023</a:t>
            </a:fld>
            <a:endParaRPr lang="en-US"/>
          </a:p>
        </p:txBody>
      </p:sp>
      <p:sp>
        <p:nvSpPr>
          <p:cNvPr id="9" name="Rectangle 5"/>
          <p:cNvSpPr>
            <a:spLocks noGrp="1" noChangeArrowheads="1"/>
          </p:cNvSpPr>
          <p:nvPr>
            <p:ph type="ftr" sz="quarter" idx="11"/>
          </p:nvPr>
        </p:nvSpPr>
        <p:spPr/>
        <p:txBody>
          <a:bodyPr/>
          <a:lstStyle>
            <a:lvl1pPr>
              <a:defRPr/>
            </a:lvl1pPr>
          </a:lstStyle>
          <a:p>
            <a:endParaRPr lang="en-US"/>
          </a:p>
        </p:txBody>
      </p:sp>
      <p:sp>
        <p:nvSpPr>
          <p:cNvPr id="10"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2658043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4"/>
          <p:cNvSpPr>
            <a:spLocks noGrp="1" noChangeArrowheads="1"/>
          </p:cNvSpPr>
          <p:nvPr>
            <p:ph type="dt" sz="half" idx="10"/>
          </p:nvPr>
        </p:nvSpPr>
        <p:spPr/>
        <p:txBody>
          <a:bodyPr/>
          <a:lstStyle>
            <a:lvl1pPr>
              <a:defRPr/>
            </a:lvl1pPr>
          </a:lstStyle>
          <a:p>
            <a:fld id="{120F42DF-C73B-4F63-BE65-DFF87648A39A}" type="datetime1">
              <a:rPr lang="en-US" smtClean="0"/>
              <a:t>1/24/2023</a:t>
            </a:fld>
            <a:endParaRPr lang="en-US"/>
          </a:p>
        </p:txBody>
      </p:sp>
      <p:sp>
        <p:nvSpPr>
          <p:cNvPr id="5" name="Rectangle 5"/>
          <p:cNvSpPr>
            <a:spLocks noGrp="1" noChangeArrowheads="1"/>
          </p:cNvSpPr>
          <p:nvPr>
            <p:ph type="ftr" sz="quarter" idx="11"/>
          </p:nvPr>
        </p:nvSpPr>
        <p:spPr/>
        <p:txBody>
          <a:bodyPr/>
          <a:lstStyle>
            <a:lvl1pPr>
              <a:defRPr/>
            </a:lvl1pPr>
          </a:lstStyle>
          <a:p>
            <a:endParaRPr lang="en-US"/>
          </a:p>
        </p:txBody>
      </p:sp>
      <p:sp>
        <p:nvSpPr>
          <p:cNvPr id="6" name="Rectangle 6"/>
          <p:cNvSpPr>
            <a:spLocks noGrp="1" noChangeArrowheads="1"/>
          </p:cNvSpPr>
          <p:nvPr>
            <p:ph type="sldNum" sz="quarter" idx="12"/>
          </p:nvPr>
        </p:nvSpPr>
        <p:spPr/>
        <p:txBody>
          <a:bodyPr/>
          <a:lstStyle>
            <a:lvl1pP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2127780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fld id="{408F190C-C23F-464A-AD44-346D67F4CB67}" type="datetime1">
              <a:rPr lang="en-US" smtClean="0"/>
              <a:t>1/24/2023</a:t>
            </a:fld>
            <a:endParaRPr lang="en-US"/>
          </a:p>
        </p:txBody>
      </p:sp>
      <p:sp>
        <p:nvSpPr>
          <p:cNvPr id="6" name="Rectangle 5"/>
          <p:cNvSpPr>
            <a:spLocks noGrp="1" noChangeArrowheads="1"/>
          </p:cNvSpPr>
          <p:nvPr>
            <p:ph type="ftr" sz="quarter" idx="11"/>
          </p:nvPr>
        </p:nvSpPr>
        <p:spPr/>
        <p:txBody>
          <a:bodyPr/>
          <a:lstStyle>
            <a:lvl1pPr>
              <a:defRPr/>
            </a:lvl1pPr>
          </a:lstStyle>
          <a:p>
            <a:endParaRPr lang="en-US"/>
          </a:p>
        </p:txBody>
      </p:sp>
      <p:sp>
        <p:nvSpPr>
          <p:cNvPr id="7"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3024291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p:txBody>
          <a:bodyPr/>
          <a:lstStyle>
            <a:lvl1pPr>
              <a:defRPr/>
            </a:lvl1pPr>
          </a:lstStyle>
          <a:p>
            <a:fld id="{4ABE7113-4A4A-46C0-A8A9-62E49EB6CBD4}" type="datetime1">
              <a:rPr lang="en-US" smtClean="0"/>
              <a:t>1/24/2023</a:t>
            </a:fld>
            <a:endParaRPr lang="en-US"/>
          </a:p>
        </p:txBody>
      </p:sp>
      <p:sp>
        <p:nvSpPr>
          <p:cNvPr id="7" name="Rectangle 5"/>
          <p:cNvSpPr>
            <a:spLocks noGrp="1" noChangeArrowheads="1"/>
          </p:cNvSpPr>
          <p:nvPr>
            <p:ph type="ftr" sz="quarter" idx="11"/>
          </p:nvPr>
        </p:nvSpPr>
        <p:spPr/>
        <p:txBody>
          <a:bodyPr/>
          <a:lstStyle>
            <a:lvl1pPr>
              <a:defRPr/>
            </a:lvl1pPr>
          </a:lstStyle>
          <a:p>
            <a:endParaRPr lang="en-US"/>
          </a:p>
        </p:txBody>
      </p:sp>
      <p:sp>
        <p:nvSpPr>
          <p:cNvPr id="8"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604084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Rectangle 4"/>
          <p:cNvSpPr>
            <a:spLocks noGrp="1" noChangeArrowheads="1"/>
          </p:cNvSpPr>
          <p:nvPr>
            <p:ph type="dt" sz="half" idx="10"/>
          </p:nvPr>
        </p:nvSpPr>
        <p:spPr/>
        <p:txBody>
          <a:bodyPr/>
          <a:lstStyle>
            <a:lvl1pPr>
              <a:defRPr/>
            </a:lvl1pPr>
          </a:lstStyle>
          <a:p>
            <a:fld id="{5473BBD3-1167-42F3-89F5-CB22C6320FE0}" type="datetime1">
              <a:rPr lang="en-US" smtClean="0"/>
              <a:t>1/24/2023</a:t>
            </a:fld>
            <a:endParaRPr lang="en-US"/>
          </a:p>
        </p:txBody>
      </p:sp>
      <p:sp>
        <p:nvSpPr>
          <p:cNvPr id="9" name="Rectangle 5"/>
          <p:cNvSpPr>
            <a:spLocks noGrp="1" noChangeArrowheads="1"/>
          </p:cNvSpPr>
          <p:nvPr>
            <p:ph type="ftr" sz="quarter" idx="11"/>
          </p:nvPr>
        </p:nvSpPr>
        <p:spPr/>
        <p:txBody>
          <a:bodyPr/>
          <a:lstStyle>
            <a:lvl1pPr>
              <a:defRPr/>
            </a:lvl1pPr>
          </a:lstStyle>
          <a:p>
            <a:endParaRPr lang="en-US"/>
          </a:p>
        </p:txBody>
      </p:sp>
      <p:sp>
        <p:nvSpPr>
          <p:cNvPr id="10"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3363300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a:p>
        </p:txBody>
      </p:sp>
      <p:sp>
        <p:nvSpPr>
          <p:cNvPr id="4" name="Rectangle 4"/>
          <p:cNvSpPr>
            <a:spLocks noGrp="1" noChangeArrowheads="1"/>
          </p:cNvSpPr>
          <p:nvPr>
            <p:ph type="dt" sz="half" idx="10"/>
          </p:nvPr>
        </p:nvSpPr>
        <p:spPr/>
        <p:txBody>
          <a:bodyPr/>
          <a:lstStyle>
            <a:lvl1pPr>
              <a:defRPr/>
            </a:lvl1pPr>
          </a:lstStyle>
          <a:p>
            <a:fld id="{E2544C27-81CD-4DF5-AE6E-7A99B1C9F46C}" type="datetime1">
              <a:rPr lang="en-US" smtClean="0"/>
              <a:t>1/24/2023</a:t>
            </a:fld>
            <a:endParaRPr lang="en-US"/>
          </a:p>
        </p:txBody>
      </p:sp>
      <p:sp>
        <p:nvSpPr>
          <p:cNvPr id="5" name="Rectangle 5"/>
          <p:cNvSpPr>
            <a:spLocks noGrp="1" noChangeArrowheads="1"/>
          </p:cNvSpPr>
          <p:nvPr>
            <p:ph type="ftr" sz="quarter" idx="11"/>
          </p:nvPr>
        </p:nvSpPr>
        <p:spPr/>
        <p:txBody>
          <a:bodyPr/>
          <a:lstStyle>
            <a:lvl1pPr>
              <a:defRPr/>
            </a:lvl1pPr>
          </a:lstStyle>
          <a:p>
            <a:endParaRPr lang="en-US"/>
          </a:p>
        </p:txBody>
      </p:sp>
      <p:sp>
        <p:nvSpPr>
          <p:cNvPr id="6"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110021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4"/>
          <p:cNvSpPr>
            <a:spLocks noGrp="1" noChangeArrowheads="1"/>
          </p:cNvSpPr>
          <p:nvPr>
            <p:ph type="dt" sz="half" idx="10"/>
          </p:nvPr>
        </p:nvSpPr>
        <p:spPr/>
        <p:txBody>
          <a:bodyPr/>
          <a:lstStyle>
            <a:lvl1pPr>
              <a:defRPr/>
            </a:lvl1pPr>
          </a:lstStyle>
          <a:p>
            <a:fld id="{A8E71796-0FD7-46C8-A9FB-450A1A4A7EE8}" type="datetime1">
              <a:rPr lang="en-US" smtClean="0"/>
              <a:t>1/24/2023</a:t>
            </a:fld>
            <a:endParaRPr lang="en-US"/>
          </a:p>
        </p:txBody>
      </p:sp>
      <p:sp>
        <p:nvSpPr>
          <p:cNvPr id="4" name="Rectangle 5"/>
          <p:cNvSpPr>
            <a:spLocks noGrp="1" noChangeArrowheads="1"/>
          </p:cNvSpPr>
          <p:nvPr>
            <p:ph type="ftr" sz="quarter" idx="11"/>
          </p:nvPr>
        </p:nvSpPr>
        <p:spPr/>
        <p:txBody>
          <a:bodyPr/>
          <a:lstStyle>
            <a:lvl1pPr>
              <a:defRPr/>
            </a:lvl1pPr>
          </a:lstStyle>
          <a:p>
            <a:endParaRPr lang="en-US"/>
          </a:p>
        </p:txBody>
      </p:sp>
      <p:sp>
        <p:nvSpPr>
          <p:cNvPr id="5"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1424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xfrm>
            <a:off x="609600" y="6245225"/>
            <a:ext cx="2844800" cy="476250"/>
          </a:xfrm>
        </p:spPr>
        <p:txBody>
          <a:bodyPr/>
          <a:lstStyle>
            <a:lvl1pPr>
              <a:defRPr/>
            </a:lvl1pPr>
          </a:lstStyle>
          <a:p>
            <a:fld id="{6F229ADC-A98B-403D-809A-665804707912}" type="datetime1">
              <a:rPr lang="en-US" smtClean="0"/>
              <a:t>1/24/2023</a:t>
            </a:fld>
            <a:endParaRPr lang="en-US"/>
          </a:p>
        </p:txBody>
      </p:sp>
      <p:sp>
        <p:nvSpPr>
          <p:cNvPr id="6" name="Rectangle 5"/>
          <p:cNvSpPr>
            <a:spLocks noGrp="1" noChangeArrowheads="1"/>
          </p:cNvSpPr>
          <p:nvPr>
            <p:ph type="ftr" sz="quarter" idx="11"/>
          </p:nvPr>
        </p:nvSpPr>
        <p:spPr>
          <a:xfrm>
            <a:off x="4165600" y="6245225"/>
            <a:ext cx="3860800" cy="476250"/>
          </a:xfrm>
        </p:spPr>
        <p:txBody>
          <a:bodyPr/>
          <a:lstStyle>
            <a:lvl1pPr>
              <a:defRPr/>
            </a:lvl1pPr>
          </a:lstStyle>
          <a:p>
            <a:endParaRPr lang="en-US"/>
          </a:p>
        </p:txBody>
      </p:sp>
      <p:sp>
        <p:nvSpPr>
          <p:cNvPr id="7" name="Rectangle 6"/>
          <p:cNvSpPr>
            <a:spLocks noGrp="1" noChangeArrowheads="1"/>
          </p:cNvSpPr>
          <p:nvPr>
            <p:ph type="sldNum" sz="quarter" idx="12"/>
          </p:nvPr>
        </p:nvSpPr>
        <p:spPr>
          <a:xfrm>
            <a:off x="8737600" y="6245225"/>
            <a:ext cx="2844800" cy="476250"/>
          </a:xfrm>
        </p:spPr>
        <p:txBody>
          <a:bodyPr/>
          <a:lstStyle>
            <a:lvl1pP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2153296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Rectangle 4"/>
          <p:cNvSpPr>
            <a:spLocks noGrp="1" noChangeArrowheads="1"/>
          </p:cNvSpPr>
          <p:nvPr>
            <p:ph type="dt" sz="half" idx="10"/>
          </p:nvPr>
        </p:nvSpPr>
        <p:spPr/>
        <p:txBody>
          <a:bodyPr/>
          <a:lstStyle>
            <a:lvl1pPr>
              <a:defRPr/>
            </a:lvl1pPr>
          </a:lstStyle>
          <a:p>
            <a:fld id="{9B36E322-653C-45DF-A40C-B4A054A91DCE}" type="datetime1">
              <a:rPr lang="en-US" smtClean="0"/>
              <a:t>1/24/2023</a:t>
            </a:fld>
            <a:endParaRPr lang="en-US"/>
          </a:p>
        </p:txBody>
      </p:sp>
      <p:sp>
        <p:nvSpPr>
          <p:cNvPr id="7" name="Rectangle 5"/>
          <p:cNvSpPr>
            <a:spLocks noGrp="1" noChangeArrowheads="1"/>
          </p:cNvSpPr>
          <p:nvPr>
            <p:ph type="ftr" sz="quarter" idx="11"/>
          </p:nvPr>
        </p:nvSpPr>
        <p:spPr/>
        <p:txBody>
          <a:bodyPr/>
          <a:lstStyle>
            <a:lvl1pPr>
              <a:defRPr/>
            </a:lvl1pPr>
          </a:lstStyle>
          <a:p>
            <a:endParaRPr lang="en-US"/>
          </a:p>
        </p:txBody>
      </p:sp>
      <p:sp>
        <p:nvSpPr>
          <p:cNvPr id="8"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2236899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4"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fld id="{3157CE44-8C23-45EA-93D1-52DC7E523134}" type="datetime1">
              <a:rPr lang="en-US" smtClean="0"/>
              <a:t>1/24/2023</a:t>
            </a:fld>
            <a:endParaRPr lang="en-US"/>
          </a:p>
        </p:txBody>
      </p:sp>
      <p:sp>
        <p:nvSpPr>
          <p:cNvPr id="6" name="Rectangle 5"/>
          <p:cNvSpPr>
            <a:spLocks noGrp="1" noChangeArrowheads="1"/>
          </p:cNvSpPr>
          <p:nvPr>
            <p:ph type="ftr" sz="quarter" idx="11"/>
          </p:nvPr>
        </p:nvSpPr>
        <p:spPr/>
        <p:txBody>
          <a:bodyPr/>
          <a:lstStyle>
            <a:lvl1pPr>
              <a:defRPr/>
            </a:lvl1pPr>
          </a:lstStyle>
          <a:p>
            <a:endParaRPr lang="en-US"/>
          </a:p>
        </p:txBody>
      </p:sp>
      <p:sp>
        <p:nvSpPr>
          <p:cNvPr id="7"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2035914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11"/>
          <p:cNvPicPr>
            <a:picLocks noChangeAspect="1"/>
          </p:cNvPicPr>
          <p:nvPr/>
        </p:nvPicPr>
        <p:blipFill>
          <a:blip r:embed="rId2"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8788400" y="76201"/>
            <a:ext cx="2794000" cy="6049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06400" y="76201"/>
            <a:ext cx="8178800" cy="60499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fld id="{D50F7105-3EA6-4C3F-9D68-FB5605AC4289}" type="datetime1">
              <a:rPr lang="en-US" smtClean="0"/>
              <a:t>1/24/2023</a:t>
            </a:fld>
            <a:endParaRPr lang="en-US"/>
          </a:p>
        </p:txBody>
      </p:sp>
      <p:sp>
        <p:nvSpPr>
          <p:cNvPr id="6" name="Rectangle 5"/>
          <p:cNvSpPr>
            <a:spLocks noGrp="1" noChangeArrowheads="1"/>
          </p:cNvSpPr>
          <p:nvPr>
            <p:ph type="ftr" sz="quarter" idx="11"/>
          </p:nvPr>
        </p:nvSpPr>
        <p:spPr/>
        <p:txBody>
          <a:bodyPr/>
          <a:lstStyle>
            <a:lvl1pPr>
              <a:defRPr/>
            </a:lvl1pPr>
          </a:lstStyle>
          <a:p>
            <a:endParaRPr lang="en-US"/>
          </a:p>
        </p:txBody>
      </p:sp>
      <p:sp>
        <p:nvSpPr>
          <p:cNvPr id="7" name="Rectangle 6"/>
          <p:cNvSpPr>
            <a:spLocks noGrp="1" noChangeArrowheads="1"/>
          </p:cNvSpPr>
          <p:nvPr>
            <p:ph type="sldNum" sz="quarter" idx="12"/>
          </p:nvPr>
        </p:nvSpPr>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1842186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3" cstate="print">
            <a:extLst>
              <a:ext uri="{28A0092B-C50C-407E-A947-70E740481C1C}">
                <a14:useLocalDpi xmlns:a14="http://schemas.microsoft.com/office/drawing/2010/main" val="0"/>
              </a:ext>
            </a:extLst>
          </a:blip>
          <a:srcRect l="4845" t="2351" r="7587" b="85168"/>
          <a:stretch>
            <a:fillRect/>
          </a:stretch>
        </p:blipFill>
        <p:spPr bwMode="auto">
          <a:xfrm>
            <a:off x="508001" y="76200"/>
            <a:ext cx="11637433"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609600" y="304801"/>
            <a:ext cx="85344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Slide Title</a:t>
            </a:r>
          </a:p>
        </p:txBody>
      </p:sp>
      <p:sp>
        <p:nvSpPr>
          <p:cNvPr id="1028"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pic>
        <p:nvPicPr>
          <p:cNvPr id="1029" name="Picture 10"/>
          <p:cNvPicPr>
            <a:picLocks noChangeAspect="1"/>
          </p:cNvPicPr>
          <p:nvPr/>
        </p:nvPicPr>
        <p:blipFill>
          <a:blip r:embed="rId13" cstate="print">
            <a:extLst>
              <a:ext uri="{28A0092B-C50C-407E-A947-70E740481C1C}">
                <a14:useLocalDpi xmlns:a14="http://schemas.microsoft.com/office/drawing/2010/main" val="0"/>
              </a:ext>
            </a:extLst>
          </a:blip>
          <a:srcRect t="91666" r="27682"/>
          <a:stretch>
            <a:fillRect/>
          </a:stretch>
        </p:blipFill>
        <p:spPr bwMode="auto">
          <a:xfrm>
            <a:off x="609600" y="6289676"/>
            <a:ext cx="9144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2"/>
          <p:cNvPicPr>
            <a:picLocks noChangeAspect="1"/>
          </p:cNvPicPr>
          <p:nvPr/>
        </p:nvPicPr>
        <p:blipFill>
          <a:blip r:embed="rId14" cstate="print">
            <a:extLst>
              <a:ext uri="{28A0092B-C50C-407E-A947-70E740481C1C}">
                <a14:useLocalDpi xmlns:a14="http://schemas.microsoft.com/office/drawing/2010/main" val="0"/>
              </a:ext>
            </a:extLst>
          </a:blip>
          <a:srcRect l="12234" t="13202" r="12038" b="14536"/>
          <a:stretch>
            <a:fillRect/>
          </a:stretch>
        </p:blipFill>
        <p:spPr bwMode="auto">
          <a:xfrm>
            <a:off x="9753600" y="6324601"/>
            <a:ext cx="21336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4"/>
          <p:cNvSpPr>
            <a:spLocks noGrp="1" noChangeArrowheads="1"/>
          </p:cNvSpPr>
          <p:nvPr>
            <p:ph type="dt" sz="half" idx="2"/>
          </p:nvPr>
        </p:nvSpPr>
        <p:spPr>
          <a:xfrm>
            <a:off x="609600" y="6400800"/>
            <a:ext cx="2844800" cy="476250"/>
          </a:xfrm>
          <a:prstGeom prst="rect">
            <a:avLst/>
          </a:prstGeom>
          <a:ln/>
        </p:spPr>
        <p:txBody>
          <a:bodyPr/>
          <a:lstStyle>
            <a:lvl1pPr>
              <a:defRPr/>
            </a:lvl1pPr>
          </a:lstStyle>
          <a:p>
            <a:fld id="{02F13195-AF6D-4013-A756-A1DE6F0BFD69}" type="datetime1">
              <a:rPr lang="en-US" smtClean="0"/>
              <a:t>1/24/2023</a:t>
            </a:fld>
            <a:endParaRPr lang="en-US"/>
          </a:p>
        </p:txBody>
      </p:sp>
      <p:sp>
        <p:nvSpPr>
          <p:cNvPr id="14" name="Rectangle 5"/>
          <p:cNvSpPr>
            <a:spLocks noGrp="1" noChangeArrowheads="1"/>
          </p:cNvSpPr>
          <p:nvPr>
            <p:ph type="ftr" sz="quarter" idx="3"/>
          </p:nvPr>
        </p:nvSpPr>
        <p:spPr>
          <a:xfrm>
            <a:off x="4165600" y="6400800"/>
            <a:ext cx="3860800" cy="476250"/>
          </a:xfrm>
          <a:prstGeom prst="rect">
            <a:avLst/>
          </a:prstGeom>
          <a:ln/>
        </p:spPr>
        <p:txBody>
          <a:bodyPr/>
          <a:lstStyle>
            <a:lvl1pPr>
              <a:defRPr/>
            </a:lvl1pPr>
          </a:lstStyle>
          <a:p>
            <a:endParaRPr lang="en-US"/>
          </a:p>
        </p:txBody>
      </p:sp>
      <p:sp>
        <p:nvSpPr>
          <p:cNvPr id="15" name="Rectangle 6"/>
          <p:cNvSpPr>
            <a:spLocks noGrp="1" noChangeArrowheads="1"/>
          </p:cNvSpPr>
          <p:nvPr>
            <p:ph type="sldNum" sz="quarter" idx="4"/>
          </p:nvPr>
        </p:nvSpPr>
        <p:spPr>
          <a:xfrm>
            <a:off x="8737600" y="6400800"/>
            <a:ext cx="914400" cy="476250"/>
          </a:xfrm>
          <a:prstGeom prst="rect">
            <a:avLst/>
          </a:prstGeom>
          <a:ln/>
        </p:spPr>
        <p:txBody>
          <a:bodyPr/>
          <a:lstStyle>
            <a:lvl1pPr algn="r">
              <a:defRPr/>
            </a:lvl1pPr>
          </a:lstStyle>
          <a:p>
            <a:fld id="{6E2F3C12-4A6A-4212-A157-AE121822CE5B}" type="slidenum">
              <a:rPr lang="en-US" smtClean="0"/>
              <a:t>‹#›</a:t>
            </a:fld>
            <a:endParaRPr lang="en-US"/>
          </a:p>
        </p:txBody>
      </p:sp>
    </p:spTree>
    <p:extLst>
      <p:ext uri="{BB962C8B-B14F-4D97-AF65-F5344CB8AC3E}">
        <p14:creationId xmlns:p14="http://schemas.microsoft.com/office/powerpoint/2010/main" val="26288599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hangingPunct="1">
        <a:spcBef>
          <a:spcPct val="0"/>
        </a:spcBef>
        <a:spcAft>
          <a:spcPct val="0"/>
        </a:spcAft>
        <a:defRPr sz="2800">
          <a:solidFill>
            <a:schemeClr val="bg1"/>
          </a:solidFill>
          <a:latin typeface="+mj-lt"/>
          <a:ea typeface="+mj-ea"/>
          <a:cs typeface="+mj-cs"/>
        </a:defRPr>
      </a:lvl1pPr>
      <a:lvl2pPr algn="l" rtl="0" eaLnBrk="1" fontAlgn="base" hangingPunct="1">
        <a:spcBef>
          <a:spcPct val="0"/>
        </a:spcBef>
        <a:spcAft>
          <a:spcPct val="0"/>
        </a:spcAft>
        <a:defRPr sz="2800">
          <a:solidFill>
            <a:schemeClr val="bg1"/>
          </a:solidFill>
          <a:latin typeface="Verdana" pitchFamily="34" charset="0"/>
          <a:cs typeface="Arial" charset="0"/>
        </a:defRPr>
      </a:lvl2pPr>
      <a:lvl3pPr algn="l" rtl="0" eaLnBrk="1" fontAlgn="base" hangingPunct="1">
        <a:spcBef>
          <a:spcPct val="0"/>
        </a:spcBef>
        <a:spcAft>
          <a:spcPct val="0"/>
        </a:spcAft>
        <a:defRPr sz="2800">
          <a:solidFill>
            <a:schemeClr val="bg1"/>
          </a:solidFill>
          <a:latin typeface="Verdana" pitchFamily="34" charset="0"/>
          <a:cs typeface="Arial" charset="0"/>
        </a:defRPr>
      </a:lvl3pPr>
      <a:lvl4pPr algn="l" rtl="0" eaLnBrk="1" fontAlgn="base" hangingPunct="1">
        <a:spcBef>
          <a:spcPct val="0"/>
        </a:spcBef>
        <a:spcAft>
          <a:spcPct val="0"/>
        </a:spcAft>
        <a:defRPr sz="2800">
          <a:solidFill>
            <a:schemeClr val="bg1"/>
          </a:solidFill>
          <a:latin typeface="Verdana" pitchFamily="34" charset="0"/>
          <a:cs typeface="Arial" charset="0"/>
        </a:defRPr>
      </a:lvl4pPr>
      <a:lvl5pPr algn="l" rtl="0" eaLnBrk="1" fontAlgn="base" hangingPunct="1">
        <a:spcBef>
          <a:spcPct val="0"/>
        </a:spcBef>
        <a:spcAft>
          <a:spcPct val="0"/>
        </a:spcAft>
        <a:defRPr sz="2800">
          <a:solidFill>
            <a:schemeClr val="bg1"/>
          </a:solidFill>
          <a:latin typeface="Verdana" pitchFamily="34" charset="0"/>
          <a:cs typeface="Arial" charset="0"/>
        </a:defRPr>
      </a:lvl5pPr>
      <a:lvl6pPr marL="457200" algn="l" rtl="0" eaLnBrk="1" fontAlgn="base" hangingPunct="1">
        <a:spcBef>
          <a:spcPct val="0"/>
        </a:spcBef>
        <a:spcAft>
          <a:spcPct val="0"/>
        </a:spcAft>
        <a:defRPr sz="2800">
          <a:solidFill>
            <a:schemeClr val="bg1"/>
          </a:solidFill>
          <a:latin typeface="Verdana" pitchFamily="34" charset="0"/>
          <a:cs typeface="Arial" charset="0"/>
        </a:defRPr>
      </a:lvl6pPr>
      <a:lvl7pPr marL="914400" algn="l" rtl="0" eaLnBrk="1" fontAlgn="base" hangingPunct="1">
        <a:spcBef>
          <a:spcPct val="0"/>
        </a:spcBef>
        <a:spcAft>
          <a:spcPct val="0"/>
        </a:spcAft>
        <a:defRPr sz="2800">
          <a:solidFill>
            <a:schemeClr val="bg1"/>
          </a:solidFill>
          <a:latin typeface="Verdana" pitchFamily="34" charset="0"/>
          <a:cs typeface="Arial" charset="0"/>
        </a:defRPr>
      </a:lvl7pPr>
      <a:lvl8pPr marL="1371600" algn="l" rtl="0" eaLnBrk="1" fontAlgn="base" hangingPunct="1">
        <a:spcBef>
          <a:spcPct val="0"/>
        </a:spcBef>
        <a:spcAft>
          <a:spcPct val="0"/>
        </a:spcAft>
        <a:defRPr sz="2800">
          <a:solidFill>
            <a:schemeClr val="bg1"/>
          </a:solidFill>
          <a:latin typeface="Verdana" pitchFamily="34" charset="0"/>
          <a:cs typeface="Arial" charset="0"/>
        </a:defRPr>
      </a:lvl8pPr>
      <a:lvl9pPr marL="1828800" algn="l" rtl="0" eaLnBrk="1" fontAlgn="base" hangingPunct="1">
        <a:spcBef>
          <a:spcPct val="0"/>
        </a:spcBef>
        <a:spcAft>
          <a:spcPct val="0"/>
        </a:spcAft>
        <a:defRPr sz="2800">
          <a:solidFill>
            <a:schemeClr val="bg1"/>
          </a:solidFill>
          <a:latin typeface="Verdana" pitchFamily="34" charset="0"/>
          <a:cs typeface="Arial" charset="0"/>
        </a:defRPr>
      </a:lvl9pPr>
    </p:titleStyle>
    <p:bodyStyle>
      <a:lvl1pPr marL="342900" indent="-342900" algn="l" rtl="0" eaLnBrk="1" fontAlgn="base" hangingPunct="1">
        <a:spcBef>
          <a:spcPct val="20000"/>
        </a:spcBef>
        <a:spcAft>
          <a:spcPct val="0"/>
        </a:spcAft>
        <a:buChar char="•"/>
        <a:defRPr sz="20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cs typeface="+mn-cs"/>
        </a:defRPr>
      </a:lvl2pPr>
      <a:lvl3pPr marL="1143000" indent="-228600" algn="l" rtl="0" eaLnBrk="1" fontAlgn="base" hangingPunct="1">
        <a:spcBef>
          <a:spcPct val="20000"/>
        </a:spcBef>
        <a:spcAft>
          <a:spcPct val="0"/>
        </a:spcAft>
        <a:buChar char="•"/>
        <a:defRPr sz="1600">
          <a:solidFill>
            <a:schemeClr val="tx1"/>
          </a:solidFill>
          <a:latin typeface="+mn-lt"/>
          <a:cs typeface="+mn-cs"/>
        </a:defRPr>
      </a:lvl3pPr>
      <a:lvl4pPr marL="1600200" indent="-228600" algn="l" rtl="0" eaLnBrk="1" fontAlgn="base" hangingPunct="1">
        <a:spcBef>
          <a:spcPct val="20000"/>
        </a:spcBef>
        <a:spcAft>
          <a:spcPct val="0"/>
        </a:spcAft>
        <a:buChar char="–"/>
        <a:defRPr sz="1600">
          <a:solidFill>
            <a:schemeClr val="tx1"/>
          </a:solidFill>
          <a:latin typeface="+mn-lt"/>
          <a:cs typeface="+mn-cs"/>
        </a:defRPr>
      </a:lvl4pPr>
      <a:lvl5pPr marL="2057400" indent="-228600" algn="l" rtl="0" eaLnBrk="1" fontAlgn="base" hangingPunct="1">
        <a:spcBef>
          <a:spcPct val="20000"/>
        </a:spcBef>
        <a:spcAft>
          <a:spcPct val="0"/>
        </a:spcAft>
        <a:buChar char="»"/>
        <a:defRPr sz="1600">
          <a:solidFill>
            <a:schemeClr val="tx1"/>
          </a:solidFill>
          <a:latin typeface="+mn-lt"/>
          <a:cs typeface="+mn-cs"/>
        </a:defRPr>
      </a:lvl5pPr>
      <a:lvl6pPr marL="2514600" indent="-228600" algn="l" rtl="0" eaLnBrk="1" fontAlgn="base" hangingPunct="1">
        <a:spcBef>
          <a:spcPct val="20000"/>
        </a:spcBef>
        <a:spcAft>
          <a:spcPct val="0"/>
        </a:spcAft>
        <a:buChar char="»"/>
        <a:defRPr sz="1600">
          <a:solidFill>
            <a:schemeClr val="tx1"/>
          </a:solidFill>
          <a:latin typeface="+mn-lt"/>
          <a:cs typeface="+mn-cs"/>
        </a:defRPr>
      </a:lvl6pPr>
      <a:lvl7pPr marL="2971800" indent="-228600" algn="l" rtl="0" eaLnBrk="1" fontAlgn="base" hangingPunct="1">
        <a:spcBef>
          <a:spcPct val="20000"/>
        </a:spcBef>
        <a:spcAft>
          <a:spcPct val="0"/>
        </a:spcAft>
        <a:buChar char="»"/>
        <a:defRPr sz="1600">
          <a:solidFill>
            <a:schemeClr val="tx1"/>
          </a:solidFill>
          <a:latin typeface="+mn-lt"/>
          <a:cs typeface="+mn-cs"/>
        </a:defRPr>
      </a:lvl7pPr>
      <a:lvl8pPr marL="3429000" indent="-228600" algn="l" rtl="0" eaLnBrk="1" fontAlgn="base" hangingPunct="1">
        <a:spcBef>
          <a:spcPct val="20000"/>
        </a:spcBef>
        <a:spcAft>
          <a:spcPct val="0"/>
        </a:spcAft>
        <a:buChar char="»"/>
        <a:defRPr sz="1600">
          <a:solidFill>
            <a:schemeClr val="tx1"/>
          </a:solidFill>
          <a:latin typeface="+mn-lt"/>
          <a:cs typeface="+mn-cs"/>
        </a:defRPr>
      </a:lvl8pPr>
      <a:lvl9pPr marL="3886200" indent="-228600" algn="l" rtl="0" eaLnBrk="1" fontAlgn="base" hangingPunct="1">
        <a:spcBef>
          <a:spcPct val="20000"/>
        </a:spcBef>
        <a:spcAft>
          <a:spcPct val="0"/>
        </a:spcAft>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10869" y="-828426"/>
            <a:ext cx="6755642" cy="2387600"/>
          </a:xfrm>
        </p:spPr>
        <p:txBody>
          <a:bodyPr>
            <a:normAutofit fontScale="90000"/>
          </a:bodyPr>
          <a:lstStyle/>
          <a:p>
            <a:r>
              <a:rPr lang="en-US" sz="4800" dirty="0" smtClean="0">
                <a:latin typeface="Times New Roman" panose="02020603050405020304" pitchFamily="18" charset="0"/>
                <a:cs typeface="Times New Roman" panose="02020603050405020304" pitchFamily="18" charset="0"/>
              </a:rPr>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
            </a:r>
            <a:br>
              <a:rPr lang="en-US" sz="4800" dirty="0" smtClean="0">
                <a:latin typeface="Times New Roman" panose="02020603050405020304" pitchFamily="18" charset="0"/>
                <a:cs typeface="Times New Roman" panose="02020603050405020304" pitchFamily="18" charset="0"/>
              </a:rPr>
            </a:br>
            <a:r>
              <a:rPr lang="en-US" sz="4400" dirty="0" smtClean="0">
                <a:latin typeface="Times New Roman" panose="02020603050405020304" pitchFamily="18" charset="0"/>
                <a:cs typeface="Times New Roman" panose="02020603050405020304" pitchFamily="18" charset="0"/>
              </a:rPr>
              <a:t>INTERNATIONAL PROFESSIONAL PRACTICE FRAMEWORK (IPPF)</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901938" y="3843025"/>
            <a:ext cx="6082352" cy="574177"/>
          </a:xfrm>
        </p:spPr>
        <p:txBody>
          <a:bodyPr>
            <a:normAutofit fontScale="25000" lnSpcReduction="20000"/>
          </a:bodyPr>
          <a:lstStyle/>
          <a:p>
            <a:pPr algn="ctr"/>
            <a:r>
              <a:rPr lang="en-US" sz="9600" b="1" dirty="0" smtClean="0">
                <a:latin typeface="Times New Roman" panose="02020603050405020304" pitchFamily="18" charset="0"/>
                <a:cs typeface="Times New Roman" panose="02020603050405020304" pitchFamily="18" charset="0"/>
              </a:rPr>
              <a:t>Mission of GIA as per IPPF</a:t>
            </a:r>
            <a:r>
              <a:rPr lang="en-US" sz="12800" dirty="0" smtClean="0">
                <a:latin typeface="Times New Roman" panose="02020603050405020304" pitchFamily="18" charset="0"/>
                <a:cs typeface="Times New Roman" panose="02020603050405020304" pitchFamily="18" charset="0"/>
              </a:rPr>
              <a:t/>
            </a:r>
            <a:br>
              <a:rPr lang="en-US" sz="12800" dirty="0" smtClean="0">
                <a:latin typeface="Times New Roman" panose="02020603050405020304" pitchFamily="18" charset="0"/>
                <a:cs typeface="Times New Roman" panose="02020603050405020304" pitchFamily="18" charset="0"/>
              </a:rPr>
            </a:br>
            <a:r>
              <a:rPr lang="en-US" sz="6400" dirty="0" smtClean="0">
                <a:latin typeface="Times New Roman" panose="02020603050405020304" pitchFamily="18" charset="0"/>
                <a:cs typeface="Times New Roman" panose="02020603050405020304" pitchFamily="18" charset="0"/>
              </a:rPr>
              <a:t>To enhance and protect the organizational value </a:t>
            </a:r>
            <a:br>
              <a:rPr lang="en-US" sz="6400" dirty="0" smtClean="0">
                <a:latin typeface="Times New Roman" panose="02020603050405020304" pitchFamily="18" charset="0"/>
                <a:cs typeface="Times New Roman" panose="02020603050405020304" pitchFamily="18" charset="0"/>
              </a:rPr>
            </a:br>
            <a:r>
              <a:rPr lang="en-US" sz="6400" dirty="0" smtClean="0">
                <a:latin typeface="Times New Roman" panose="02020603050405020304" pitchFamily="18" charset="0"/>
                <a:cs typeface="Times New Roman" panose="02020603050405020304" pitchFamily="18" charset="0"/>
              </a:rPr>
              <a:t>by providing risk – based and objective assurance, advice and insight</a:t>
            </a:r>
            <a:r>
              <a:rPr lang="en-US" sz="4800" dirty="0" smtClean="0">
                <a:latin typeface="Times New Roman" panose="02020603050405020304" pitchFamily="18" charset="0"/>
                <a:cs typeface="Times New Roman" panose="02020603050405020304" pitchFamily="18" charset="0"/>
              </a:rPr>
              <a:t>.</a:t>
            </a:r>
          </a:p>
          <a:p>
            <a:endParaRPr lang="en-US" sz="8000" dirty="0" smtClean="0">
              <a:latin typeface="Times New Roman" panose="02020603050405020304" pitchFamily="18" charset="0"/>
              <a:cs typeface="Times New Roman" panose="02020603050405020304" pitchFamily="18" charset="0"/>
            </a:endParaRPr>
          </a:p>
          <a:p>
            <a:endParaRPr lang="en-US" sz="9600" dirty="0" smtClean="0">
              <a:latin typeface="Times New Roman" panose="02020603050405020304" pitchFamily="18" charset="0"/>
              <a:cs typeface="Times New Roman" panose="02020603050405020304" pitchFamily="18" charset="0"/>
            </a:endParaRPr>
          </a:p>
          <a:p>
            <a:pPr marL="914400" lvl="2" indent="0" algn="r">
              <a:buNone/>
            </a:pPr>
            <a:r>
              <a:rPr lang="en-US" sz="9000" dirty="0" smtClean="0">
                <a:latin typeface="Times New Roman" panose="02020603050405020304" pitchFamily="18" charset="0"/>
                <a:cs typeface="Times New Roman" panose="02020603050405020304" pitchFamily="18" charset="0"/>
              </a:rPr>
              <a:t>Prepared By: </a:t>
            </a:r>
            <a:r>
              <a:rPr lang="en-US" sz="9000" b="1" i="1" dirty="0" smtClean="0">
                <a:latin typeface="Times New Roman" panose="02020603050405020304" pitchFamily="18" charset="0"/>
                <a:cs typeface="Times New Roman" panose="02020603050405020304" pitchFamily="18" charset="0"/>
              </a:rPr>
              <a:t>Khawaja Fawwad Ahmad</a:t>
            </a:r>
            <a:endParaRPr lang="en-US" sz="9000" b="1" i="1" dirty="0">
              <a:latin typeface="Times New Roman" panose="02020603050405020304" pitchFamily="18" charset="0"/>
              <a:cs typeface="Times New Roman" panose="02020603050405020304" pitchFamily="18" charset="0"/>
            </a:endParaRPr>
          </a:p>
        </p:txBody>
      </p:sp>
      <p:pic>
        <p:nvPicPr>
          <p:cNvPr id="5" name="Content Placeholder 5"/>
          <p:cNvPicPr>
            <a:picLocks noChangeAspect="1"/>
          </p:cNvPicPr>
          <p:nvPr/>
        </p:nvPicPr>
        <p:blipFill>
          <a:blip r:embed="rId3"/>
          <a:stretch>
            <a:fillRect/>
          </a:stretch>
        </p:blipFill>
        <p:spPr>
          <a:xfrm>
            <a:off x="900747" y="1082264"/>
            <a:ext cx="3755530" cy="3339608"/>
          </a:xfrm>
          <a:prstGeom prst="rect">
            <a:avLst/>
          </a:prstGeom>
        </p:spPr>
      </p:pic>
      <p:sp>
        <p:nvSpPr>
          <p:cNvPr id="4" name="Slide Number Placeholder 3"/>
          <p:cNvSpPr>
            <a:spLocks noGrp="1"/>
          </p:cNvSpPr>
          <p:nvPr>
            <p:ph type="sldNum" sz="quarter" idx="12"/>
          </p:nvPr>
        </p:nvSpPr>
        <p:spPr/>
        <p:txBody>
          <a:bodyPr/>
          <a:lstStyle/>
          <a:p>
            <a:fld id="{6E2F3C12-4A6A-4212-A157-AE121822CE5B}" type="slidenum">
              <a:rPr lang="en-US" smtClean="0"/>
              <a:t>1</a:t>
            </a:fld>
            <a:endParaRPr lang="en-US"/>
          </a:p>
        </p:txBody>
      </p:sp>
      <p:sp>
        <p:nvSpPr>
          <p:cNvPr id="6" name="GTBClassificationH1594759844"/>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5063273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8"/>
          <p:cNvSpPr>
            <a:spLocks/>
          </p:cNvSpPr>
          <p:nvPr/>
        </p:nvSpPr>
        <p:spPr bwMode="gray">
          <a:xfrm>
            <a:off x="557291" y="1150640"/>
            <a:ext cx="4724400" cy="838200"/>
          </a:xfrm>
          <a:custGeom>
            <a:avLst/>
            <a:gdLst/>
            <a:ahLst/>
            <a:cxnLst>
              <a:cxn ang="0">
                <a:pos x="5314" y="3497"/>
              </a:cxn>
              <a:cxn ang="0">
                <a:pos x="4649" y="3497"/>
              </a:cxn>
              <a:cxn ang="0">
                <a:pos x="3985" y="3497"/>
              </a:cxn>
              <a:cxn ang="0">
                <a:pos x="3320" y="3497"/>
              </a:cxn>
              <a:cxn ang="0">
                <a:pos x="2657" y="3497"/>
              </a:cxn>
              <a:cxn ang="0">
                <a:pos x="1992" y="3497"/>
              </a:cxn>
              <a:cxn ang="0">
                <a:pos x="1328" y="3497"/>
              </a:cxn>
              <a:cxn ang="0">
                <a:pos x="663" y="3497"/>
              </a:cxn>
              <a:cxn ang="0">
                <a:pos x="0" y="3497"/>
              </a:cxn>
              <a:cxn ang="0">
                <a:pos x="0" y="3060"/>
              </a:cxn>
              <a:cxn ang="0">
                <a:pos x="0" y="2623"/>
              </a:cxn>
              <a:cxn ang="0">
                <a:pos x="0" y="2185"/>
              </a:cxn>
              <a:cxn ang="0">
                <a:pos x="0" y="1748"/>
              </a:cxn>
              <a:cxn ang="0">
                <a:pos x="0" y="1311"/>
              </a:cxn>
              <a:cxn ang="0">
                <a:pos x="0" y="874"/>
              </a:cxn>
              <a:cxn ang="0">
                <a:pos x="0" y="436"/>
              </a:cxn>
              <a:cxn ang="0">
                <a:pos x="0" y="0"/>
              </a:cxn>
              <a:cxn ang="0">
                <a:pos x="749" y="0"/>
              </a:cxn>
              <a:cxn ang="0">
                <a:pos x="1498" y="0"/>
              </a:cxn>
              <a:cxn ang="0">
                <a:pos x="2247" y="0"/>
              </a:cxn>
              <a:cxn ang="0">
                <a:pos x="2996" y="0"/>
              </a:cxn>
              <a:cxn ang="0">
                <a:pos x="3745" y="0"/>
              </a:cxn>
              <a:cxn ang="0">
                <a:pos x="4494" y="0"/>
              </a:cxn>
              <a:cxn ang="0">
                <a:pos x="5244" y="0"/>
              </a:cxn>
              <a:cxn ang="0">
                <a:pos x="5993" y="0"/>
              </a:cxn>
              <a:cxn ang="0">
                <a:pos x="5908" y="436"/>
              </a:cxn>
              <a:cxn ang="0">
                <a:pos x="5823" y="874"/>
              </a:cxn>
              <a:cxn ang="0">
                <a:pos x="5738" y="1311"/>
              </a:cxn>
              <a:cxn ang="0">
                <a:pos x="5653" y="1748"/>
              </a:cxn>
              <a:cxn ang="0">
                <a:pos x="5568" y="2185"/>
              </a:cxn>
              <a:cxn ang="0">
                <a:pos x="5483" y="2623"/>
              </a:cxn>
              <a:cxn ang="0">
                <a:pos x="5398" y="3060"/>
              </a:cxn>
              <a:cxn ang="0">
                <a:pos x="5314" y="3497"/>
              </a:cxn>
            </a:cxnLst>
            <a:rect l="0" t="0" r="r" b="b"/>
            <a:pathLst>
              <a:path w="5993" h="3497">
                <a:moveTo>
                  <a:pt x="5314" y="3497"/>
                </a:moveTo>
                <a:lnTo>
                  <a:pt x="4649" y="3497"/>
                </a:lnTo>
                <a:lnTo>
                  <a:pt x="3985" y="3497"/>
                </a:lnTo>
                <a:lnTo>
                  <a:pt x="3320" y="3497"/>
                </a:lnTo>
                <a:lnTo>
                  <a:pt x="2657" y="3497"/>
                </a:lnTo>
                <a:lnTo>
                  <a:pt x="1992" y="3497"/>
                </a:lnTo>
                <a:lnTo>
                  <a:pt x="1328" y="3497"/>
                </a:lnTo>
                <a:lnTo>
                  <a:pt x="663" y="3497"/>
                </a:lnTo>
                <a:lnTo>
                  <a:pt x="0" y="3497"/>
                </a:lnTo>
                <a:lnTo>
                  <a:pt x="0" y="3060"/>
                </a:lnTo>
                <a:lnTo>
                  <a:pt x="0" y="2623"/>
                </a:lnTo>
                <a:lnTo>
                  <a:pt x="0" y="2185"/>
                </a:lnTo>
                <a:lnTo>
                  <a:pt x="0" y="1748"/>
                </a:lnTo>
                <a:lnTo>
                  <a:pt x="0" y="1311"/>
                </a:lnTo>
                <a:lnTo>
                  <a:pt x="0" y="874"/>
                </a:lnTo>
                <a:lnTo>
                  <a:pt x="0" y="436"/>
                </a:lnTo>
                <a:lnTo>
                  <a:pt x="0" y="0"/>
                </a:lnTo>
                <a:lnTo>
                  <a:pt x="749" y="0"/>
                </a:lnTo>
                <a:lnTo>
                  <a:pt x="1498" y="0"/>
                </a:lnTo>
                <a:lnTo>
                  <a:pt x="2247" y="0"/>
                </a:lnTo>
                <a:lnTo>
                  <a:pt x="2996" y="0"/>
                </a:lnTo>
                <a:lnTo>
                  <a:pt x="3745" y="0"/>
                </a:lnTo>
                <a:lnTo>
                  <a:pt x="4494" y="0"/>
                </a:lnTo>
                <a:lnTo>
                  <a:pt x="5244" y="0"/>
                </a:lnTo>
                <a:lnTo>
                  <a:pt x="5993" y="0"/>
                </a:lnTo>
                <a:lnTo>
                  <a:pt x="5908" y="436"/>
                </a:lnTo>
                <a:lnTo>
                  <a:pt x="5823" y="874"/>
                </a:lnTo>
                <a:lnTo>
                  <a:pt x="5738" y="1311"/>
                </a:lnTo>
                <a:lnTo>
                  <a:pt x="5653" y="1748"/>
                </a:lnTo>
                <a:lnTo>
                  <a:pt x="5568" y="2185"/>
                </a:lnTo>
                <a:lnTo>
                  <a:pt x="5483" y="2623"/>
                </a:lnTo>
                <a:lnTo>
                  <a:pt x="5398" y="3060"/>
                </a:lnTo>
                <a:lnTo>
                  <a:pt x="5314" y="3497"/>
                </a:lnTo>
                <a:close/>
              </a:path>
            </a:pathLst>
          </a:custGeom>
          <a:solidFill>
            <a:srgbClr val="FA0000"/>
          </a:solidFill>
          <a:ln w="9525">
            <a:noFill/>
            <a:round/>
            <a:headEnd/>
            <a:tailEnd/>
          </a:ln>
        </p:spPr>
        <p:txBody>
          <a:bodyPr rIns="274320" anchor="ctr" anchorCtr="0"/>
          <a:lstStyle/>
          <a:p>
            <a:pPr marL="346075" indent="-346075" fontAlgn="base">
              <a:lnSpc>
                <a:spcPts val="3700"/>
              </a:lnSpc>
              <a:buClr>
                <a:srgbClr val="FFE600"/>
              </a:buClr>
              <a:buSzPct val="75000"/>
              <a:defRPr/>
            </a:pPr>
            <a:r>
              <a:rPr lang="en-US" sz="2000" b="1" dirty="0">
                <a:solidFill>
                  <a:schemeClr val="bg1"/>
                </a:solidFill>
                <a:latin typeface="Calibri" panose="020F0502020204030204" pitchFamily="34" charset="0"/>
              </a:rPr>
              <a:t>Index</a:t>
            </a:r>
          </a:p>
        </p:txBody>
      </p:sp>
      <p:sp>
        <p:nvSpPr>
          <p:cNvPr id="10" name="Freeform 9"/>
          <p:cNvSpPr>
            <a:spLocks/>
          </p:cNvSpPr>
          <p:nvPr/>
        </p:nvSpPr>
        <p:spPr bwMode="gray">
          <a:xfrm>
            <a:off x="547559" y="2132856"/>
            <a:ext cx="7236296" cy="3946376"/>
          </a:xfrm>
          <a:custGeom>
            <a:avLst/>
            <a:gdLst/>
            <a:ahLst/>
            <a:cxnLst>
              <a:cxn ang="0">
                <a:pos x="5314" y="3497"/>
              </a:cxn>
              <a:cxn ang="0">
                <a:pos x="4649" y="3497"/>
              </a:cxn>
              <a:cxn ang="0">
                <a:pos x="3985" y="3497"/>
              </a:cxn>
              <a:cxn ang="0">
                <a:pos x="3320" y="3497"/>
              </a:cxn>
              <a:cxn ang="0">
                <a:pos x="2657" y="3497"/>
              </a:cxn>
              <a:cxn ang="0">
                <a:pos x="1992" y="3497"/>
              </a:cxn>
              <a:cxn ang="0">
                <a:pos x="1328" y="3497"/>
              </a:cxn>
              <a:cxn ang="0">
                <a:pos x="663" y="3497"/>
              </a:cxn>
              <a:cxn ang="0">
                <a:pos x="0" y="3497"/>
              </a:cxn>
              <a:cxn ang="0">
                <a:pos x="0" y="3060"/>
              </a:cxn>
              <a:cxn ang="0">
                <a:pos x="0" y="2623"/>
              </a:cxn>
              <a:cxn ang="0">
                <a:pos x="0" y="2185"/>
              </a:cxn>
              <a:cxn ang="0">
                <a:pos x="0" y="1748"/>
              </a:cxn>
              <a:cxn ang="0">
                <a:pos x="0" y="1311"/>
              </a:cxn>
              <a:cxn ang="0">
                <a:pos x="0" y="874"/>
              </a:cxn>
              <a:cxn ang="0">
                <a:pos x="0" y="436"/>
              </a:cxn>
              <a:cxn ang="0">
                <a:pos x="0" y="0"/>
              </a:cxn>
              <a:cxn ang="0">
                <a:pos x="749" y="0"/>
              </a:cxn>
              <a:cxn ang="0">
                <a:pos x="1498" y="0"/>
              </a:cxn>
              <a:cxn ang="0">
                <a:pos x="2247" y="0"/>
              </a:cxn>
              <a:cxn ang="0">
                <a:pos x="2996" y="0"/>
              </a:cxn>
              <a:cxn ang="0">
                <a:pos x="3745" y="0"/>
              </a:cxn>
              <a:cxn ang="0">
                <a:pos x="4494" y="0"/>
              </a:cxn>
              <a:cxn ang="0">
                <a:pos x="5244" y="0"/>
              </a:cxn>
              <a:cxn ang="0">
                <a:pos x="5993" y="0"/>
              </a:cxn>
              <a:cxn ang="0">
                <a:pos x="5908" y="436"/>
              </a:cxn>
              <a:cxn ang="0">
                <a:pos x="5823" y="874"/>
              </a:cxn>
              <a:cxn ang="0">
                <a:pos x="5738" y="1311"/>
              </a:cxn>
              <a:cxn ang="0">
                <a:pos x="5653" y="1748"/>
              </a:cxn>
              <a:cxn ang="0">
                <a:pos x="5568" y="2185"/>
              </a:cxn>
              <a:cxn ang="0">
                <a:pos x="5483" y="2623"/>
              </a:cxn>
              <a:cxn ang="0">
                <a:pos x="5398" y="3060"/>
              </a:cxn>
              <a:cxn ang="0">
                <a:pos x="5314" y="3497"/>
              </a:cxn>
            </a:cxnLst>
            <a:rect l="0" t="0" r="r" b="b"/>
            <a:pathLst>
              <a:path w="5993" h="3497">
                <a:moveTo>
                  <a:pt x="5314" y="3497"/>
                </a:moveTo>
                <a:lnTo>
                  <a:pt x="4649" y="3497"/>
                </a:lnTo>
                <a:lnTo>
                  <a:pt x="3985" y="3497"/>
                </a:lnTo>
                <a:lnTo>
                  <a:pt x="3320" y="3497"/>
                </a:lnTo>
                <a:lnTo>
                  <a:pt x="2657" y="3497"/>
                </a:lnTo>
                <a:lnTo>
                  <a:pt x="1992" y="3497"/>
                </a:lnTo>
                <a:lnTo>
                  <a:pt x="1328" y="3497"/>
                </a:lnTo>
                <a:lnTo>
                  <a:pt x="663" y="3497"/>
                </a:lnTo>
                <a:lnTo>
                  <a:pt x="0" y="3497"/>
                </a:lnTo>
                <a:lnTo>
                  <a:pt x="0" y="3060"/>
                </a:lnTo>
                <a:lnTo>
                  <a:pt x="0" y="2623"/>
                </a:lnTo>
                <a:lnTo>
                  <a:pt x="0" y="2185"/>
                </a:lnTo>
                <a:lnTo>
                  <a:pt x="0" y="1748"/>
                </a:lnTo>
                <a:lnTo>
                  <a:pt x="0" y="1311"/>
                </a:lnTo>
                <a:lnTo>
                  <a:pt x="0" y="874"/>
                </a:lnTo>
                <a:lnTo>
                  <a:pt x="0" y="436"/>
                </a:lnTo>
                <a:lnTo>
                  <a:pt x="0" y="0"/>
                </a:lnTo>
                <a:lnTo>
                  <a:pt x="749" y="0"/>
                </a:lnTo>
                <a:lnTo>
                  <a:pt x="1498" y="0"/>
                </a:lnTo>
                <a:lnTo>
                  <a:pt x="2247" y="0"/>
                </a:lnTo>
                <a:lnTo>
                  <a:pt x="2996" y="0"/>
                </a:lnTo>
                <a:lnTo>
                  <a:pt x="3745" y="0"/>
                </a:lnTo>
                <a:lnTo>
                  <a:pt x="4494" y="0"/>
                </a:lnTo>
                <a:lnTo>
                  <a:pt x="5244" y="0"/>
                </a:lnTo>
                <a:lnTo>
                  <a:pt x="5993" y="0"/>
                </a:lnTo>
                <a:lnTo>
                  <a:pt x="5908" y="436"/>
                </a:lnTo>
                <a:lnTo>
                  <a:pt x="5823" y="874"/>
                </a:lnTo>
                <a:lnTo>
                  <a:pt x="5738" y="1311"/>
                </a:lnTo>
                <a:lnTo>
                  <a:pt x="5653" y="1748"/>
                </a:lnTo>
                <a:lnTo>
                  <a:pt x="5568" y="2185"/>
                </a:lnTo>
                <a:lnTo>
                  <a:pt x="5483" y="2623"/>
                </a:lnTo>
                <a:lnTo>
                  <a:pt x="5398" y="3060"/>
                </a:lnTo>
                <a:lnTo>
                  <a:pt x="5314" y="3497"/>
                </a:lnTo>
                <a:close/>
              </a:path>
            </a:pathLst>
          </a:custGeom>
          <a:solidFill>
            <a:srgbClr val="FFFFFF">
              <a:lumMod val="50000"/>
            </a:srgbClr>
          </a:solidFill>
          <a:ln w="9525">
            <a:noFill/>
            <a:round/>
            <a:headEnd/>
            <a:tailEnd/>
          </a:ln>
        </p:spPr>
        <p:txBody>
          <a:bodyPr rIns="274320" anchor="ctr" anchorCtr="0"/>
          <a:lstStyle/>
          <a:p>
            <a:pPr marL="346075" indent="-346075">
              <a:lnSpc>
                <a:spcPct val="150000"/>
              </a:lnSpc>
              <a:buClr>
                <a:srgbClr val="FFD200"/>
              </a:buClr>
              <a:buSzPct val="100000"/>
              <a:defRPr/>
            </a:pPr>
            <a:endParaRPr lang="en-US" sz="1400" b="1" kern="0" dirty="0">
              <a:solidFill>
                <a:srgbClr val="FFFFFF"/>
              </a:solidFill>
              <a:latin typeface="EYInterstate Light" pitchFamily="2" charset="0"/>
            </a:endParaRP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3054847703"/>
              </p:ext>
            </p:extLst>
          </p:nvPr>
        </p:nvGraphicFramePr>
        <p:xfrm>
          <a:off x="584006" y="2276872"/>
          <a:ext cx="6134950" cy="2208272"/>
        </p:xfrm>
        <a:graphic>
          <a:graphicData uri="http://schemas.openxmlformats.org/drawingml/2006/table">
            <a:tbl>
              <a:tblPr firstRow="1" bandRow="1">
                <a:tableStyleId>{5C22544A-7EE6-4342-B048-85BDC9FD1C3A}</a:tableStyleId>
              </a:tblPr>
              <a:tblGrid>
                <a:gridCol w="459243"/>
                <a:gridCol w="4666325"/>
                <a:gridCol w="1009382"/>
              </a:tblGrid>
              <a:tr h="288032">
                <a:tc gridSpan="2">
                  <a:txBody>
                    <a:bodyPr/>
                    <a:lstStyle/>
                    <a:p>
                      <a:pPr marL="0" algn="l" defTabSz="839694" rtl="0" eaLnBrk="1" latinLnBrk="0" hangingPunct="1"/>
                      <a:r>
                        <a:rPr lang="en-US" sz="1200" b="1" kern="1200" dirty="0" smtClean="0">
                          <a:solidFill>
                            <a:srgbClr val="FFC000"/>
                          </a:solidFill>
                          <a:latin typeface="Calibri" panose="020F0502020204030204" pitchFamily="34" charset="0"/>
                          <a:ea typeface="+mn-ea"/>
                          <a:cs typeface="+mn-cs"/>
                        </a:rPr>
                        <a:t>Section</a:t>
                      </a:r>
                    </a:p>
                  </a:txBody>
                  <a:tcPr marL="84406" marR="84406">
                    <a:lnL w="12700" cmpd="sng">
                      <a:noFill/>
                    </a:lnL>
                    <a:lnR w="12700" cap="flat" cmpd="sng" algn="ctr">
                      <a:no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hMerge="1">
                  <a:txBody>
                    <a:bodyPr/>
                    <a:lstStyle/>
                    <a:p>
                      <a:endParaRPr lang="en-US" dirty="0"/>
                    </a:p>
                  </a:txBody>
                  <a:tcPr>
                    <a:solidFill>
                      <a:schemeClr val="accent1">
                        <a:alpha val="0"/>
                      </a:schemeClr>
                    </a:solidFill>
                  </a:tcPr>
                </a:tc>
                <a:tc>
                  <a:txBody>
                    <a:bodyPr/>
                    <a:lstStyle/>
                    <a:p>
                      <a:pPr marL="0" algn="ctr" defTabSz="839694" rtl="0" eaLnBrk="1" latinLnBrk="0" hangingPunct="1"/>
                      <a:r>
                        <a:rPr lang="en-US" sz="1200" b="1" kern="1200" dirty="0" smtClean="0">
                          <a:solidFill>
                            <a:srgbClr val="FFC000"/>
                          </a:solidFill>
                          <a:latin typeface="Calibri" panose="020F0502020204030204" pitchFamily="34" charset="0"/>
                          <a:ea typeface="+mn-ea"/>
                          <a:cs typeface="+mn-cs"/>
                        </a:rPr>
                        <a:t>Slide No.</a:t>
                      </a:r>
                    </a:p>
                  </a:txBody>
                  <a:tcPr marL="84406" marR="84406">
                    <a:lnL w="12700" cap="flat" cmpd="sng" algn="ctr">
                      <a:no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1</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r>
                        <a:rPr lang="en-US" sz="1200" dirty="0" smtClean="0">
                          <a:solidFill>
                            <a:schemeClr val="bg1"/>
                          </a:solidFill>
                          <a:latin typeface="Calibri" panose="020F0502020204030204" pitchFamily="34" charset="0"/>
                        </a:rPr>
                        <a:t>IPPF Mandatory</a:t>
                      </a:r>
                      <a:r>
                        <a:rPr lang="en-US" sz="1200" baseline="0" dirty="0" smtClean="0">
                          <a:solidFill>
                            <a:schemeClr val="bg1"/>
                          </a:solidFill>
                          <a:latin typeface="Calibri" panose="020F0502020204030204" pitchFamily="34" charset="0"/>
                        </a:rPr>
                        <a:t>  Guidelines – Core Principles</a:t>
                      </a:r>
                      <a:endParaRPr lang="en-US" sz="1200" dirty="0" smtClean="0">
                        <a:solidFill>
                          <a:schemeClr val="bg1"/>
                        </a:solidFill>
                        <a:latin typeface="Calibri" panose="020F0502020204030204" pitchFamily="34" charset="0"/>
                      </a:endParaRP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US" sz="1200" kern="1200" dirty="0" smtClean="0">
                          <a:solidFill>
                            <a:schemeClr val="bg1"/>
                          </a:solidFill>
                          <a:latin typeface="+mn-lt"/>
                          <a:ea typeface="+mn-ea"/>
                          <a:cs typeface="+mn-cs"/>
                        </a:rPr>
                        <a:t>3</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2</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r>
                        <a:rPr lang="en-US" sz="1200" dirty="0" smtClean="0">
                          <a:solidFill>
                            <a:schemeClr val="bg1"/>
                          </a:solidFill>
                          <a:latin typeface="Calibri" panose="020F0502020204030204" pitchFamily="34" charset="0"/>
                        </a:rPr>
                        <a:t>IPPF Mandatory</a:t>
                      </a:r>
                      <a:r>
                        <a:rPr lang="en-US" sz="1200" baseline="0" dirty="0" smtClean="0">
                          <a:solidFill>
                            <a:schemeClr val="bg1"/>
                          </a:solidFill>
                          <a:latin typeface="Calibri" panose="020F0502020204030204" pitchFamily="34" charset="0"/>
                        </a:rPr>
                        <a:t>  Guidelines – Definition</a:t>
                      </a:r>
                      <a:endParaRPr lang="en-US" sz="1200" dirty="0" smtClean="0">
                        <a:solidFill>
                          <a:schemeClr val="bg1"/>
                        </a:solidFill>
                        <a:latin typeface="Calibri" panose="020F0502020204030204" pitchFamily="34" charset="0"/>
                      </a:endParaRP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US" sz="1200" kern="1200" dirty="0" smtClean="0">
                          <a:solidFill>
                            <a:schemeClr val="bg1"/>
                          </a:solidFill>
                          <a:latin typeface="+mn-lt"/>
                          <a:ea typeface="+mn-ea"/>
                          <a:cs typeface="+mn-cs"/>
                        </a:rPr>
                        <a:t>4</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3</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r>
                        <a:rPr lang="en-US" sz="1200" dirty="0" smtClean="0">
                          <a:solidFill>
                            <a:schemeClr val="bg1"/>
                          </a:solidFill>
                          <a:latin typeface="Calibri" panose="020F0502020204030204" pitchFamily="34" charset="0"/>
                        </a:rPr>
                        <a:t>IPPF Mandatory</a:t>
                      </a:r>
                      <a:r>
                        <a:rPr lang="en-US" sz="1200" baseline="0" dirty="0" smtClean="0">
                          <a:solidFill>
                            <a:schemeClr val="bg1"/>
                          </a:solidFill>
                          <a:latin typeface="Calibri" panose="020F0502020204030204" pitchFamily="34" charset="0"/>
                        </a:rPr>
                        <a:t>  Guidelines – Code of Ethics</a:t>
                      </a:r>
                      <a:endParaRPr lang="en-US" sz="1200" dirty="0" smtClean="0">
                        <a:solidFill>
                          <a:schemeClr val="bg1"/>
                        </a:solidFill>
                        <a:latin typeface="Calibri" panose="020F0502020204030204" pitchFamily="34" charset="0"/>
                      </a:endParaRP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US" sz="1200" kern="1200" dirty="0" smtClean="0">
                          <a:solidFill>
                            <a:schemeClr val="bg1"/>
                          </a:solidFill>
                          <a:latin typeface="+mn-lt"/>
                          <a:ea typeface="+mn-ea"/>
                          <a:cs typeface="+mn-cs"/>
                        </a:rPr>
                        <a:t>5</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4</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r>
                        <a:rPr lang="en-US" sz="1200" dirty="0" smtClean="0">
                          <a:solidFill>
                            <a:schemeClr val="bg1"/>
                          </a:solidFill>
                          <a:latin typeface="Calibri" panose="020F0502020204030204" pitchFamily="34" charset="0"/>
                        </a:rPr>
                        <a:t>IPPF Recommended </a:t>
                      </a:r>
                      <a:r>
                        <a:rPr lang="en-US" sz="1200" baseline="0" dirty="0" smtClean="0">
                          <a:solidFill>
                            <a:schemeClr val="bg1"/>
                          </a:solidFill>
                          <a:latin typeface="Calibri" panose="020F0502020204030204" pitchFamily="34" charset="0"/>
                        </a:rPr>
                        <a:t>Guidelines </a:t>
                      </a:r>
                      <a:endParaRPr lang="en-US" sz="1200" dirty="0" smtClean="0">
                        <a:solidFill>
                          <a:schemeClr val="bg1"/>
                        </a:solidFill>
                        <a:latin typeface="Calibri" panose="020F0502020204030204" pitchFamily="34" charset="0"/>
                      </a:endParaRP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US" sz="1200" kern="1200" dirty="0" smtClean="0">
                          <a:solidFill>
                            <a:schemeClr val="bg1"/>
                          </a:solidFill>
                          <a:latin typeface="+mn-lt"/>
                          <a:ea typeface="+mn-ea"/>
                          <a:cs typeface="+mn-cs"/>
                        </a:rPr>
                        <a:t>6</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5</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latin typeface="Calibri" panose="020F0502020204030204" pitchFamily="34" charset="0"/>
                        </a:rPr>
                        <a:t>IPPF Standards</a:t>
                      </a: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US" sz="1200" kern="1200" dirty="0" smtClean="0">
                          <a:solidFill>
                            <a:schemeClr val="bg1"/>
                          </a:solidFill>
                          <a:latin typeface="+mn-lt"/>
                          <a:ea typeface="+mn-ea"/>
                          <a:cs typeface="+mn-cs"/>
                        </a:rPr>
                        <a:t>7</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6</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latin typeface="Calibri" panose="020F0502020204030204" pitchFamily="34" charset="0"/>
                        </a:rPr>
                        <a:t>Attribute Standards</a:t>
                      </a: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GB" sz="1200" kern="1200" dirty="0" smtClean="0">
                          <a:solidFill>
                            <a:schemeClr val="bg1"/>
                          </a:solidFill>
                          <a:latin typeface="+mn-lt"/>
                          <a:ea typeface="+mn-ea"/>
                          <a:cs typeface="+mn-cs"/>
                        </a:rPr>
                        <a:t>8</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r h="124253">
                <a:tc>
                  <a:txBody>
                    <a:bodyPr/>
                    <a:lstStyle/>
                    <a:p>
                      <a:pPr algn="ctr"/>
                      <a:r>
                        <a:rPr lang="en-US" sz="1200" dirty="0" smtClean="0">
                          <a:solidFill>
                            <a:schemeClr val="bg1"/>
                          </a:solidFill>
                          <a:latin typeface="Calibri" panose="020F0502020204030204" pitchFamily="34" charset="0"/>
                        </a:rPr>
                        <a:t>7</a:t>
                      </a:r>
                      <a:endParaRPr lang="en-US" sz="1200" dirty="0">
                        <a:solidFill>
                          <a:schemeClr val="bg1"/>
                        </a:solidFill>
                        <a:latin typeface="Calibri" panose="020F0502020204030204" pitchFamily="34" charset="0"/>
                      </a:endParaRPr>
                    </a:p>
                  </a:txBody>
                  <a:tcPr marL="84406" marR="84406">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bg1"/>
                          </a:solidFill>
                          <a:latin typeface="Calibri" panose="020F0502020204030204" pitchFamily="34" charset="0"/>
                        </a:rPr>
                        <a:t>Performance</a:t>
                      </a:r>
                      <a:r>
                        <a:rPr lang="en-US" sz="1200" baseline="0" dirty="0" smtClean="0">
                          <a:solidFill>
                            <a:schemeClr val="bg1"/>
                          </a:solidFill>
                          <a:latin typeface="Calibri" panose="020F0502020204030204" pitchFamily="34" charset="0"/>
                        </a:rPr>
                        <a:t> Standards</a:t>
                      </a:r>
                      <a:endParaRPr lang="en-US" sz="1200" dirty="0" smtClean="0">
                        <a:solidFill>
                          <a:schemeClr val="bg1"/>
                        </a:solidFill>
                        <a:latin typeface="Calibri" panose="020F0502020204030204" pitchFamily="34" charset="0"/>
                      </a:endParaRPr>
                    </a:p>
                  </a:txBody>
                  <a:tcPr marL="84406" marR="8440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c>
                  <a:txBody>
                    <a:bodyPr/>
                    <a:lstStyle/>
                    <a:p>
                      <a:pPr marL="0" algn="ctr" defTabSz="914400" rtl="0" eaLnBrk="1" latinLnBrk="0" hangingPunct="1"/>
                      <a:r>
                        <a:rPr lang="en-GB" sz="1200" kern="1200" dirty="0" smtClean="0">
                          <a:solidFill>
                            <a:schemeClr val="bg1"/>
                          </a:solidFill>
                          <a:latin typeface="+mn-lt"/>
                          <a:ea typeface="+mn-ea"/>
                          <a:cs typeface="+mn-cs"/>
                        </a:rPr>
                        <a:t>19</a:t>
                      </a:r>
                      <a:endParaRPr lang="en-GB" sz="1200" kern="1200" dirty="0">
                        <a:solidFill>
                          <a:schemeClr val="bg1"/>
                        </a:solidFill>
                        <a:latin typeface="+mn-lt"/>
                        <a:ea typeface="+mn-ea"/>
                        <a:cs typeface="+mn-cs"/>
                      </a:endParaRPr>
                    </a:p>
                  </a:txBody>
                  <a:tcPr marL="84406" marR="84406">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0"/>
                      </a:schemeClr>
                    </a:solidFill>
                  </a:tcPr>
                </a:tc>
              </a:tr>
            </a:tbl>
          </a:graphicData>
        </a:graphic>
      </p:graphicFrame>
      <p:sp>
        <p:nvSpPr>
          <p:cNvPr id="8" name="Freeform 7"/>
          <p:cNvSpPr>
            <a:spLocks/>
          </p:cNvSpPr>
          <p:nvPr/>
        </p:nvSpPr>
        <p:spPr bwMode="gray">
          <a:xfrm>
            <a:off x="547559" y="947564"/>
            <a:ext cx="5029200" cy="838200"/>
          </a:xfrm>
          <a:custGeom>
            <a:avLst/>
            <a:gdLst/>
            <a:ahLst/>
            <a:cxnLst>
              <a:cxn ang="0">
                <a:pos x="5314" y="3497"/>
              </a:cxn>
              <a:cxn ang="0">
                <a:pos x="4649" y="3497"/>
              </a:cxn>
              <a:cxn ang="0">
                <a:pos x="3985" y="3497"/>
              </a:cxn>
              <a:cxn ang="0">
                <a:pos x="3320" y="3497"/>
              </a:cxn>
              <a:cxn ang="0">
                <a:pos x="2657" y="3497"/>
              </a:cxn>
              <a:cxn ang="0">
                <a:pos x="1992" y="3497"/>
              </a:cxn>
              <a:cxn ang="0">
                <a:pos x="1328" y="3497"/>
              </a:cxn>
              <a:cxn ang="0">
                <a:pos x="663" y="3497"/>
              </a:cxn>
              <a:cxn ang="0">
                <a:pos x="0" y="3497"/>
              </a:cxn>
              <a:cxn ang="0">
                <a:pos x="0" y="3060"/>
              </a:cxn>
              <a:cxn ang="0">
                <a:pos x="0" y="2623"/>
              </a:cxn>
              <a:cxn ang="0">
                <a:pos x="0" y="2185"/>
              </a:cxn>
              <a:cxn ang="0">
                <a:pos x="0" y="1748"/>
              </a:cxn>
              <a:cxn ang="0">
                <a:pos x="0" y="1311"/>
              </a:cxn>
              <a:cxn ang="0">
                <a:pos x="0" y="874"/>
              </a:cxn>
              <a:cxn ang="0">
                <a:pos x="0" y="436"/>
              </a:cxn>
              <a:cxn ang="0">
                <a:pos x="0" y="0"/>
              </a:cxn>
              <a:cxn ang="0">
                <a:pos x="749" y="0"/>
              </a:cxn>
              <a:cxn ang="0">
                <a:pos x="1498" y="0"/>
              </a:cxn>
              <a:cxn ang="0">
                <a:pos x="2247" y="0"/>
              </a:cxn>
              <a:cxn ang="0">
                <a:pos x="2996" y="0"/>
              </a:cxn>
              <a:cxn ang="0">
                <a:pos x="3745" y="0"/>
              </a:cxn>
              <a:cxn ang="0">
                <a:pos x="4494" y="0"/>
              </a:cxn>
              <a:cxn ang="0">
                <a:pos x="5244" y="0"/>
              </a:cxn>
              <a:cxn ang="0">
                <a:pos x="5993" y="0"/>
              </a:cxn>
              <a:cxn ang="0">
                <a:pos x="5908" y="436"/>
              </a:cxn>
              <a:cxn ang="0">
                <a:pos x="5823" y="874"/>
              </a:cxn>
              <a:cxn ang="0">
                <a:pos x="5738" y="1311"/>
              </a:cxn>
              <a:cxn ang="0">
                <a:pos x="5653" y="1748"/>
              </a:cxn>
              <a:cxn ang="0">
                <a:pos x="5568" y="2185"/>
              </a:cxn>
              <a:cxn ang="0">
                <a:pos x="5483" y="2623"/>
              </a:cxn>
              <a:cxn ang="0">
                <a:pos x="5398" y="3060"/>
              </a:cxn>
              <a:cxn ang="0">
                <a:pos x="5314" y="3497"/>
              </a:cxn>
            </a:cxnLst>
            <a:rect l="0" t="0" r="r" b="b"/>
            <a:pathLst>
              <a:path w="5993" h="3497">
                <a:moveTo>
                  <a:pt x="5314" y="3497"/>
                </a:moveTo>
                <a:lnTo>
                  <a:pt x="4649" y="3497"/>
                </a:lnTo>
                <a:lnTo>
                  <a:pt x="3985" y="3497"/>
                </a:lnTo>
                <a:lnTo>
                  <a:pt x="3320" y="3497"/>
                </a:lnTo>
                <a:lnTo>
                  <a:pt x="2657" y="3497"/>
                </a:lnTo>
                <a:lnTo>
                  <a:pt x="1992" y="3497"/>
                </a:lnTo>
                <a:lnTo>
                  <a:pt x="1328" y="3497"/>
                </a:lnTo>
                <a:lnTo>
                  <a:pt x="663" y="3497"/>
                </a:lnTo>
                <a:lnTo>
                  <a:pt x="0" y="3497"/>
                </a:lnTo>
                <a:lnTo>
                  <a:pt x="0" y="3060"/>
                </a:lnTo>
                <a:lnTo>
                  <a:pt x="0" y="2623"/>
                </a:lnTo>
                <a:lnTo>
                  <a:pt x="0" y="2185"/>
                </a:lnTo>
                <a:lnTo>
                  <a:pt x="0" y="1748"/>
                </a:lnTo>
                <a:lnTo>
                  <a:pt x="0" y="1311"/>
                </a:lnTo>
                <a:lnTo>
                  <a:pt x="0" y="874"/>
                </a:lnTo>
                <a:lnTo>
                  <a:pt x="0" y="436"/>
                </a:lnTo>
                <a:lnTo>
                  <a:pt x="0" y="0"/>
                </a:lnTo>
                <a:lnTo>
                  <a:pt x="749" y="0"/>
                </a:lnTo>
                <a:lnTo>
                  <a:pt x="1498" y="0"/>
                </a:lnTo>
                <a:lnTo>
                  <a:pt x="2247" y="0"/>
                </a:lnTo>
                <a:lnTo>
                  <a:pt x="2996" y="0"/>
                </a:lnTo>
                <a:lnTo>
                  <a:pt x="3745" y="0"/>
                </a:lnTo>
                <a:lnTo>
                  <a:pt x="4494" y="0"/>
                </a:lnTo>
                <a:lnTo>
                  <a:pt x="5244" y="0"/>
                </a:lnTo>
                <a:lnTo>
                  <a:pt x="5993" y="0"/>
                </a:lnTo>
                <a:lnTo>
                  <a:pt x="5908" y="436"/>
                </a:lnTo>
                <a:lnTo>
                  <a:pt x="5823" y="874"/>
                </a:lnTo>
                <a:lnTo>
                  <a:pt x="5738" y="1311"/>
                </a:lnTo>
                <a:lnTo>
                  <a:pt x="5653" y="1748"/>
                </a:lnTo>
                <a:lnTo>
                  <a:pt x="5568" y="2185"/>
                </a:lnTo>
                <a:lnTo>
                  <a:pt x="5483" y="2623"/>
                </a:lnTo>
                <a:lnTo>
                  <a:pt x="5398" y="3060"/>
                </a:lnTo>
                <a:lnTo>
                  <a:pt x="5314" y="3497"/>
                </a:lnTo>
                <a:close/>
              </a:path>
            </a:pathLst>
          </a:custGeom>
          <a:solidFill>
            <a:srgbClr val="FFFFFF">
              <a:lumMod val="50000"/>
            </a:srgbClr>
          </a:solidFill>
          <a:ln w="9525">
            <a:noFill/>
            <a:round/>
            <a:headEnd/>
            <a:tailEnd/>
          </a:ln>
        </p:spPr>
        <p:txBody>
          <a:bodyPr rIns="274320" anchor="ctr" anchorCtr="0"/>
          <a:lstStyle/>
          <a:p>
            <a:pPr marL="231775">
              <a:lnSpc>
                <a:spcPts val="3700"/>
              </a:lnSpc>
              <a:buClr>
                <a:srgbClr val="FFD200"/>
              </a:buClr>
              <a:defRPr/>
            </a:pPr>
            <a:endParaRPr lang="en-US" sz="3200" b="1" kern="0" dirty="0">
              <a:solidFill>
                <a:srgbClr val="000000"/>
              </a:solidFill>
              <a:latin typeface="EYInterstate Light" pitchFamily="2" charset="0"/>
            </a:endParaRPr>
          </a:p>
        </p:txBody>
      </p:sp>
      <p:sp>
        <p:nvSpPr>
          <p:cNvPr id="2" name="TextBox 1"/>
          <p:cNvSpPr txBox="1"/>
          <p:nvPr/>
        </p:nvSpPr>
        <p:spPr>
          <a:xfrm>
            <a:off x="547559" y="1150640"/>
            <a:ext cx="3366628" cy="400110"/>
          </a:xfrm>
          <a:prstGeom prst="rect">
            <a:avLst/>
          </a:prstGeom>
          <a:noFill/>
        </p:spPr>
        <p:txBody>
          <a:bodyPr wrap="square" rtlCol="0">
            <a:spAutoFit/>
          </a:bodyPr>
          <a:lstStyle/>
          <a:p>
            <a:r>
              <a:rPr lang="en-US" sz="2000" b="1" dirty="0">
                <a:solidFill>
                  <a:schemeClr val="bg1"/>
                </a:solidFill>
              </a:rPr>
              <a:t>Contents </a:t>
            </a:r>
            <a:endParaRPr lang="en-GB" sz="2000" b="1" dirty="0">
              <a:solidFill>
                <a:schemeClr val="bg1"/>
              </a:solidFill>
            </a:endParaRPr>
          </a:p>
        </p:txBody>
      </p:sp>
      <p:sp>
        <p:nvSpPr>
          <p:cNvPr id="12" name="Rectangle 11"/>
          <p:cNvSpPr/>
          <p:nvPr/>
        </p:nvSpPr>
        <p:spPr>
          <a:xfrm>
            <a:off x="584006" y="289610"/>
            <a:ext cx="7488832" cy="523220"/>
          </a:xfrm>
          <a:prstGeom prst="rect">
            <a:avLst/>
          </a:prstGeom>
        </p:spPr>
        <p:txBody>
          <a:bodyPr wrap="square">
            <a:spAutoFit/>
          </a:bodyPr>
          <a:lstStyle/>
          <a:p>
            <a:r>
              <a:rPr lang="en-US" sz="2800" b="1" dirty="0">
                <a:solidFill>
                  <a:schemeClr val="bg1"/>
                </a:solidFill>
                <a:latin typeface="Calibri" panose="020F0502020204030204" pitchFamily="34" charset="0"/>
              </a:rPr>
              <a:t>Index</a:t>
            </a:r>
            <a:endParaRPr lang="en-GB" b="1" dirty="0">
              <a:solidFill>
                <a:schemeClr val="bg1"/>
              </a:solidFill>
              <a:latin typeface="Calibri" panose="020F0502020204030204" pitchFamily="34" charset="0"/>
            </a:endParaRPr>
          </a:p>
        </p:txBody>
      </p:sp>
      <p:sp>
        <p:nvSpPr>
          <p:cNvPr id="3" name="Slide Number Placeholder 2"/>
          <p:cNvSpPr>
            <a:spLocks noGrp="1"/>
          </p:cNvSpPr>
          <p:nvPr>
            <p:ph type="sldNum" sz="quarter" idx="12"/>
          </p:nvPr>
        </p:nvSpPr>
        <p:spPr/>
        <p:txBody>
          <a:bodyPr/>
          <a:lstStyle/>
          <a:p>
            <a:fld id="{6E2F3C12-4A6A-4212-A157-AE121822CE5B}" type="slidenum">
              <a:rPr lang="en-US" smtClean="0"/>
              <a:t>2</a:t>
            </a:fld>
            <a:endParaRPr lang="en-US"/>
          </a:p>
        </p:txBody>
      </p:sp>
      <p:sp>
        <p:nvSpPr>
          <p:cNvPr id="4" name="GTBClassificationH97799484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9197459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200" dirty="0" smtClean="0">
                <a:latin typeface="Times New Roman" panose="02020603050405020304" pitchFamily="18" charset="0"/>
                <a:cs typeface="Times New Roman" panose="02020603050405020304" pitchFamily="18" charset="0"/>
              </a:rPr>
              <a:t>IPPF FRAMEWORK – MANDATORY GUIDANCE</a:t>
            </a:r>
            <a:endParaRPr lang="en-US" sz="32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609600" y="950496"/>
            <a:ext cx="10972800" cy="5281862"/>
          </a:xfrm>
        </p:spPr>
        <p:txBody>
          <a:bodyPr>
            <a:normAutofit fontScale="85000" lnSpcReduction="10000"/>
          </a:bodyPr>
          <a:lstStyle/>
          <a:p>
            <a:pPr marL="0" indent="0" algn="just">
              <a:buNone/>
            </a:pPr>
            <a:r>
              <a:rPr lang="en-US" sz="2600" b="1" dirty="0" smtClean="0">
                <a:effectLst/>
                <a:latin typeface="Times New Roman" panose="02020603050405020304" pitchFamily="18" charset="0"/>
                <a:ea typeface="Calibri" panose="020F0502020204030204" pitchFamily="34" charset="0"/>
                <a:cs typeface="Times New Roman" panose="02020603050405020304" pitchFamily="18" charset="0"/>
              </a:rPr>
              <a:t>CORE PRINCIPLES</a:t>
            </a:r>
          </a:p>
          <a:p>
            <a:pPr marL="0" indent="0" algn="just">
              <a:buNone/>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The core Principles taken as a whole articulate internal audit effectiveness. For an internal audit function to be considered effective, all principles must be present and operating effectively</a:t>
            </a:r>
          </a:p>
          <a:p>
            <a:pPr marL="0" indent="0" algn="just">
              <a:buNone/>
            </a:pPr>
            <a:endParaRPr lang="en-US" sz="2600"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mj-lt"/>
              <a:buAutoNum type="arabicPeriod"/>
            </a:pPr>
            <a:r>
              <a:rPr lang="en-US" sz="2600" dirty="0" smtClean="0">
                <a:effectLst/>
                <a:latin typeface="Times New Roman" panose="02020603050405020304" pitchFamily="18" charset="0"/>
                <a:ea typeface="Calibri" panose="020F0502020204030204" pitchFamily="34" charset="0"/>
                <a:cs typeface="Times New Roman" panose="02020603050405020304" pitchFamily="18" charset="0"/>
              </a:rPr>
              <a:t>Demonstrate Integrity</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Demonstrate competence and due professional care</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Is objective and free from undue influence</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Align with the strategies, objectives and risks of the organization</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Is appropriately positioned and adequately resourced</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Demonstrates quality and continuous improvement</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Communicate effectively</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Provides risk based assurance</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Is insight full, proactive and future focused</a:t>
            </a:r>
          </a:p>
          <a:p>
            <a:pPr marL="342900" indent="-342900" algn="just">
              <a:buFont typeface="+mj-lt"/>
              <a:buAutoNum type="arabicPeriod"/>
            </a:pPr>
            <a:r>
              <a:rPr lang="en-US" sz="2600" dirty="0" smtClean="0">
                <a:latin typeface="Times New Roman" panose="02020603050405020304" pitchFamily="18" charset="0"/>
                <a:ea typeface="Calibri" panose="020F0502020204030204" pitchFamily="34" charset="0"/>
                <a:cs typeface="Times New Roman" panose="02020603050405020304" pitchFamily="18" charset="0"/>
              </a:rPr>
              <a:t>Promotes organizational improvement</a:t>
            </a:r>
          </a:p>
          <a:p>
            <a:pPr marL="342900" indent="-342900" algn="just">
              <a:buFont typeface="+mj-lt"/>
              <a:buAutoNum type="arabicPeriod"/>
            </a:pPr>
            <a:endParaRPr lang="en-US" sz="16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mj-lt"/>
              <a:buAutoNum type="arabicPeriod"/>
            </a:pPr>
            <a:endParaRPr lang="en-US" sz="1600" b="1"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spcBef>
                <a:spcPts val="0"/>
              </a:spcBef>
              <a:spcAft>
                <a:spcPts val="0"/>
              </a:spcAft>
              <a:buNone/>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spcBef>
                <a:spcPts val="0"/>
              </a:spcBef>
              <a:spcAft>
                <a:spcPts val="0"/>
              </a:spcAft>
              <a:buNone/>
            </a:pPr>
            <a:endParaRPr lang="en-US" sz="1600" b="1"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spcBef>
                <a:spcPts val="0"/>
              </a:spcBef>
              <a:spcAft>
                <a:spcPts val="0"/>
              </a:spcAft>
              <a:buNone/>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p:cNvSpPr/>
          <p:nvPr/>
        </p:nvSpPr>
        <p:spPr>
          <a:xfrm>
            <a:off x="3534771" y="1379577"/>
            <a:ext cx="8425216" cy="338554"/>
          </a:xfrm>
          <a:prstGeom prst="rect">
            <a:avLst/>
          </a:prstGeom>
        </p:spPr>
        <p:txBody>
          <a:bodyPr wrap="square">
            <a:spAutoFit/>
          </a:bodyPr>
          <a:lstStyle/>
          <a:p>
            <a:pPr algn="just"/>
            <a:endParaRPr lang="en-US" sz="1600" dirty="0">
              <a:latin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6E2F3C12-4A6A-4212-A157-AE121822CE5B}" type="slidenum">
              <a:rPr lang="en-US" smtClean="0"/>
              <a:t>3</a:t>
            </a:fld>
            <a:endParaRPr lang="en-US"/>
          </a:p>
        </p:txBody>
      </p:sp>
      <p:sp>
        <p:nvSpPr>
          <p:cNvPr id="4" name="GTBClassificationH120513275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6423583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200" dirty="0" smtClean="0">
                <a:latin typeface="Times New Roman" panose="02020603050405020304" pitchFamily="18" charset="0"/>
                <a:cs typeface="Times New Roman" panose="02020603050405020304" pitchFamily="18" charset="0"/>
              </a:rPr>
              <a:t>IPPF FRAMEWORK – MANDATORY GUIDANCE</a:t>
            </a:r>
            <a:endParaRPr lang="en-US" sz="3200" dirty="0"/>
          </a:p>
        </p:txBody>
      </p:sp>
      <p:sp>
        <p:nvSpPr>
          <p:cNvPr id="3" name="Content Placeholder 2"/>
          <p:cNvSpPr>
            <a:spLocks noGrp="1"/>
          </p:cNvSpPr>
          <p:nvPr>
            <p:ph idx="1"/>
          </p:nvPr>
        </p:nvSpPr>
        <p:spPr>
          <a:xfrm>
            <a:off x="609600" y="914401"/>
            <a:ext cx="10972800" cy="4525963"/>
          </a:xfrm>
        </p:spPr>
        <p:txBody>
          <a:bodyPr/>
          <a:lstStyle/>
          <a:p>
            <a:pPr marL="0" lvl="0" indent="0" algn="just">
              <a:buNone/>
            </a:pPr>
            <a:r>
              <a:rPr lang="en-US" sz="3200" b="1" dirty="0">
                <a:latin typeface="Times New Roman" panose="02020603050405020304" pitchFamily="18" charset="0"/>
                <a:cs typeface="Times New Roman" panose="02020603050405020304" pitchFamily="18" charset="0"/>
              </a:rPr>
              <a:t>Definition of Internal Auditor</a:t>
            </a:r>
          </a:p>
          <a:p>
            <a:pPr marL="0" indent="0" algn="just">
              <a:buNone/>
            </a:pPr>
            <a:r>
              <a:rPr lang="en-US" sz="2800"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Internal auditing is an independent, objective assurance and consulting activity designed to add value and improve an organization’s operations. It helps an organization accomplish its objectives by bringing a </a:t>
            </a:r>
            <a:r>
              <a:rPr lang="en-US" sz="2800" dirty="0" smtClean="0">
                <a:latin typeface="Times New Roman" panose="02020603050405020304" pitchFamily="18" charset="0"/>
                <a:cs typeface="Times New Roman" panose="02020603050405020304" pitchFamily="18" charset="0"/>
              </a:rPr>
              <a:t>systematic, disciplined </a:t>
            </a:r>
            <a:r>
              <a:rPr lang="en-US" sz="2800" dirty="0">
                <a:latin typeface="Times New Roman" panose="02020603050405020304" pitchFamily="18" charset="0"/>
                <a:cs typeface="Times New Roman" panose="02020603050405020304" pitchFamily="18" charset="0"/>
              </a:rPr>
              <a:t>approach to evaluate and improve the effectiveness of risk management, control and governance processes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E2F3C12-4A6A-4212-A157-AE121822CE5B}" type="slidenum">
              <a:rPr lang="en-US" smtClean="0"/>
              <a:t>4</a:t>
            </a:fld>
            <a:endParaRPr lang="en-US"/>
          </a:p>
        </p:txBody>
      </p:sp>
      <p:sp>
        <p:nvSpPr>
          <p:cNvPr id="5" name="GTBClassificationH915362023"/>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4286876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200" dirty="0" smtClean="0">
                <a:latin typeface="Times New Roman" panose="02020603050405020304" pitchFamily="18" charset="0"/>
                <a:cs typeface="Times New Roman" panose="02020603050405020304" pitchFamily="18" charset="0"/>
              </a:rPr>
              <a:t>IPPF FRAMEWORK – MANDATORY GUIDANCE</a:t>
            </a:r>
            <a:endParaRPr lang="en-US" sz="3200" dirty="0"/>
          </a:p>
        </p:txBody>
      </p:sp>
      <p:sp>
        <p:nvSpPr>
          <p:cNvPr id="3" name="Content Placeholder 2"/>
          <p:cNvSpPr>
            <a:spLocks noGrp="1"/>
          </p:cNvSpPr>
          <p:nvPr>
            <p:ph idx="1"/>
          </p:nvPr>
        </p:nvSpPr>
        <p:spPr>
          <a:xfrm>
            <a:off x="838200" y="961090"/>
            <a:ext cx="10515600" cy="5307363"/>
          </a:xfrm>
        </p:spPr>
        <p:txBody>
          <a:bodyPr/>
          <a:lstStyle/>
          <a:p>
            <a:pPr marL="0" indent="0">
              <a:buNone/>
            </a:pPr>
            <a:r>
              <a:rPr lang="en-US" sz="2400" b="1" dirty="0" smtClean="0">
                <a:latin typeface="Times New Roman" panose="02020603050405020304" pitchFamily="18" charset="0"/>
                <a:cs typeface="Times New Roman" panose="02020603050405020304" pitchFamily="18" charset="0"/>
              </a:rPr>
              <a:t>Code of Ethics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14374933"/>
              </p:ext>
            </p:extLst>
          </p:nvPr>
        </p:nvGraphicFramePr>
        <p:xfrm>
          <a:off x="838200" y="1535429"/>
          <a:ext cx="10515600" cy="4327154"/>
        </p:xfrm>
        <a:graphic>
          <a:graphicData uri="http://schemas.openxmlformats.org/drawingml/2006/table">
            <a:tbl>
              <a:tblPr firstRow="1" bandRow="1">
                <a:tableStyleId>{5C22544A-7EE6-4342-B048-85BDC9FD1C3A}</a:tableStyleId>
              </a:tblPr>
              <a:tblGrid>
                <a:gridCol w="2027830"/>
                <a:gridCol w="8487770"/>
              </a:tblGrid>
              <a:tr h="334274">
                <a:tc>
                  <a:txBody>
                    <a:bodyPr/>
                    <a:lstStyle/>
                    <a:p>
                      <a:pPr algn="ctr"/>
                      <a:r>
                        <a:rPr lang="en-US" sz="1400" dirty="0" smtClean="0">
                          <a:solidFill>
                            <a:srgbClr val="FF0000"/>
                          </a:solidFill>
                          <a:latin typeface="Times New Roman" panose="02020603050405020304" pitchFamily="18" charset="0"/>
                          <a:cs typeface="Times New Roman" panose="02020603050405020304" pitchFamily="18" charset="0"/>
                        </a:rPr>
                        <a:t>Rule</a:t>
                      </a:r>
                      <a:r>
                        <a:rPr lang="en-US" sz="1400" baseline="0" dirty="0" smtClean="0">
                          <a:solidFill>
                            <a:srgbClr val="FF0000"/>
                          </a:solidFill>
                          <a:latin typeface="Times New Roman" panose="02020603050405020304" pitchFamily="18" charset="0"/>
                          <a:cs typeface="Times New Roman" panose="02020603050405020304" pitchFamily="18" charset="0"/>
                        </a:rPr>
                        <a:t> </a:t>
                      </a:r>
                      <a:endParaRPr lang="en-US" sz="1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smtClean="0">
                          <a:solidFill>
                            <a:srgbClr val="FF0000"/>
                          </a:solidFill>
                          <a:latin typeface="Times New Roman" panose="02020603050405020304" pitchFamily="18" charset="0"/>
                          <a:cs typeface="Times New Roman" panose="02020603050405020304" pitchFamily="18" charset="0"/>
                        </a:rPr>
                        <a:t>Principle</a:t>
                      </a:r>
                      <a:endParaRPr lang="en-US" sz="1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18311">
                <a:tc>
                  <a:txBody>
                    <a:bodyPr/>
                    <a:lstStyle/>
                    <a:p>
                      <a:pPr marL="342900" indent="-342900" algn="just">
                        <a:buFont typeface="+mj-lt"/>
                        <a:buAutoNum type="arabicPeriod"/>
                      </a:pPr>
                      <a:r>
                        <a:rPr lang="en-US" sz="1800" dirty="0" smtClean="0">
                          <a:latin typeface="Times New Roman" panose="02020603050405020304" pitchFamily="18" charset="0"/>
                          <a:cs typeface="Times New Roman" panose="02020603050405020304" pitchFamily="18" charset="0"/>
                        </a:rPr>
                        <a:t>Integrity</a:t>
                      </a: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dirty="0" smtClean="0">
                          <a:latin typeface="Times New Roman" panose="02020603050405020304" pitchFamily="18" charset="0"/>
                          <a:cs typeface="Times New Roman" panose="02020603050405020304" pitchFamily="18" charset="0"/>
                        </a:rPr>
                        <a:t>Objective</a:t>
                      </a: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dirty="0" smtClean="0">
                          <a:latin typeface="Times New Roman" panose="02020603050405020304" pitchFamily="18" charset="0"/>
                          <a:cs typeface="Times New Roman" panose="02020603050405020304" pitchFamily="18" charset="0"/>
                        </a:rPr>
                        <a:t>Confidentiality</a:t>
                      </a: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8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dirty="0" smtClean="0">
                          <a:latin typeface="Times New Roman" panose="02020603050405020304" pitchFamily="18" charset="0"/>
                          <a:cs typeface="Times New Roman" panose="02020603050405020304" pitchFamily="18" charset="0"/>
                        </a:rPr>
                        <a:t>Competency</a:t>
                      </a:r>
                      <a:endParaRPr 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lgn="just">
                        <a:buFont typeface="+mj-lt"/>
                        <a:buAutoNum type="arabicPeriod"/>
                      </a:pPr>
                      <a:r>
                        <a:rPr lang="en-US" sz="1600" dirty="0" smtClean="0">
                          <a:latin typeface="Times New Roman" panose="02020603050405020304" pitchFamily="18" charset="0"/>
                          <a:cs typeface="Times New Roman" panose="02020603050405020304" pitchFamily="18" charset="0"/>
                        </a:rPr>
                        <a:t>The integrity of</a:t>
                      </a:r>
                      <a:r>
                        <a:rPr lang="en-US" sz="1600" baseline="0" dirty="0" smtClean="0">
                          <a:latin typeface="Times New Roman" panose="02020603050405020304" pitchFamily="18" charset="0"/>
                          <a:cs typeface="Times New Roman" panose="02020603050405020304" pitchFamily="18" charset="0"/>
                        </a:rPr>
                        <a:t> internal auditors establishes trust and thus provides the basis for reliance on their judgement.</a:t>
                      </a:r>
                    </a:p>
                    <a:p>
                      <a:pPr marL="342900" indent="-342900" algn="just">
                        <a:buFont typeface="+mj-lt"/>
                        <a:buAutoNum type="arabicPeriod"/>
                      </a:pPr>
                      <a:endParaRPr lang="en-US" sz="1600" baseline="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aseline="0" dirty="0" smtClean="0">
                          <a:latin typeface="Times New Roman" panose="02020603050405020304" pitchFamily="18" charset="0"/>
                          <a:cs typeface="Times New Roman" panose="02020603050405020304" pitchFamily="18" charset="0"/>
                        </a:rPr>
                        <a:t>Internal auditor exhibits the highest level of professional objectivity in gathering , evaluating and communicating information about the activity or process being examined. Internal auditors make a balanced assessment of all the relevant circumstances and are not unduly influenced by their own interests or by others in forming judgement.</a:t>
                      </a:r>
                    </a:p>
                    <a:p>
                      <a:pPr marL="342900" indent="-342900" algn="just">
                        <a:buFont typeface="+mj-lt"/>
                        <a:buAutoNum type="arabicPeriod"/>
                      </a:pPr>
                      <a:endParaRPr lang="en-US" sz="1600" baseline="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baseline="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smtClean="0">
                          <a:latin typeface="Times New Roman" panose="02020603050405020304" pitchFamily="18" charset="0"/>
                          <a:cs typeface="Times New Roman" panose="02020603050405020304" pitchFamily="18" charset="0"/>
                        </a:rPr>
                        <a:t>Internal auditors respect the value and ownership </a:t>
                      </a:r>
                      <a:r>
                        <a:rPr lang="en-US" sz="1600" dirty="0" smtClean="0">
                          <a:latin typeface="Times New Roman" panose="02020603050405020304" pitchFamily="18" charset="0"/>
                          <a:cs typeface="Times New Roman" panose="02020603050405020304" pitchFamily="18" charset="0"/>
                        </a:rPr>
                        <a:t>of </a:t>
                      </a:r>
                      <a:r>
                        <a:rPr lang="en-US" sz="1600" dirty="0" smtClean="0">
                          <a:latin typeface="Times New Roman" panose="02020603050405020304" pitchFamily="18" charset="0"/>
                          <a:cs typeface="Times New Roman" panose="02020603050405020304" pitchFamily="18" charset="0"/>
                        </a:rPr>
                        <a:t>the information they receive and do not disclose information without </a:t>
                      </a:r>
                      <a:r>
                        <a:rPr lang="en-US" sz="1600" kern="1200" dirty="0" smtClean="0">
                          <a:solidFill>
                            <a:schemeClr val="dk1"/>
                          </a:solidFill>
                          <a:latin typeface="Times New Roman" panose="02020603050405020304" pitchFamily="18" charset="0"/>
                          <a:ea typeface="+mn-ea"/>
                          <a:cs typeface="Times New Roman" panose="02020603050405020304" pitchFamily="18" charset="0"/>
                        </a:rPr>
                        <a:t>appropriate</a:t>
                      </a:r>
                      <a:r>
                        <a:rPr lang="en-US" sz="1600" dirty="0" smtClean="0">
                          <a:latin typeface="Times New Roman" panose="02020603050405020304" pitchFamily="18" charset="0"/>
                          <a:cs typeface="Times New Roman" panose="02020603050405020304" pitchFamily="18" charset="0"/>
                        </a:rPr>
                        <a:t> </a:t>
                      </a:r>
                      <a:r>
                        <a:rPr lang="en-US" sz="1600" kern="1200" dirty="0" smtClean="0">
                          <a:solidFill>
                            <a:schemeClr val="dk1"/>
                          </a:solidFill>
                          <a:latin typeface="Times New Roman" panose="02020603050405020304" pitchFamily="18" charset="0"/>
                          <a:ea typeface="+mn-ea"/>
                          <a:cs typeface="Times New Roman" panose="02020603050405020304" pitchFamily="18" charset="0"/>
                        </a:rPr>
                        <a:t>authority</a:t>
                      </a:r>
                      <a:r>
                        <a:rPr lang="en-US" sz="1600" dirty="0" smtClean="0">
                          <a:latin typeface="Times New Roman" panose="02020603050405020304" pitchFamily="18" charset="0"/>
                          <a:cs typeface="Times New Roman" panose="02020603050405020304" pitchFamily="18" charset="0"/>
                        </a:rPr>
                        <a:t> unless there is a legal or professional</a:t>
                      </a:r>
                      <a:r>
                        <a:rPr lang="en-US" sz="1600" baseline="0" dirty="0" smtClean="0">
                          <a:latin typeface="Times New Roman" panose="02020603050405020304" pitchFamily="18" charset="0"/>
                          <a:cs typeface="Times New Roman" panose="02020603050405020304" pitchFamily="18" charset="0"/>
                        </a:rPr>
                        <a:t> obligation to do so.</a:t>
                      </a:r>
                    </a:p>
                    <a:p>
                      <a:pPr marL="342900" indent="-342900" algn="just">
                        <a:buFont typeface="+mj-lt"/>
                        <a:buAutoNum type="arabicPeriod"/>
                      </a:pPr>
                      <a:endParaRPr lang="en-US" sz="1600" baseline="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baseline="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smtClean="0">
                          <a:latin typeface="Times New Roman" panose="02020603050405020304" pitchFamily="18" charset="0"/>
                          <a:cs typeface="Times New Roman" panose="02020603050405020304" pitchFamily="18" charset="0"/>
                        </a:rPr>
                        <a:t>Internal auditors apply the knowledge, skills and experience needed in the performance of internal auditing services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Slide Number Placeholder 4"/>
          <p:cNvSpPr>
            <a:spLocks noGrp="1"/>
          </p:cNvSpPr>
          <p:nvPr>
            <p:ph type="sldNum" sz="quarter" idx="12"/>
          </p:nvPr>
        </p:nvSpPr>
        <p:spPr/>
        <p:txBody>
          <a:bodyPr/>
          <a:lstStyle/>
          <a:p>
            <a:fld id="{6E2F3C12-4A6A-4212-A157-AE121822CE5B}" type="slidenum">
              <a:rPr lang="en-US" smtClean="0"/>
              <a:t>5</a:t>
            </a:fld>
            <a:endParaRPr lang="en-US"/>
          </a:p>
        </p:txBody>
      </p:sp>
      <p:sp>
        <p:nvSpPr>
          <p:cNvPr id="6" name="GTBClassificationH1271404519"/>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7557615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dirty="0" smtClean="0">
                <a:latin typeface="Times New Roman" panose="02020603050405020304" pitchFamily="18" charset="0"/>
                <a:cs typeface="Times New Roman" panose="02020603050405020304" pitchFamily="18" charset="0"/>
              </a:rPr>
              <a:t>IPPF FRAMEWORK - RECOMMENDED GUIDELINES</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1172"/>
            <a:ext cx="10972800" cy="5198996"/>
          </a:xfrm>
        </p:spPr>
        <p:txBody>
          <a:bodyPr>
            <a:normAutofit fontScale="92500" lnSpcReduction="10000"/>
          </a:bodyPr>
          <a:lstStyle/>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2400" b="1" dirty="0" smtClean="0">
                <a:latin typeface="Times New Roman" panose="02020603050405020304" pitchFamily="18" charset="0"/>
                <a:cs typeface="Times New Roman" panose="02020603050405020304" pitchFamily="18" charset="0"/>
              </a:rPr>
              <a:t>Practice Guides Ethics</a:t>
            </a:r>
          </a:p>
          <a:p>
            <a:pPr marL="0" indent="0" algn="just">
              <a:buNone/>
            </a:pPr>
            <a:r>
              <a:rPr lang="en-US" sz="2400" dirty="0" smtClean="0">
                <a:latin typeface="Times New Roman" panose="02020603050405020304" pitchFamily="18" charset="0"/>
                <a:cs typeface="Times New Roman" panose="02020603050405020304" pitchFamily="18" charset="0"/>
              </a:rPr>
              <a:t>Practice guides provides detailed guidance for conducting internal audit activities. They include processes and procedures, tools and techniques, programs and step by step approaches as well as examples of deliverables.</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b="1" dirty="0" smtClean="0">
                <a:latin typeface="Times New Roman" panose="02020603050405020304" pitchFamily="18" charset="0"/>
                <a:cs typeface="Times New Roman" panose="02020603050405020304" pitchFamily="18" charset="0"/>
              </a:rPr>
              <a:t>Implementation Guidance</a:t>
            </a:r>
          </a:p>
          <a:p>
            <a:pPr marL="0" indent="0" algn="just">
              <a:buNone/>
            </a:pPr>
            <a:r>
              <a:rPr lang="en-US" sz="2400" dirty="0" smtClean="0">
                <a:latin typeface="Times New Roman" panose="02020603050405020304" pitchFamily="18" charset="0"/>
                <a:cs typeface="Times New Roman" panose="02020603050405020304" pitchFamily="18" charset="0"/>
              </a:rPr>
              <a:t>Implementation Guidance assure internal auditors </a:t>
            </a:r>
            <a:r>
              <a:rPr lang="en-US" sz="2400" dirty="0">
                <a:latin typeface="Times New Roman" panose="02020603050405020304" pitchFamily="18" charset="0"/>
                <a:cs typeface="Times New Roman" panose="02020603050405020304" pitchFamily="18" charset="0"/>
              </a:rPr>
              <a:t>in applying the Definition of internal auditing, the code of Ethics, and the Standards and </a:t>
            </a:r>
            <a:r>
              <a:rPr lang="en-US" sz="2400" dirty="0" smtClean="0">
                <a:latin typeface="Times New Roman" panose="02020603050405020304" pitchFamily="18" charset="0"/>
                <a:cs typeface="Times New Roman" panose="02020603050405020304" pitchFamily="18" charset="0"/>
              </a:rPr>
              <a:t>promoting best practices</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b="1" dirty="0" smtClean="0">
                <a:latin typeface="Times New Roman" panose="02020603050405020304" pitchFamily="18" charset="0"/>
                <a:cs typeface="Times New Roman" panose="02020603050405020304" pitchFamily="18" charset="0"/>
              </a:rPr>
              <a:t>Practice Advisories </a:t>
            </a:r>
          </a:p>
          <a:p>
            <a:pPr marL="0" indent="0" algn="just">
              <a:buNone/>
            </a:pPr>
            <a:r>
              <a:rPr lang="en-US" sz="2400" dirty="0" smtClean="0">
                <a:latin typeface="Times New Roman" panose="02020603050405020304" pitchFamily="18" charset="0"/>
                <a:cs typeface="Times New Roman" panose="02020603050405020304" pitchFamily="18" charset="0"/>
              </a:rPr>
              <a:t>It address </a:t>
            </a:r>
            <a:r>
              <a:rPr lang="en-US" sz="2400" dirty="0">
                <a:latin typeface="Times New Roman" panose="02020603050405020304" pitchFamily="18" charset="0"/>
                <a:cs typeface="Times New Roman" panose="02020603050405020304" pitchFamily="18" charset="0"/>
              </a:rPr>
              <a:t>internal auditing approach, methodology and considerations, but do not detail processes or procedures. They include practices relating to </a:t>
            </a:r>
            <a:r>
              <a:rPr lang="en-US" sz="2400" dirty="0" smtClean="0">
                <a:latin typeface="Times New Roman" panose="02020603050405020304" pitchFamily="18" charset="0"/>
                <a:cs typeface="Times New Roman" panose="02020603050405020304" pitchFamily="18" charset="0"/>
              </a:rPr>
              <a:t>international, </a:t>
            </a:r>
            <a:r>
              <a:rPr lang="en-US" sz="2400" dirty="0">
                <a:latin typeface="Times New Roman" panose="02020603050405020304" pitchFamily="18" charset="0"/>
                <a:cs typeface="Times New Roman" panose="02020603050405020304" pitchFamily="18" charset="0"/>
              </a:rPr>
              <a:t>country or industry specific </a:t>
            </a:r>
            <a:r>
              <a:rPr lang="en-US" sz="2400" dirty="0" smtClean="0">
                <a:latin typeface="Times New Roman" panose="02020603050405020304" pitchFamily="18" charset="0"/>
                <a:cs typeface="Times New Roman" panose="02020603050405020304" pitchFamily="18" charset="0"/>
              </a:rPr>
              <a:t>issues </a:t>
            </a:r>
            <a:r>
              <a:rPr lang="en-US" sz="2400" dirty="0">
                <a:latin typeface="Times New Roman" panose="02020603050405020304" pitchFamily="18" charset="0"/>
                <a:cs typeface="Times New Roman" panose="02020603050405020304" pitchFamily="18" charset="0"/>
              </a:rPr>
              <a:t>specific types of engagement and legal or regulatory issues.</a:t>
            </a:r>
          </a:p>
          <a:p>
            <a:pPr marL="0" indent="0">
              <a:buNone/>
            </a:pPr>
            <a:endParaRPr lang="en-US" dirty="0"/>
          </a:p>
        </p:txBody>
      </p:sp>
      <p:sp>
        <p:nvSpPr>
          <p:cNvPr id="4" name="Slide Number Placeholder 3"/>
          <p:cNvSpPr>
            <a:spLocks noGrp="1"/>
          </p:cNvSpPr>
          <p:nvPr>
            <p:ph type="sldNum" sz="quarter" idx="12"/>
          </p:nvPr>
        </p:nvSpPr>
        <p:spPr/>
        <p:txBody>
          <a:bodyPr/>
          <a:lstStyle/>
          <a:p>
            <a:fld id="{6E2F3C12-4A6A-4212-A157-AE121822CE5B}" type="slidenum">
              <a:rPr lang="en-US" smtClean="0"/>
              <a:t>6</a:t>
            </a:fld>
            <a:endParaRPr lang="en-US"/>
          </a:p>
        </p:txBody>
      </p:sp>
      <p:sp>
        <p:nvSpPr>
          <p:cNvPr id="5" name="GTBClassificationH228441652"/>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8879513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000" dirty="0" smtClean="0">
                <a:latin typeface="Times New Roman" panose="02020603050405020304" pitchFamily="18" charset="0"/>
                <a:cs typeface="Times New Roman" panose="02020603050405020304" pitchFamily="18" charset="0"/>
              </a:rPr>
              <a:t>IPPF STANDARDS FOR INTERNAL AUDIT – MANDATORY GUIDELINES</a:t>
            </a:r>
            <a:endParaRPr lang="en-US" sz="2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74558"/>
            <a:ext cx="10972800" cy="4525963"/>
          </a:xfrm>
        </p:spPr>
        <p:txBody>
          <a:bodyPr/>
          <a:lstStyle/>
          <a:p>
            <a:pPr marL="0" lvl="0" indent="0">
              <a:buNone/>
            </a:pPr>
            <a:r>
              <a:rPr lang="en-US" sz="3200" b="1" dirty="0">
                <a:latin typeface="Times New Roman" panose="02020603050405020304" pitchFamily="18" charset="0"/>
                <a:cs typeface="Times New Roman" panose="02020603050405020304" pitchFamily="18" charset="0"/>
              </a:rPr>
              <a:t>Standards of Internal </a:t>
            </a:r>
            <a:r>
              <a:rPr lang="en-US" sz="3200" b="1" dirty="0" smtClean="0">
                <a:latin typeface="Times New Roman" panose="02020603050405020304" pitchFamily="18" charset="0"/>
                <a:cs typeface="Times New Roman" panose="02020603050405020304" pitchFamily="18" charset="0"/>
              </a:rPr>
              <a:t>Audit</a:t>
            </a:r>
            <a:endParaRPr lang="en-US" sz="3200" dirty="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Two </a:t>
            </a:r>
            <a:r>
              <a:rPr lang="en-US" sz="3200" dirty="0">
                <a:latin typeface="Times New Roman" panose="02020603050405020304" pitchFamily="18" charset="0"/>
                <a:cs typeface="Times New Roman" panose="02020603050405020304" pitchFamily="18" charset="0"/>
              </a:rPr>
              <a:t>types of </a:t>
            </a:r>
            <a:r>
              <a:rPr lang="en-US" sz="3200" dirty="0" smtClean="0">
                <a:latin typeface="Times New Roman" panose="02020603050405020304" pitchFamily="18" charset="0"/>
                <a:cs typeface="Times New Roman" panose="02020603050405020304" pitchFamily="18" charset="0"/>
              </a:rPr>
              <a:t>IPPF </a:t>
            </a:r>
            <a:r>
              <a:rPr lang="en-US" sz="3200" dirty="0">
                <a:latin typeface="Times New Roman" panose="02020603050405020304" pitchFamily="18" charset="0"/>
                <a:cs typeface="Times New Roman" panose="02020603050405020304" pitchFamily="18" charset="0"/>
              </a:rPr>
              <a:t>Standards </a:t>
            </a:r>
            <a:r>
              <a:rPr lang="en-US" sz="3200" dirty="0" smtClean="0">
                <a:latin typeface="Times New Roman" panose="02020603050405020304" pitchFamily="18" charset="0"/>
                <a:cs typeface="Times New Roman" panose="02020603050405020304" pitchFamily="18" charset="0"/>
              </a:rPr>
              <a:t>( Total 11 Standards)</a:t>
            </a:r>
            <a:endParaRPr lang="en-US"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Attribute Standards – 4  Sub Standards</a:t>
            </a:r>
          </a:p>
          <a:p>
            <a:pPr lvl="0"/>
            <a:r>
              <a:rPr lang="en-US" sz="3200" dirty="0">
                <a:latin typeface="Times New Roman" panose="02020603050405020304" pitchFamily="18" charset="0"/>
                <a:cs typeface="Times New Roman" panose="02020603050405020304" pitchFamily="18" charset="0"/>
              </a:rPr>
              <a:t>Performance Standards – 7  Sub </a:t>
            </a:r>
            <a:r>
              <a:rPr lang="en-US" sz="3200" dirty="0" smtClean="0">
                <a:latin typeface="Times New Roman" panose="02020603050405020304" pitchFamily="18" charset="0"/>
                <a:cs typeface="Times New Roman" panose="02020603050405020304" pitchFamily="18" charset="0"/>
              </a:rPr>
              <a:t>Standards</a:t>
            </a: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E2F3C12-4A6A-4212-A157-AE121822CE5B}" type="slidenum">
              <a:rPr lang="en-US" smtClean="0"/>
              <a:t>7</a:t>
            </a:fld>
            <a:endParaRPr lang="en-US"/>
          </a:p>
        </p:txBody>
      </p:sp>
      <p:sp>
        <p:nvSpPr>
          <p:cNvPr id="5" name="GTBClassificationH51631098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0448593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IPPF - STANDARDS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74559"/>
            <a:ext cx="10972800" cy="4525963"/>
          </a:xfrm>
        </p:spPr>
        <p:txBody>
          <a:bodyPr/>
          <a:lstStyle/>
          <a:p>
            <a:pPr marL="0" indent="0" algn="ctr">
              <a:buNone/>
            </a:pPr>
            <a:r>
              <a:rPr lang="en-US" sz="3200" dirty="0" smtClean="0">
                <a:latin typeface="Times New Roman" panose="02020603050405020304" pitchFamily="18" charset="0"/>
                <a:cs typeface="Times New Roman" panose="02020603050405020304" pitchFamily="18" charset="0"/>
              </a:rPr>
              <a:t>ATTRIBUTE STANDARDS – 4 STANDARDS</a:t>
            </a:r>
          </a:p>
          <a:p>
            <a:endParaRPr lang="en-US" sz="3200" dirty="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1000 – </a:t>
            </a:r>
            <a:r>
              <a:rPr lang="en-US" sz="3200" dirty="0">
                <a:latin typeface="Times New Roman" panose="02020603050405020304" pitchFamily="18" charset="0"/>
                <a:cs typeface="Times New Roman" panose="02020603050405020304" pitchFamily="18" charset="0"/>
              </a:rPr>
              <a:t>Purpose, Authority and Responsibility</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1100 – </a:t>
            </a:r>
            <a:r>
              <a:rPr lang="en-US" sz="3200" dirty="0">
                <a:latin typeface="Times New Roman" panose="02020603050405020304" pitchFamily="18" charset="0"/>
                <a:cs typeface="Times New Roman" panose="02020603050405020304" pitchFamily="18" charset="0"/>
              </a:rPr>
              <a:t>Independence and Objectivity</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1200 – </a:t>
            </a:r>
            <a:r>
              <a:rPr lang="en-US" sz="3200" dirty="0">
                <a:latin typeface="Times New Roman" panose="02020603050405020304" pitchFamily="18" charset="0"/>
                <a:cs typeface="Times New Roman" panose="02020603050405020304" pitchFamily="18" charset="0"/>
              </a:rPr>
              <a:t>Proficiency and Due Professional Care</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1300 – </a:t>
            </a:r>
            <a:r>
              <a:rPr lang="en-US" sz="3200" dirty="0">
                <a:latin typeface="Times New Roman" panose="02020603050405020304" pitchFamily="18" charset="0"/>
                <a:cs typeface="Times New Roman" panose="02020603050405020304" pitchFamily="18" charset="0"/>
              </a:rPr>
              <a:t>Quality Assurance and Improvement </a:t>
            </a:r>
            <a:endParaRPr lang="en-US" sz="3200" dirty="0" smtClean="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Slide Number Placeholder 3"/>
          <p:cNvSpPr>
            <a:spLocks noGrp="1"/>
          </p:cNvSpPr>
          <p:nvPr>
            <p:ph type="sldNum" sz="quarter" idx="12"/>
          </p:nvPr>
        </p:nvSpPr>
        <p:spPr/>
        <p:txBody>
          <a:bodyPr/>
          <a:lstStyle/>
          <a:p>
            <a:fld id="{6E2F3C12-4A6A-4212-A157-AE121822CE5B}" type="slidenum">
              <a:rPr lang="en-US" smtClean="0"/>
              <a:t>8</a:t>
            </a:fld>
            <a:endParaRPr lang="en-US"/>
          </a:p>
        </p:txBody>
      </p:sp>
      <p:sp>
        <p:nvSpPr>
          <p:cNvPr id="5" name="GTBClassificationH78849427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3411268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dirty="0" smtClean="0">
                <a:latin typeface="Times New Roman" panose="02020603050405020304" pitchFamily="18" charset="0"/>
                <a:cs typeface="Times New Roman" panose="02020603050405020304" pitchFamily="18" charset="0"/>
              </a:rPr>
              <a:t>1000 - Purpose, Authority and Responsibility</a:t>
            </a:r>
            <a:endParaRPr lang="en-US" sz="4400" dirty="0"/>
          </a:p>
        </p:txBody>
      </p:sp>
      <p:sp>
        <p:nvSpPr>
          <p:cNvPr id="3" name="Content Placeholder 2"/>
          <p:cNvSpPr>
            <a:spLocks noGrp="1"/>
          </p:cNvSpPr>
          <p:nvPr>
            <p:ph idx="1"/>
          </p:nvPr>
        </p:nvSpPr>
        <p:spPr>
          <a:xfrm>
            <a:off x="609600" y="1094705"/>
            <a:ext cx="10972800" cy="5031460"/>
          </a:xfrm>
        </p:spPr>
        <p:txBody>
          <a:bodyPr>
            <a:normAutofit/>
          </a:bodyPr>
          <a:lstStyle/>
          <a:p>
            <a:pPr marL="0" indent="0">
              <a:buNone/>
            </a:pPr>
            <a:r>
              <a:rPr lang="en-US" sz="2000" dirty="0" smtClean="0">
                <a:latin typeface="Times New Roman" panose="02020603050405020304" pitchFamily="18" charset="0"/>
                <a:cs typeface="Times New Roman" panose="02020603050405020304" pitchFamily="18" charset="0"/>
              </a:rPr>
              <a:t>1000 – Internal Audit Charter</a:t>
            </a:r>
          </a:p>
          <a:p>
            <a:pPr lvl="1">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1000.A1 </a:t>
            </a:r>
            <a:r>
              <a:rPr lang="en-US" sz="1600" dirty="0">
                <a:latin typeface="Times New Roman" panose="02020603050405020304" pitchFamily="18" charset="0"/>
                <a:cs typeface="Times New Roman" panose="02020603050405020304" pitchFamily="18" charset="0"/>
              </a:rPr>
              <a:t>– The nature of assurance services provided to the organization must be defined in the internal audit charter. If assurances are to be provided to parties outside the organization, the nature of these assurances must also be defined in the internal audit charter. </a:t>
            </a:r>
          </a:p>
          <a:p>
            <a:pPr lvl="1">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1000.C1 </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nature of consulting services must be defined in the internal audit charter. </a:t>
            </a:r>
            <a:endParaRPr lang="en-US" sz="16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1010 - Recognition of guidance in Internal Audit charter</a:t>
            </a: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69785535"/>
              </p:ext>
            </p:extLst>
          </p:nvPr>
        </p:nvGraphicFramePr>
        <p:xfrm>
          <a:off x="709411" y="3063813"/>
          <a:ext cx="10515600" cy="2670937"/>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marL="0" marR="0" algn="ctr">
                        <a:lnSpc>
                          <a:spcPct val="107000"/>
                        </a:lnSpc>
                        <a:spcBef>
                          <a:spcPts val="0"/>
                        </a:spcBef>
                        <a:spcAft>
                          <a:spcPts val="800"/>
                        </a:spcAft>
                      </a:pPr>
                      <a:r>
                        <a:rPr lang="en-US" sz="1800" b="1" kern="1200" dirty="0" smtClean="0">
                          <a:solidFill>
                            <a:srgbClr val="FF0000"/>
                          </a:solidFill>
                          <a:effectLst/>
                          <a:latin typeface="+mn-lt"/>
                          <a:ea typeface="+mn-ea"/>
                          <a:cs typeface="+mn-cs"/>
                        </a:rPr>
                        <a:t>Major Requirements</a:t>
                      </a:r>
                      <a:endPar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1" kern="1200" dirty="0" smtClean="0">
                          <a:solidFill>
                            <a:srgbClr val="FF0000"/>
                          </a:solidFill>
                          <a:effectLst/>
                          <a:latin typeface="+mn-lt"/>
                          <a:ea typeface="+mn-ea"/>
                          <a:cs typeface="+mn-cs"/>
                        </a:rPr>
                        <a:t>Documents </a:t>
                      </a:r>
                      <a:endParaRPr 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285750" lvl="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Purpose , authority and responsibility</a:t>
                      </a:r>
                    </a:p>
                    <a:p>
                      <a:pPr marL="285750" lvl="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Consistent with the Definition of Internal Auditing, the Code of Ethics, and the IIA Standards</a:t>
                      </a:r>
                    </a:p>
                    <a:p>
                      <a:pPr marL="285750" lvl="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Define CAE functional relationship</a:t>
                      </a:r>
                    </a:p>
                    <a:p>
                      <a:pPr marL="285750" lvl="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Periodically review – Charter</a:t>
                      </a:r>
                    </a:p>
                    <a:p>
                      <a:pPr marL="285750" lvl="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Acknowledged by Senior Management</a:t>
                      </a:r>
                    </a:p>
                    <a:p>
                      <a:pPr marL="28575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Establishes the Internal Audit activity within the organization</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Audit </a:t>
                      </a: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Charter / Policy</a:t>
                      </a:r>
                      <a:endParaRPr lang="en-US" sz="1800" kern="1200" dirty="0" smtClean="0">
                        <a:solidFill>
                          <a:schemeClr val="dk1"/>
                        </a:solidFill>
                        <a:effectLst/>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Audit Committee Charter</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4" name="Slide Number Placeholder 3"/>
          <p:cNvSpPr>
            <a:spLocks noGrp="1"/>
          </p:cNvSpPr>
          <p:nvPr>
            <p:ph type="sldNum" sz="quarter" idx="12"/>
          </p:nvPr>
        </p:nvSpPr>
        <p:spPr/>
        <p:txBody>
          <a:bodyPr/>
          <a:lstStyle/>
          <a:p>
            <a:fld id="{6E2F3C12-4A6A-4212-A157-AE121822CE5B}" type="slidenum">
              <a:rPr lang="en-US" smtClean="0"/>
              <a:t>9</a:t>
            </a:fld>
            <a:endParaRPr lang="en-US"/>
          </a:p>
        </p:txBody>
      </p:sp>
      <p:sp>
        <p:nvSpPr>
          <p:cNvPr id="5" name="GTBClassificationH100804654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9955338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latin typeface="Times New Roman" panose="02020603050405020304" pitchFamily="18" charset="0"/>
                <a:cs typeface="Times New Roman" panose="02020603050405020304" pitchFamily="18" charset="0"/>
              </a:rPr>
              <a:t>1100 </a:t>
            </a:r>
            <a:r>
              <a:rPr lang="en-US" sz="3200" dirty="0">
                <a:latin typeface="Times New Roman" panose="02020603050405020304" pitchFamily="18" charset="0"/>
                <a:cs typeface="Times New Roman" panose="02020603050405020304" pitchFamily="18" charset="0"/>
              </a:rPr>
              <a:t>- Independence and Objectivity</a:t>
            </a:r>
          </a:p>
        </p:txBody>
      </p:sp>
      <p:sp>
        <p:nvSpPr>
          <p:cNvPr id="3" name="Content Placeholder 2"/>
          <p:cNvSpPr>
            <a:spLocks noGrp="1"/>
          </p:cNvSpPr>
          <p:nvPr>
            <p:ph idx="1"/>
          </p:nvPr>
        </p:nvSpPr>
        <p:spPr>
          <a:xfrm>
            <a:off x="609600" y="914401"/>
            <a:ext cx="10972800" cy="4525963"/>
          </a:xfrm>
        </p:spPr>
        <p:txBody>
          <a:bodyPr>
            <a:normAutofit/>
          </a:bodyPr>
          <a:lstStyle/>
          <a:p>
            <a:pPr marL="0" indent="0" algn="just">
              <a:buNone/>
            </a:pPr>
            <a:r>
              <a:rPr lang="en-US" sz="2400" dirty="0" smtClean="0">
                <a:latin typeface="Times New Roman" panose="02020603050405020304" pitchFamily="18" charset="0"/>
                <a:cs typeface="Times New Roman" panose="02020603050405020304" pitchFamily="18" charset="0"/>
              </a:rPr>
              <a:t>1110 – Organizational Independence</a:t>
            </a:r>
          </a:p>
          <a:p>
            <a:pPr lvl="1"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1110.A1 </a:t>
            </a:r>
            <a:r>
              <a:rPr lang="en-US" dirty="0">
                <a:latin typeface="Times New Roman" panose="02020603050405020304" pitchFamily="18" charset="0"/>
                <a:cs typeface="Times New Roman" panose="02020603050405020304" pitchFamily="18" charset="0"/>
              </a:rPr>
              <a:t>– The internal audit activity must be free from interference in determining the scope of internal auditing, performing work, and communicating results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1111 – Direct Interaction with the board</a:t>
            </a:r>
          </a:p>
          <a:p>
            <a:pPr marL="0" indent="0" algn="just">
              <a:buNone/>
            </a:pPr>
            <a:r>
              <a:rPr lang="en-US" sz="2400" dirty="0" smtClean="0">
                <a:latin typeface="Times New Roman" panose="02020603050405020304" pitchFamily="18" charset="0"/>
                <a:cs typeface="Times New Roman" panose="02020603050405020304" pitchFamily="18" charset="0"/>
              </a:rPr>
              <a:t>1112 - </a:t>
            </a:r>
            <a:r>
              <a:rPr lang="en-US" sz="2400" dirty="0">
                <a:latin typeface="Times New Roman" panose="02020603050405020304" pitchFamily="18" charset="0"/>
                <a:cs typeface="Times New Roman" panose="02020603050405020304" pitchFamily="18" charset="0"/>
              </a:rPr>
              <a:t>Chief Audit Executive Roles Beyond Internal Auditing </a:t>
            </a:r>
          </a:p>
          <a:p>
            <a:pPr marL="0" indent="0" algn="just">
              <a:buNone/>
            </a:pPr>
            <a:r>
              <a:rPr lang="en-US" sz="2400" dirty="0" smtClean="0">
                <a:latin typeface="Times New Roman" panose="02020603050405020304" pitchFamily="18" charset="0"/>
                <a:cs typeface="Times New Roman" panose="02020603050405020304" pitchFamily="18" charset="0"/>
              </a:rPr>
              <a:t>1120 – Individual Objectivity</a:t>
            </a:r>
          </a:p>
          <a:p>
            <a:pPr marL="0" indent="0" algn="just">
              <a:buNone/>
            </a:pPr>
            <a:r>
              <a:rPr lang="en-US" sz="2400" dirty="0" smtClean="0">
                <a:latin typeface="Times New Roman" panose="02020603050405020304" pitchFamily="18" charset="0"/>
                <a:cs typeface="Times New Roman" panose="02020603050405020304" pitchFamily="18" charset="0"/>
              </a:rPr>
              <a:t>1130 – Impairment to Independence or Objectivity </a:t>
            </a: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1130.A1 </a:t>
            </a:r>
            <a:r>
              <a:rPr lang="en-US" dirty="0" smtClean="0">
                <a:latin typeface="Times New Roman" panose="02020603050405020304" pitchFamily="18" charset="0"/>
                <a:cs typeface="Times New Roman" panose="02020603050405020304" pitchFamily="18" charset="0"/>
              </a:rPr>
              <a:t>–Assurance within year</a:t>
            </a:r>
          </a:p>
          <a:p>
            <a:pPr lvl="1"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1130.A2 </a:t>
            </a:r>
            <a:r>
              <a:rPr lang="en-US" dirty="0">
                <a:latin typeface="Times New Roman" panose="02020603050405020304" pitchFamily="18" charset="0"/>
                <a:cs typeface="Times New Roman" panose="02020603050405020304" pitchFamily="18" charset="0"/>
              </a:rPr>
              <a:t>– Assurance engagements for functions over which the </a:t>
            </a:r>
            <a:r>
              <a:rPr lang="en-US" dirty="0" smtClean="0">
                <a:latin typeface="Times New Roman" panose="02020603050405020304" pitchFamily="18" charset="0"/>
                <a:cs typeface="Times New Roman" panose="02020603050405020304" pitchFamily="18" charset="0"/>
              </a:rPr>
              <a:t>CAE is responsible</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1130.A3 </a:t>
            </a:r>
            <a:r>
              <a:rPr lang="en-US" dirty="0" smtClean="0">
                <a:latin typeface="Times New Roman" panose="02020603050405020304" pitchFamily="18" charset="0"/>
                <a:cs typeface="Times New Roman" panose="02020603050405020304" pitchFamily="18" charset="0"/>
              </a:rPr>
              <a:t>– Consulting which does not </a:t>
            </a:r>
            <a:r>
              <a:rPr lang="en-US" dirty="0">
                <a:latin typeface="Times New Roman" panose="02020603050405020304" pitchFamily="18" charset="0"/>
                <a:cs typeface="Times New Roman" panose="02020603050405020304" pitchFamily="18" charset="0"/>
              </a:rPr>
              <a:t>impair </a:t>
            </a:r>
            <a:r>
              <a:rPr lang="en-US" dirty="0" smtClean="0">
                <a:latin typeface="Times New Roman" panose="02020603050405020304" pitchFamily="18" charset="0"/>
                <a:cs typeface="Times New Roman" panose="02020603050405020304" pitchFamily="18" charset="0"/>
              </a:rPr>
              <a:t>objectivity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E2F3C12-4A6A-4212-A157-AE121822CE5B}" type="slidenum">
              <a:rPr lang="en-US" smtClean="0"/>
              <a:t>10</a:t>
            </a:fld>
            <a:endParaRPr lang="en-US"/>
          </a:p>
        </p:txBody>
      </p:sp>
      <p:sp>
        <p:nvSpPr>
          <p:cNvPr id="5" name="GTBClassificationH65720693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8383660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latin typeface="Times New Roman" panose="02020603050405020304" pitchFamily="18" charset="0"/>
                <a:cs typeface="Times New Roman" panose="02020603050405020304" pitchFamily="18" charset="0"/>
              </a:rPr>
              <a:t>1100 - Independence and Objectivity (Cont’d)</a:t>
            </a:r>
            <a:endParaRPr lang="en-US"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41370581"/>
              </p:ext>
            </p:extLst>
          </p:nvPr>
        </p:nvGraphicFramePr>
        <p:xfrm>
          <a:off x="480669" y="947828"/>
          <a:ext cx="11163868" cy="4906590"/>
        </p:xfrm>
        <a:graphic>
          <a:graphicData uri="http://schemas.openxmlformats.org/drawingml/2006/table">
            <a:tbl>
              <a:tblPr firstRow="1" bandRow="1">
                <a:tableStyleId>{5C22544A-7EE6-4342-B048-85BDC9FD1C3A}</a:tableStyleId>
              </a:tblPr>
              <a:tblGrid>
                <a:gridCol w="6412644"/>
                <a:gridCol w="4751224"/>
              </a:tblGrid>
              <a:tr h="426030">
                <a:tc>
                  <a:txBody>
                    <a:bodyPr/>
                    <a:lstStyle/>
                    <a:p>
                      <a:pPr algn="ctr"/>
                      <a:r>
                        <a:rPr lang="en-US" sz="1600" dirty="0" smtClean="0">
                          <a:solidFill>
                            <a:srgbClr val="FF0000"/>
                          </a:solidFill>
                        </a:rPr>
                        <a:t>Major Requirements</a:t>
                      </a:r>
                      <a:endParaRPr lang="en-US" sz="16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smtClean="0">
                          <a:solidFill>
                            <a:srgbClr val="FF0000"/>
                          </a:solidFill>
                        </a:rPr>
                        <a:t>Documents </a:t>
                      </a:r>
                      <a:endParaRPr lang="en-US" sz="16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71975">
                <a:tc>
                  <a:txBody>
                    <a:bodyPr/>
                    <a:lstStyle/>
                    <a:p>
                      <a:pPr marL="285750" indent="-285750" algn="l">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Annual Independence</a:t>
                      </a:r>
                      <a:r>
                        <a:rPr lang="en-US" sz="1600" baseline="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confirms to AC</a:t>
                      </a:r>
                    </a:p>
                    <a:p>
                      <a:pPr marL="285750" indent="-285750" algn="l">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IA assignment</a:t>
                      </a:r>
                      <a:r>
                        <a:rPr lang="en-US" sz="1600" baseline="0" dirty="0" smtClean="0">
                          <a:latin typeface="Times New Roman" panose="02020603050405020304" pitchFamily="18" charset="0"/>
                          <a:cs typeface="Times New Roman" panose="02020603050405020304" pitchFamily="18" charset="0"/>
                        </a:rPr>
                        <a:t> is free from interference in determining the scope, performing work and communicating results.</a:t>
                      </a:r>
                    </a:p>
                    <a:p>
                      <a:pPr marL="285750" indent="-285750" algn="l">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AC Approves IA</a:t>
                      </a:r>
                      <a:r>
                        <a:rPr lang="en-US" sz="1600" baseline="0" dirty="0" smtClean="0">
                          <a:latin typeface="Times New Roman" panose="02020603050405020304" pitchFamily="18" charset="0"/>
                          <a:cs typeface="Times New Roman" panose="02020603050405020304" pitchFamily="18" charset="0"/>
                        </a:rPr>
                        <a:t> Charter</a:t>
                      </a:r>
                    </a:p>
                    <a:p>
                      <a:pPr marL="285750" indent="-285750" algn="l">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AC approves the risk based internal audit plan.</a:t>
                      </a:r>
                    </a:p>
                    <a:p>
                      <a:pPr marL="285750" indent="-285750" algn="l">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AC approves appointment and removal of CAE</a:t>
                      </a:r>
                    </a:p>
                    <a:p>
                      <a:pPr marL="285750" indent="-285750" algn="l">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Periodic reporting to AC on IA plan and other matters</a:t>
                      </a:r>
                    </a:p>
                    <a:p>
                      <a:pPr marL="285750" indent="-285750" algn="l">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Direct Interaction</a:t>
                      </a:r>
                      <a:r>
                        <a:rPr lang="en-US" sz="1600" baseline="0" dirty="0" smtClean="0">
                          <a:latin typeface="Times New Roman" panose="02020603050405020304" pitchFamily="18" charset="0"/>
                          <a:cs typeface="Times New Roman" panose="02020603050405020304" pitchFamily="18" charset="0"/>
                        </a:rPr>
                        <a:t> with board</a:t>
                      </a:r>
                    </a:p>
                    <a:p>
                      <a:pPr marL="285750" indent="-285750" algn="l">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No Scope Limitation on GIA activities</a:t>
                      </a:r>
                    </a:p>
                    <a:p>
                      <a:pPr marL="285750" indent="-285750" algn="l">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Fee, gifts and entertainment</a:t>
                      </a:r>
                    </a:p>
                    <a:p>
                      <a:pPr marL="285750" indent="-285750" algn="l">
                        <a:buFont typeface="Arial" panose="020B0604020202020204" pitchFamily="34" charset="0"/>
                        <a:buChar char="•"/>
                      </a:pPr>
                      <a:r>
                        <a:rPr lang="en-US" sz="16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Internal auditors must refrain from assessing specific operations for which they were previously responsible. </a:t>
                      </a:r>
                    </a:p>
                    <a:p>
                      <a:pPr marL="285750" indent="-285750" algn="l">
                        <a:buFont typeface="Arial" panose="020B0604020202020204" pitchFamily="34" charset="0"/>
                        <a:buChar char="•"/>
                      </a:pPr>
                      <a:r>
                        <a:rPr lang="en-US" sz="16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Assurance engagements for functions over which the chief audit executive has responsibility must be overseen by a party outside the internal audit activity. </a:t>
                      </a:r>
                    </a:p>
                    <a:p>
                      <a:pPr marL="285750" indent="-285750" algn="l">
                        <a:buFont typeface="Arial" panose="020B0604020202020204" pitchFamily="34" charset="0"/>
                        <a:buChar char="•"/>
                      </a:pPr>
                      <a:r>
                        <a:rPr lang="en-US" sz="16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The internal audit activity may provide assurance services where it had previously performed consulting services, provided the nature of the consulting did not impair objectivity.</a:t>
                      </a:r>
                      <a:endParaRPr 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Conflict of interest declaration by CAE</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Organization Chart</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Approved annual audit plan and </a:t>
                      </a:r>
                      <a:r>
                        <a:rPr lang="en-US" sz="1600" kern="1200" dirty="0" smtClean="0">
                          <a:solidFill>
                            <a:schemeClr val="dk1"/>
                          </a:solidFill>
                          <a:latin typeface="Times New Roman" panose="02020603050405020304" pitchFamily="18" charset="0"/>
                          <a:ea typeface="+mn-ea"/>
                          <a:cs typeface="Times New Roman" panose="02020603050405020304" pitchFamily="18" charset="0"/>
                        </a:rPr>
                        <a:t>charter</a:t>
                      </a:r>
                      <a:endParaRPr lang="en-US" sz="16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Minutes of the meeting with AC</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GIA </a:t>
                      </a:r>
                      <a:r>
                        <a:rPr lang="en-US" sz="1600" kern="1200" dirty="0" smtClean="0">
                          <a:solidFill>
                            <a:schemeClr val="dk1"/>
                          </a:solidFill>
                          <a:latin typeface="Times New Roman" panose="02020603050405020304" pitchFamily="18" charset="0"/>
                          <a:ea typeface="+mn-ea"/>
                          <a:cs typeface="Times New Roman" panose="02020603050405020304" pitchFamily="18" charset="0"/>
                        </a:rPr>
                        <a:t>Charter / Policy</a:t>
                      </a:r>
                      <a:endParaRPr lang="en-US" sz="16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Code of Ethics</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RAK</a:t>
                      </a:r>
                      <a:r>
                        <a:rPr lang="en-US" sz="1600" kern="1200" baseline="0" dirty="0" smtClean="0">
                          <a:solidFill>
                            <a:schemeClr val="dk1"/>
                          </a:solidFill>
                          <a:latin typeface="Times New Roman" panose="02020603050405020304" pitchFamily="18" charset="0"/>
                          <a:ea typeface="+mn-ea"/>
                          <a:cs typeface="Times New Roman" panose="02020603050405020304" pitchFamily="18" charset="0"/>
                        </a:rPr>
                        <a:t> </a:t>
                      </a:r>
                      <a:r>
                        <a:rPr lang="en-US" sz="1600" kern="1200" dirty="0" smtClean="0">
                          <a:solidFill>
                            <a:schemeClr val="dk1"/>
                          </a:solidFill>
                          <a:latin typeface="Times New Roman" panose="02020603050405020304" pitchFamily="18" charset="0"/>
                          <a:ea typeface="+mn-ea"/>
                          <a:cs typeface="Times New Roman" panose="02020603050405020304" pitchFamily="18" charset="0"/>
                        </a:rPr>
                        <a:t>Code of Conduct</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Gift Policy</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Review of work performed for the new joiners from other department</a:t>
                      </a:r>
                    </a:p>
                    <a:p>
                      <a:pPr marL="285750" indent="-285750">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Indemnity from the auditors for which they were responsible previously.</a:t>
                      </a:r>
                    </a:p>
                    <a:p>
                      <a:pPr marL="285750" indent="-285750">
                        <a:buFont typeface="Arial" panose="020B0604020202020204" pitchFamily="34" charset="0"/>
                        <a:buChar char="•"/>
                      </a:pPr>
                      <a:endParaRPr lang="en-US" sz="1600" baseline="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11</a:t>
            </a:fld>
            <a:endParaRPr lang="en-US"/>
          </a:p>
        </p:txBody>
      </p:sp>
      <p:sp>
        <p:nvSpPr>
          <p:cNvPr id="5" name="GTBClassificationH48115804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980693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latin typeface="Times New Roman" panose="02020603050405020304" pitchFamily="18" charset="0"/>
                <a:cs typeface="Times New Roman" panose="02020603050405020304" pitchFamily="18" charset="0"/>
              </a:rPr>
              <a:t>1200 - Proficiency </a:t>
            </a:r>
            <a:r>
              <a:rPr lang="en-US" sz="3200" dirty="0">
                <a:latin typeface="Times New Roman" panose="02020603050405020304" pitchFamily="18" charset="0"/>
                <a:cs typeface="Times New Roman" panose="02020603050405020304" pitchFamily="18" charset="0"/>
              </a:rPr>
              <a:t>and Due </a:t>
            </a:r>
            <a:r>
              <a:rPr lang="en-US" sz="3200" dirty="0" smtClean="0">
                <a:latin typeface="Times New Roman" panose="02020603050405020304" pitchFamily="18" charset="0"/>
                <a:cs typeface="Times New Roman" panose="02020603050405020304" pitchFamily="18" charset="0"/>
              </a:rPr>
              <a:t>Professional Care</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86591"/>
            <a:ext cx="10972800" cy="4525963"/>
          </a:xfrm>
        </p:spPr>
        <p:txBody>
          <a:bodyPr>
            <a:normAutofit/>
          </a:bodyPr>
          <a:lstStyle/>
          <a:p>
            <a:pPr marL="0" indent="0" algn="just">
              <a:buNone/>
            </a:pPr>
            <a:r>
              <a:rPr lang="en-US" sz="2400" dirty="0" smtClean="0">
                <a:latin typeface="Times New Roman" panose="02020603050405020304" pitchFamily="18" charset="0"/>
                <a:cs typeface="Times New Roman" panose="02020603050405020304" pitchFamily="18" charset="0"/>
              </a:rPr>
              <a:t>1210 - Proficiency</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1210.A1 </a:t>
            </a:r>
            <a:r>
              <a:rPr lang="en-US" sz="2000" dirty="0" smtClean="0">
                <a:latin typeface="Times New Roman" panose="02020603050405020304" pitchFamily="18" charset="0"/>
                <a:cs typeface="Times New Roman" panose="02020603050405020304" pitchFamily="18" charset="0"/>
              </a:rPr>
              <a:t>– assistance </a:t>
            </a:r>
            <a:r>
              <a:rPr lang="en-US" sz="2000" dirty="0">
                <a:latin typeface="Times New Roman" panose="02020603050405020304" pitchFamily="18" charset="0"/>
                <a:cs typeface="Times New Roman" panose="02020603050405020304" pitchFamily="18" charset="0"/>
              </a:rPr>
              <a:t>if the internal auditors lack the knowledge, skills, or other competencies </a:t>
            </a:r>
            <a:endParaRPr lang="en-US" sz="20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1210.A2 </a:t>
            </a:r>
            <a:r>
              <a:rPr lang="en-US" sz="2000" dirty="0">
                <a:latin typeface="Times New Roman" panose="02020603050405020304" pitchFamily="18" charset="0"/>
                <a:cs typeface="Times New Roman" panose="02020603050405020304" pitchFamily="18" charset="0"/>
              </a:rPr>
              <a:t>– Internal auditors must have sufficient knowledge to evaluate the risk of fraud </a:t>
            </a:r>
            <a:r>
              <a:rPr lang="en-US" sz="2000" dirty="0" smtClean="0">
                <a:latin typeface="Times New Roman" panose="02020603050405020304" pitchFamily="18" charset="0"/>
                <a:cs typeface="Times New Roman" panose="02020603050405020304" pitchFamily="18" charset="0"/>
              </a:rPr>
              <a:t>but </a:t>
            </a:r>
            <a:r>
              <a:rPr lang="en-US" sz="2000" dirty="0">
                <a:latin typeface="Times New Roman" panose="02020603050405020304" pitchFamily="18" charset="0"/>
                <a:cs typeface="Times New Roman" panose="02020603050405020304" pitchFamily="18" charset="0"/>
              </a:rPr>
              <a:t>are not expected to have the expertise of </a:t>
            </a:r>
            <a:r>
              <a:rPr lang="en-US" sz="2000" dirty="0" smtClean="0">
                <a:latin typeface="Times New Roman" panose="02020603050405020304" pitchFamily="18" charset="0"/>
                <a:cs typeface="Times New Roman" panose="02020603050405020304" pitchFamily="18" charset="0"/>
              </a:rPr>
              <a:t>detecting and investigating fraud</a:t>
            </a:r>
            <a:endParaRPr lang="en-US" sz="20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1210.A3 – Internal auditors must have sufficient knowledge of key information technology risks and controls and available technology-based audit </a:t>
            </a:r>
            <a:endParaRPr lang="en-US" sz="20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1210.C1 </a:t>
            </a:r>
            <a:r>
              <a:rPr lang="en-US" sz="2000" dirty="0">
                <a:latin typeface="Times New Roman" panose="02020603050405020304" pitchFamily="18" charset="0"/>
                <a:cs typeface="Times New Roman" panose="02020603050405020304" pitchFamily="18" charset="0"/>
              </a:rPr>
              <a:t>– The chief audit executive must decline the consulting engagement or obtain competent advice and assistance if the internal auditors lack the knowledge, skills, or other competencies needed to perform all or part of the engagement. </a:t>
            </a:r>
            <a:endParaRPr lang="en-US" sz="2000" dirty="0" smtClean="0">
              <a:latin typeface="Times New Roman" panose="02020603050405020304" pitchFamily="18" charset="0"/>
              <a:cs typeface="Times New Roman" panose="02020603050405020304" pitchFamily="18" charset="0"/>
            </a:endParaRPr>
          </a:p>
          <a:p>
            <a:pPr marL="0" indent="0" algn="just">
              <a:buNone/>
            </a:pPr>
            <a:endParaRPr lang="en-US" sz="2800" dirty="0"/>
          </a:p>
        </p:txBody>
      </p:sp>
      <p:sp>
        <p:nvSpPr>
          <p:cNvPr id="4" name="Slide Number Placeholder 3"/>
          <p:cNvSpPr>
            <a:spLocks noGrp="1"/>
          </p:cNvSpPr>
          <p:nvPr>
            <p:ph type="sldNum" sz="quarter" idx="12"/>
          </p:nvPr>
        </p:nvSpPr>
        <p:spPr/>
        <p:txBody>
          <a:bodyPr/>
          <a:lstStyle/>
          <a:p>
            <a:fld id="{6E2F3C12-4A6A-4212-A157-AE121822CE5B}" type="slidenum">
              <a:rPr lang="en-US" smtClean="0"/>
              <a:t>12</a:t>
            </a:fld>
            <a:endParaRPr lang="en-US"/>
          </a:p>
        </p:txBody>
      </p:sp>
      <p:sp>
        <p:nvSpPr>
          <p:cNvPr id="5" name="GTBClassificationH51711032"/>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027279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Times New Roman" panose="02020603050405020304" pitchFamily="18" charset="0"/>
                <a:cs typeface="Times New Roman" panose="02020603050405020304" pitchFamily="18" charset="0"/>
              </a:rPr>
              <a:t>1200 - Proficiency and Due Professional Care (Cont’d)</a:t>
            </a:r>
            <a:endParaRPr lang="en-US" sz="3200" dirty="0"/>
          </a:p>
        </p:txBody>
      </p:sp>
      <p:sp>
        <p:nvSpPr>
          <p:cNvPr id="3" name="Content Placeholder 2"/>
          <p:cNvSpPr>
            <a:spLocks noGrp="1"/>
          </p:cNvSpPr>
          <p:nvPr>
            <p:ph idx="1"/>
          </p:nvPr>
        </p:nvSpPr>
        <p:spPr>
          <a:xfrm>
            <a:off x="874294" y="933887"/>
            <a:ext cx="10515600" cy="5476789"/>
          </a:xfrm>
        </p:spPr>
        <p:txBody>
          <a:bodyPr>
            <a:noAutofit/>
          </a:bodyPr>
          <a:lstStyle/>
          <a:p>
            <a:pPr marL="0" indent="0">
              <a:buNone/>
            </a:pPr>
            <a:r>
              <a:rPr lang="en-US" sz="1900" dirty="0">
                <a:latin typeface="Times New Roman" panose="02020603050405020304" pitchFamily="18" charset="0"/>
                <a:cs typeface="Times New Roman" panose="02020603050405020304" pitchFamily="18" charset="0"/>
              </a:rPr>
              <a:t>1220 - Due Professional Care</a:t>
            </a:r>
          </a:p>
          <a:p>
            <a:pPr lvl="1" algn="just">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1220.A1 </a:t>
            </a:r>
            <a:r>
              <a:rPr lang="en-US" sz="1900" dirty="0" smtClean="0">
                <a:latin typeface="Times New Roman" panose="02020603050405020304" pitchFamily="18" charset="0"/>
                <a:cs typeface="Times New Roman" panose="02020603050405020304" pitchFamily="18" charset="0"/>
              </a:rPr>
              <a:t>– Extent </a:t>
            </a:r>
            <a:r>
              <a:rPr lang="en-US" sz="1900" dirty="0">
                <a:latin typeface="Times New Roman" panose="02020603050405020304" pitchFamily="18" charset="0"/>
                <a:cs typeface="Times New Roman" panose="02020603050405020304" pitchFamily="18" charset="0"/>
              </a:rPr>
              <a:t>of work needed to achieve the engagement’s objectives. </a:t>
            </a:r>
            <a:r>
              <a:rPr lang="en-US" sz="1900" dirty="0" smtClean="0">
                <a:latin typeface="Times New Roman" panose="02020603050405020304" pitchFamily="18" charset="0"/>
                <a:cs typeface="Times New Roman" panose="02020603050405020304" pitchFamily="18" charset="0"/>
              </a:rPr>
              <a:t>Relative </a:t>
            </a:r>
            <a:r>
              <a:rPr lang="en-US" sz="1900" dirty="0">
                <a:latin typeface="Times New Roman" panose="02020603050405020304" pitchFamily="18" charset="0"/>
                <a:cs typeface="Times New Roman" panose="02020603050405020304" pitchFamily="18" charset="0"/>
              </a:rPr>
              <a:t>complexity, materiality, or significance of matters to which assurance procedures are applied. </a:t>
            </a:r>
            <a:r>
              <a:rPr lang="en-US" sz="1900" dirty="0" smtClean="0">
                <a:latin typeface="Times New Roman" panose="02020603050405020304" pitchFamily="18" charset="0"/>
                <a:cs typeface="Times New Roman" panose="02020603050405020304" pitchFamily="18" charset="0"/>
              </a:rPr>
              <a:t>Adequacy </a:t>
            </a:r>
            <a:r>
              <a:rPr lang="en-US" sz="1900" dirty="0">
                <a:latin typeface="Times New Roman" panose="02020603050405020304" pitchFamily="18" charset="0"/>
                <a:cs typeface="Times New Roman" panose="02020603050405020304" pitchFamily="18" charset="0"/>
              </a:rPr>
              <a:t>and effectiveness of governance, risk management, and control </a:t>
            </a:r>
            <a:r>
              <a:rPr lang="en-US" sz="1900" dirty="0" smtClean="0">
                <a:latin typeface="Times New Roman" panose="02020603050405020304" pitchFamily="18" charset="0"/>
                <a:cs typeface="Times New Roman" panose="02020603050405020304" pitchFamily="18" charset="0"/>
              </a:rPr>
              <a:t>processes. Probability </a:t>
            </a:r>
            <a:r>
              <a:rPr lang="en-US" sz="1900" dirty="0">
                <a:latin typeface="Times New Roman" panose="02020603050405020304" pitchFamily="18" charset="0"/>
                <a:cs typeface="Times New Roman" panose="02020603050405020304" pitchFamily="18" charset="0"/>
              </a:rPr>
              <a:t>of significant errors, fraud, or </a:t>
            </a:r>
            <a:r>
              <a:rPr lang="en-US" sz="1900" dirty="0" smtClean="0">
                <a:latin typeface="Times New Roman" panose="02020603050405020304" pitchFamily="18" charset="0"/>
                <a:cs typeface="Times New Roman" panose="02020603050405020304" pitchFamily="18" charset="0"/>
              </a:rPr>
              <a:t>non-compliance. Cost </a:t>
            </a:r>
            <a:r>
              <a:rPr lang="en-US" sz="1900" dirty="0">
                <a:latin typeface="Times New Roman" panose="02020603050405020304" pitchFamily="18" charset="0"/>
                <a:cs typeface="Times New Roman" panose="02020603050405020304" pitchFamily="18" charset="0"/>
              </a:rPr>
              <a:t>of assurance in relation to potential benefits</a:t>
            </a:r>
            <a:r>
              <a:rPr lang="en-US" sz="1900" dirty="0" smtClean="0">
                <a:latin typeface="Times New Roman" panose="02020603050405020304" pitchFamily="18" charset="0"/>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1220.A2 </a:t>
            </a:r>
            <a:r>
              <a:rPr lang="en-US" sz="1900" i="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In exercising due professional care internal auditors must consider the use of technology-based audit and other data analysis techniques</a:t>
            </a:r>
            <a:r>
              <a:rPr lang="en-US" sz="1900" dirty="0" smtClean="0">
                <a:latin typeface="Times New Roman" panose="02020603050405020304" pitchFamily="18" charset="0"/>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1220.A3 – Internal auditors must be alert to the significant risks that might affect objectives, operations, or resources. However, assurance procedures alone, even when performed with due professional care, do not guarantee that all significant risks will be </a:t>
            </a:r>
            <a:r>
              <a:rPr lang="en-US" sz="1900" dirty="0" smtClean="0">
                <a:latin typeface="Times New Roman" panose="02020603050405020304" pitchFamily="18" charset="0"/>
                <a:cs typeface="Times New Roman" panose="02020603050405020304" pitchFamily="18" charset="0"/>
              </a:rPr>
              <a:t>identified</a:t>
            </a:r>
            <a:r>
              <a:rPr lang="en-US" sz="1900" dirty="0">
                <a:latin typeface="Times New Roman" panose="02020603050405020304" pitchFamily="18" charset="0"/>
                <a:cs typeface="Times New Roman" panose="02020603050405020304" pitchFamily="18" charset="0"/>
              </a:rPr>
              <a:t>.</a:t>
            </a:r>
          </a:p>
          <a:p>
            <a:pPr lvl="1" algn="just">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1220.C1 – Internal auditors must exercise due professional care during a consulting engagement by considering </a:t>
            </a:r>
            <a:r>
              <a:rPr lang="en-US" sz="1900" dirty="0" smtClean="0">
                <a:latin typeface="Times New Roman" panose="02020603050405020304" pitchFamily="18" charset="0"/>
                <a:cs typeface="Times New Roman" panose="02020603050405020304" pitchFamily="18" charset="0"/>
              </a:rPr>
              <a:t>the Needs </a:t>
            </a:r>
            <a:r>
              <a:rPr lang="en-US" sz="1900" dirty="0">
                <a:latin typeface="Times New Roman" panose="02020603050405020304" pitchFamily="18" charset="0"/>
                <a:cs typeface="Times New Roman" panose="02020603050405020304" pitchFamily="18" charset="0"/>
              </a:rPr>
              <a:t>and expectations of clients, including the nature, timing, and communication of engagement results. </a:t>
            </a:r>
            <a:r>
              <a:rPr lang="en-US" sz="1900" dirty="0" smtClean="0">
                <a:latin typeface="Times New Roman" panose="02020603050405020304" pitchFamily="18" charset="0"/>
                <a:cs typeface="Times New Roman" panose="02020603050405020304" pitchFamily="18" charset="0"/>
              </a:rPr>
              <a:t>Relative </a:t>
            </a:r>
            <a:r>
              <a:rPr lang="en-US" sz="1900" dirty="0">
                <a:latin typeface="Times New Roman" panose="02020603050405020304" pitchFamily="18" charset="0"/>
                <a:cs typeface="Times New Roman" panose="02020603050405020304" pitchFamily="18" charset="0"/>
              </a:rPr>
              <a:t>complexity and extent of work needed to achieve the engagement’s objectives. </a:t>
            </a:r>
            <a:r>
              <a:rPr lang="en-US" sz="1900" dirty="0" smtClean="0">
                <a:latin typeface="Times New Roman" panose="02020603050405020304" pitchFamily="18" charset="0"/>
                <a:cs typeface="Times New Roman" panose="02020603050405020304" pitchFamily="18" charset="0"/>
              </a:rPr>
              <a:t>Cost </a:t>
            </a:r>
            <a:r>
              <a:rPr lang="en-US" sz="1900" dirty="0">
                <a:latin typeface="Times New Roman" panose="02020603050405020304" pitchFamily="18" charset="0"/>
                <a:cs typeface="Times New Roman" panose="02020603050405020304" pitchFamily="18" charset="0"/>
              </a:rPr>
              <a:t>of the consulting engagement in relation to potential benefits. </a:t>
            </a:r>
          </a:p>
          <a:p>
            <a:pPr marL="0" indent="0">
              <a:buNone/>
            </a:pPr>
            <a:r>
              <a:rPr lang="en-US" sz="1900" dirty="0" smtClean="0">
                <a:latin typeface="Times New Roman" panose="02020603050405020304" pitchFamily="18" charset="0"/>
                <a:cs typeface="Times New Roman" panose="02020603050405020304" pitchFamily="18" charset="0"/>
              </a:rPr>
              <a:t>1230 - Continuing Professional Development</a:t>
            </a:r>
          </a:p>
          <a:p>
            <a:endParaRPr lang="en-US" sz="2400" dirty="0"/>
          </a:p>
        </p:txBody>
      </p:sp>
      <p:sp>
        <p:nvSpPr>
          <p:cNvPr id="4" name="Slide Number Placeholder 3"/>
          <p:cNvSpPr>
            <a:spLocks noGrp="1"/>
          </p:cNvSpPr>
          <p:nvPr>
            <p:ph type="sldNum" sz="quarter" idx="12"/>
          </p:nvPr>
        </p:nvSpPr>
        <p:spPr/>
        <p:txBody>
          <a:bodyPr/>
          <a:lstStyle/>
          <a:p>
            <a:fld id="{6E2F3C12-4A6A-4212-A157-AE121822CE5B}" type="slidenum">
              <a:rPr lang="en-US" smtClean="0"/>
              <a:t>13</a:t>
            </a:fld>
            <a:endParaRPr lang="en-US"/>
          </a:p>
        </p:txBody>
      </p:sp>
      <p:sp>
        <p:nvSpPr>
          <p:cNvPr id="5" name="GTBClassificationH1557597293"/>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9309211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Times New Roman" panose="02020603050405020304" pitchFamily="18" charset="0"/>
                <a:cs typeface="Times New Roman" panose="02020603050405020304" pitchFamily="18" charset="0"/>
              </a:rPr>
              <a:t>1200 - Proficiency and Due Professional Care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2299498"/>
              </p:ext>
            </p:extLst>
          </p:nvPr>
        </p:nvGraphicFramePr>
        <p:xfrm>
          <a:off x="838200" y="959412"/>
          <a:ext cx="10515600" cy="238252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Knowledge skills and other competencies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Collective</a:t>
                      </a:r>
                      <a:r>
                        <a:rPr lang="en-US" baseline="0" dirty="0" smtClean="0">
                          <a:latin typeface="Times New Roman" panose="02020603050405020304" pitchFamily="18" charset="0"/>
                          <a:cs typeface="Times New Roman" panose="02020603050405020304" pitchFamily="18" charset="0"/>
                        </a:rPr>
                        <a:t> knowledge, skills and other competencies</a:t>
                      </a:r>
                    </a:p>
                    <a:p>
                      <a:pPr marL="285750" indent="-285750">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Sufficient knowledge of fraud risk, It risk, and controls and CAATs</a:t>
                      </a:r>
                    </a:p>
                    <a:p>
                      <a:pPr marL="285750" indent="-285750">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Systematic Training</a:t>
                      </a:r>
                    </a:p>
                    <a:p>
                      <a:pPr marL="285750" indent="-285750">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CPE</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GIA Certifications and experience</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Competency Profile</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Staff Objectives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Staff Training Plans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Knowledge sharing sessions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CPE Requirement Database</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360</a:t>
                      </a:r>
                      <a:r>
                        <a:rPr lang="en-US" baseline="0" dirty="0" smtClean="0">
                          <a:latin typeface="Times New Roman" panose="02020603050405020304" pitchFamily="18" charset="0"/>
                          <a:cs typeface="Times New Roman" panose="02020603050405020304" pitchFamily="18" charset="0"/>
                        </a:rPr>
                        <a:t> degree learning within audit 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14</a:t>
            </a:fld>
            <a:endParaRPr lang="en-US"/>
          </a:p>
        </p:txBody>
      </p:sp>
      <p:sp>
        <p:nvSpPr>
          <p:cNvPr id="5" name="GTBClassificationH1671312002"/>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2178330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Times New Roman" panose="02020603050405020304" pitchFamily="18" charset="0"/>
                <a:cs typeface="Times New Roman" panose="02020603050405020304" pitchFamily="18" charset="0"/>
              </a:rPr>
              <a:t>1300 – Quality Assurance and Improvement </a:t>
            </a:r>
          </a:p>
        </p:txBody>
      </p:sp>
      <p:sp>
        <p:nvSpPr>
          <p:cNvPr id="3" name="Content Placeholder 2"/>
          <p:cNvSpPr>
            <a:spLocks noGrp="1"/>
          </p:cNvSpPr>
          <p:nvPr>
            <p:ph idx="1"/>
          </p:nvPr>
        </p:nvSpPr>
        <p:spPr>
          <a:xfrm>
            <a:off x="609600" y="1022685"/>
            <a:ext cx="10972800" cy="4525963"/>
          </a:xfrm>
        </p:spPr>
        <p:txBody>
          <a:bodyPr>
            <a:noAutofit/>
          </a:bodyPr>
          <a:lstStyle/>
          <a:p>
            <a:pPr marL="0" indent="0">
              <a:buNone/>
            </a:pPr>
            <a:r>
              <a:rPr lang="en-US" sz="2800" dirty="0">
                <a:latin typeface="Times New Roman" panose="02020603050405020304" pitchFamily="18" charset="0"/>
                <a:cs typeface="Times New Roman" panose="02020603050405020304" pitchFamily="18" charset="0"/>
              </a:rPr>
              <a:t>1310 - Requirements of the Quality Assurance and Improvement Program</a:t>
            </a:r>
          </a:p>
          <a:p>
            <a:pPr marL="0" indent="0">
              <a:buNone/>
            </a:pPr>
            <a:r>
              <a:rPr lang="en-US" sz="2800" dirty="0" smtClean="0">
                <a:latin typeface="Times New Roman" panose="02020603050405020304" pitchFamily="18" charset="0"/>
                <a:cs typeface="Times New Roman" panose="02020603050405020304" pitchFamily="18" charset="0"/>
              </a:rPr>
              <a:t>1311 - Internal </a:t>
            </a:r>
            <a:r>
              <a:rPr lang="en-US" sz="2800" dirty="0">
                <a:latin typeface="Times New Roman" panose="02020603050405020304" pitchFamily="18" charset="0"/>
                <a:cs typeface="Times New Roman" panose="02020603050405020304" pitchFamily="18" charset="0"/>
              </a:rPr>
              <a:t>Assessments</a:t>
            </a:r>
          </a:p>
          <a:p>
            <a:pPr marL="0" indent="0">
              <a:buNone/>
            </a:pPr>
            <a:r>
              <a:rPr lang="en-US" sz="2800" dirty="0" smtClean="0">
                <a:latin typeface="Times New Roman" panose="02020603050405020304" pitchFamily="18" charset="0"/>
                <a:cs typeface="Times New Roman" panose="02020603050405020304" pitchFamily="18" charset="0"/>
              </a:rPr>
              <a:t>1312 - External </a:t>
            </a:r>
            <a:r>
              <a:rPr lang="en-US" sz="2800" dirty="0">
                <a:latin typeface="Times New Roman" panose="02020603050405020304" pitchFamily="18" charset="0"/>
                <a:cs typeface="Times New Roman" panose="02020603050405020304" pitchFamily="18" charset="0"/>
              </a:rPr>
              <a:t>Assessments</a:t>
            </a:r>
          </a:p>
          <a:p>
            <a:pPr marL="0" indent="0">
              <a:buNone/>
            </a:pPr>
            <a:r>
              <a:rPr lang="en-US" sz="2800" dirty="0" smtClean="0">
                <a:latin typeface="Times New Roman" panose="02020603050405020304" pitchFamily="18" charset="0"/>
                <a:cs typeface="Times New Roman" panose="02020603050405020304" pitchFamily="18" charset="0"/>
              </a:rPr>
              <a:t>1320 - Reporting </a:t>
            </a:r>
            <a:r>
              <a:rPr lang="en-US" sz="2800" dirty="0">
                <a:latin typeface="Times New Roman" panose="02020603050405020304" pitchFamily="18" charset="0"/>
                <a:cs typeface="Times New Roman" panose="02020603050405020304" pitchFamily="18" charset="0"/>
              </a:rPr>
              <a:t>on the Quality Assurance and Improvement Program</a:t>
            </a:r>
          </a:p>
          <a:p>
            <a:pPr marL="0" indent="0">
              <a:buNone/>
            </a:pPr>
            <a:r>
              <a:rPr lang="en-US" sz="2800" dirty="0" smtClean="0">
                <a:latin typeface="Times New Roman" panose="02020603050405020304" pitchFamily="18" charset="0"/>
                <a:cs typeface="Times New Roman" panose="02020603050405020304" pitchFamily="18" charset="0"/>
              </a:rPr>
              <a:t>1321 - Use </a:t>
            </a:r>
            <a:r>
              <a:rPr lang="en-US" sz="2800" dirty="0">
                <a:latin typeface="Times New Roman" panose="02020603050405020304" pitchFamily="18" charset="0"/>
                <a:cs typeface="Times New Roman" panose="02020603050405020304" pitchFamily="18" charset="0"/>
              </a:rPr>
              <a:t>of “</a:t>
            </a:r>
            <a:r>
              <a:rPr lang="en-US" sz="2800" i="1" dirty="0">
                <a:latin typeface="Times New Roman" panose="02020603050405020304" pitchFamily="18" charset="0"/>
                <a:cs typeface="Times New Roman" panose="02020603050405020304" pitchFamily="18" charset="0"/>
              </a:rPr>
              <a:t>Conforms with the International Standards for the Professional Practice of Internal Auditing</a:t>
            </a:r>
            <a:r>
              <a:rPr lang="en-US" sz="2800" dirty="0">
                <a:latin typeface="Times New Roman" panose="02020603050405020304" pitchFamily="18" charset="0"/>
                <a:cs typeface="Times New Roman" panose="02020603050405020304" pitchFamily="18" charset="0"/>
              </a:rPr>
              <a:t>”</a:t>
            </a:r>
          </a:p>
          <a:p>
            <a:pPr marL="0" indent="0">
              <a:buNone/>
            </a:pPr>
            <a:r>
              <a:rPr lang="en-US" sz="2800" dirty="0" smtClean="0">
                <a:latin typeface="Times New Roman" panose="02020603050405020304" pitchFamily="18" charset="0"/>
                <a:cs typeface="Times New Roman" panose="02020603050405020304" pitchFamily="18" charset="0"/>
              </a:rPr>
              <a:t>1322 - Disclosure </a:t>
            </a:r>
            <a:r>
              <a:rPr lang="en-US" sz="2800" dirty="0">
                <a:latin typeface="Times New Roman" panose="02020603050405020304" pitchFamily="18" charset="0"/>
                <a:cs typeface="Times New Roman" panose="02020603050405020304" pitchFamily="18" charset="0"/>
              </a:rPr>
              <a:t>of Nonconformance</a:t>
            </a:r>
          </a:p>
        </p:txBody>
      </p:sp>
      <p:sp>
        <p:nvSpPr>
          <p:cNvPr id="4" name="Slide Number Placeholder 3"/>
          <p:cNvSpPr>
            <a:spLocks noGrp="1"/>
          </p:cNvSpPr>
          <p:nvPr>
            <p:ph type="sldNum" sz="quarter" idx="12"/>
          </p:nvPr>
        </p:nvSpPr>
        <p:spPr/>
        <p:txBody>
          <a:bodyPr/>
          <a:lstStyle/>
          <a:p>
            <a:fld id="{6E2F3C12-4A6A-4212-A157-AE121822CE5B}" type="slidenum">
              <a:rPr lang="en-US" smtClean="0"/>
              <a:t>15</a:t>
            </a:fld>
            <a:endParaRPr lang="en-US"/>
          </a:p>
        </p:txBody>
      </p:sp>
      <p:sp>
        <p:nvSpPr>
          <p:cNvPr id="5" name="GTBClassificationH30162058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4405696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Times New Roman" panose="02020603050405020304" pitchFamily="18" charset="0"/>
                <a:cs typeface="Times New Roman" panose="02020603050405020304" pitchFamily="18" charset="0"/>
              </a:rPr>
              <a:t>1300 – Quality Assurance and Improvement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38348215"/>
              </p:ext>
            </p:extLst>
          </p:nvPr>
        </p:nvGraphicFramePr>
        <p:xfrm>
          <a:off x="609600" y="943377"/>
          <a:ext cx="10972800" cy="5212724"/>
        </p:xfrm>
        <a:graphic>
          <a:graphicData uri="http://schemas.openxmlformats.org/drawingml/2006/table">
            <a:tbl>
              <a:tblPr firstRow="1" bandRow="1">
                <a:tableStyleId>{5C22544A-7EE6-4342-B048-85BDC9FD1C3A}</a:tableStyleId>
              </a:tblPr>
              <a:tblGrid>
                <a:gridCol w="5486400"/>
                <a:gridCol w="5486400"/>
              </a:tblGrid>
              <a:tr h="469209">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43515">
                <a:tc>
                  <a:txBody>
                    <a:bodyPr/>
                    <a:lstStyle/>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Comprehensive QAIP Program</a:t>
                      </a: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Evaluation with the Definition</a:t>
                      </a:r>
                      <a:r>
                        <a:rPr lang="en-US" sz="2000" baseline="0" dirty="0" smtClean="0">
                          <a:latin typeface="Times New Roman" panose="02020603050405020304" pitchFamily="18" charset="0"/>
                          <a:cs typeface="Times New Roman" panose="02020603050405020304" pitchFamily="18" charset="0"/>
                        </a:rPr>
                        <a:t> of Internal Auditing, the Code of Ethics and IIA  Standards</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Assess the efficiency and effectiveness</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Identifies opportunities for the improvement</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The result of QAIP to Senior Management , Audit Committee, and external auditors</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GIA conforms with the IPPF if only the results of QAIP supports the statement</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Non Conformance of internal periodic assessment and its impact is always disclosed to Senior Management and Audit Committee</a:t>
                      </a: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Incorporating</a:t>
                      </a:r>
                      <a:r>
                        <a:rPr lang="en-US" sz="2000" baseline="0" dirty="0" smtClean="0">
                          <a:latin typeface="Times New Roman" panose="02020603050405020304" pitchFamily="18" charset="0"/>
                          <a:cs typeface="Times New Roman" panose="02020603050405020304" pitchFamily="18" charset="0"/>
                        </a:rPr>
                        <a:t> the QAIP Program in GIA Manual</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Structure of QAIP Team</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Ongoing quality </a:t>
                      </a:r>
                      <a:r>
                        <a:rPr lang="en-US" sz="2000" baseline="0" dirty="0" smtClean="0">
                          <a:latin typeface="Times New Roman" panose="02020603050405020304" pitchFamily="18" charset="0"/>
                          <a:cs typeface="Times New Roman" panose="02020603050405020304" pitchFamily="18" charset="0"/>
                        </a:rPr>
                        <a:t>assurance</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Internal assessment report</a:t>
                      </a:r>
                      <a:endParaRPr lang="en-US" sz="2000" baseline="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External Assessment report</a:t>
                      </a:r>
                    </a:p>
                    <a:p>
                      <a:endParaRPr lang="en-US" sz="2000" dirty="0">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16</a:t>
            </a:fld>
            <a:endParaRPr lang="en-US"/>
          </a:p>
        </p:txBody>
      </p:sp>
      <p:sp>
        <p:nvSpPr>
          <p:cNvPr id="5" name="GTBClassificationH1392781258"/>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6368067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1300 – Quality Assurance and Improvement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8254105"/>
              </p:ext>
            </p:extLst>
          </p:nvPr>
        </p:nvGraphicFramePr>
        <p:xfrm>
          <a:off x="609600" y="946597"/>
          <a:ext cx="10972800" cy="375412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indent="0" algn="l" defTabSz="914400" rtl="0" eaLnBrk="1" latinLnBrk="0" hangingPunct="1">
                        <a:buFont typeface="Arial" panose="020B0604020202020204" pitchFamily="34" charset="0"/>
                        <a:buNone/>
                      </a:pPr>
                      <a:r>
                        <a:rPr lang="en-US" sz="2000" i="1" kern="1200" baseline="0" dirty="0" smtClean="0">
                          <a:solidFill>
                            <a:schemeClr val="dk1"/>
                          </a:solidFill>
                          <a:latin typeface="Times New Roman" panose="02020603050405020304" pitchFamily="18" charset="0"/>
                          <a:ea typeface="+mn-ea"/>
                          <a:cs typeface="Times New Roman" panose="02020603050405020304" pitchFamily="18" charset="0"/>
                        </a:rPr>
                        <a:t>Internal Assessment</a:t>
                      </a:r>
                    </a:p>
                    <a:p>
                      <a:endParaRPr lang="en-US" i="1" dirty="0" smtClean="0"/>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Ongoing monitoring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Ongoing monitoring is incorporated in the routine policy and procedures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Basis of internal assessment: The IIA Quality Assessment manual, or a comparable set of guidance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At least annually CAE reports the result of internal assessment to the </a:t>
                      </a:r>
                      <a:r>
                        <a:rPr lang="en-US" sz="2000" kern="1200" baseline="0" dirty="0" err="1" smtClean="0">
                          <a:solidFill>
                            <a:schemeClr val="dk1"/>
                          </a:solidFill>
                          <a:latin typeface="Times New Roman" panose="02020603050405020304" pitchFamily="18" charset="0"/>
                          <a:ea typeface="+mn-ea"/>
                          <a:cs typeface="Times New Roman" panose="02020603050405020304" pitchFamily="18" charset="0"/>
                        </a:rPr>
                        <a:t>baoard</a:t>
                      </a:r>
                      <a:endParaRPr lang="en-US" sz="2000" kern="1200" baseline="0" dirty="0" smtClean="0">
                        <a:solidFill>
                          <a:schemeClr val="dk1"/>
                        </a:solidFill>
                        <a:latin typeface="Times New Roman" panose="02020603050405020304" pitchFamily="18" charset="0"/>
                        <a:ea typeface="+mn-ea"/>
                        <a:cs typeface="Times New Roman" panose="02020603050405020304" pitchFamily="18" charset="0"/>
                      </a:endParaRPr>
                    </a:p>
                    <a:p>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GIA Manual</a:t>
                      </a:r>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KPIs</a:t>
                      </a:r>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Balance Score card</a:t>
                      </a:r>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IIA Quality assessment manual</a:t>
                      </a:r>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Internal Assessment report to 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17</a:t>
            </a:fld>
            <a:endParaRPr lang="en-US"/>
          </a:p>
        </p:txBody>
      </p:sp>
      <p:sp>
        <p:nvSpPr>
          <p:cNvPr id="5" name="GTBClassificationH1195682650"/>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0704129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1300 – Quality Assurance and Improvement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24578724"/>
              </p:ext>
            </p:extLst>
          </p:nvPr>
        </p:nvGraphicFramePr>
        <p:xfrm>
          <a:off x="609600" y="890337"/>
          <a:ext cx="10972800" cy="503428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indent="0">
                        <a:buFont typeface="Arial" panose="020B0604020202020204" pitchFamily="34" charset="0"/>
                        <a:buNone/>
                      </a:pPr>
                      <a:r>
                        <a:rPr lang="en-US" sz="2000" i="1" baseline="0" dirty="0" smtClean="0">
                          <a:latin typeface="Times New Roman" panose="02020603050405020304" pitchFamily="18" charset="0"/>
                          <a:cs typeface="Times New Roman" panose="02020603050405020304" pitchFamily="18" charset="0"/>
                        </a:rPr>
                        <a:t>External Assessment</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Full External assessment or self assessment with external validation</a:t>
                      </a:r>
                    </a:p>
                    <a:p>
                      <a:pPr marL="285750"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External Assessment at least every 5 years</a:t>
                      </a:r>
                      <a:endParaRPr lang="en-US" sz="20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lgn="l" defTabSz="914400" rtl="0" eaLnBrk="1" latinLnBrk="0" hangingPunct="1">
                        <a:buFont typeface="Arial" panose="020B0604020202020204" pitchFamily="34" charset="0"/>
                        <a:buChar char="•"/>
                      </a:pPr>
                      <a:r>
                        <a:rPr lang="en-US" sz="2000" kern="1200" dirty="0" smtClean="0">
                          <a:solidFill>
                            <a:schemeClr val="dk1"/>
                          </a:solidFill>
                          <a:latin typeface="Times New Roman" panose="02020603050405020304" pitchFamily="18" charset="0"/>
                          <a:ea typeface="+mn-ea"/>
                          <a:cs typeface="Times New Roman" panose="02020603050405020304" pitchFamily="18" charset="0"/>
                        </a:rPr>
                        <a:t>CAE discussions with</a:t>
                      </a: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 AC and SM on qualification, independence, selection, scope, deliverables.</a:t>
                      </a:r>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The preliminary results of the review are discussed with the CAE during and at the conclusion of, the assessment process</a:t>
                      </a:r>
                    </a:p>
                    <a:p>
                      <a:pPr marL="285750" indent="-285750" algn="l"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Final results are communicated to the CAE or other official who authorized the review for the organization preferably with copies sent directly to appropriate members of senior management and the board.</a:t>
                      </a:r>
                      <a:endParaRPr lang="en-US" sz="2000" kern="1200" dirty="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2000" kern="1200" dirty="0" smtClean="0">
                          <a:solidFill>
                            <a:schemeClr val="dk1"/>
                          </a:solidFill>
                          <a:latin typeface="Times New Roman" panose="02020603050405020304" pitchFamily="18" charset="0"/>
                          <a:ea typeface="+mn-ea"/>
                          <a:cs typeface="Times New Roman" panose="02020603050405020304" pitchFamily="18" charset="0"/>
                        </a:rPr>
                        <a:t>Engagement </a:t>
                      </a:r>
                      <a:r>
                        <a:rPr lang="en-US" sz="2000" kern="1200" dirty="0" smtClean="0">
                          <a:solidFill>
                            <a:schemeClr val="dk1"/>
                          </a:solidFill>
                          <a:latin typeface="Times New Roman" panose="02020603050405020304" pitchFamily="18" charset="0"/>
                          <a:ea typeface="+mn-ea"/>
                          <a:cs typeface="Times New Roman" panose="02020603050405020304" pitchFamily="18" charset="0"/>
                        </a:rPr>
                        <a:t>Letter / AAM / TOR</a:t>
                      </a:r>
                      <a:endParaRPr lang="en-US" sz="20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lgn="l" defTabSz="914400" rtl="0" eaLnBrk="1" latinLnBrk="0" hangingPunct="1">
                        <a:buFont typeface="Arial" panose="020B0604020202020204" pitchFamily="34" charset="0"/>
                        <a:buChar char="•"/>
                      </a:pPr>
                      <a:r>
                        <a:rPr lang="en-US" sz="2000" kern="1200" dirty="0" smtClean="0">
                          <a:solidFill>
                            <a:schemeClr val="dk1"/>
                          </a:solidFill>
                          <a:latin typeface="Times New Roman" panose="02020603050405020304" pitchFamily="18" charset="0"/>
                          <a:ea typeface="+mn-ea"/>
                          <a:cs typeface="Times New Roman" panose="02020603050405020304" pitchFamily="18" charset="0"/>
                        </a:rPr>
                        <a:t>Discussions with SM and AC ( Minutes of the </a:t>
                      </a:r>
                      <a:r>
                        <a:rPr lang="en-US" sz="2000" kern="1200" dirty="0" smtClean="0">
                          <a:solidFill>
                            <a:schemeClr val="dk1"/>
                          </a:solidFill>
                          <a:latin typeface="Times New Roman" panose="02020603050405020304" pitchFamily="18" charset="0"/>
                          <a:ea typeface="+mn-ea"/>
                          <a:cs typeface="Times New Roman" panose="02020603050405020304" pitchFamily="18" charset="0"/>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18</a:t>
            </a:fld>
            <a:endParaRPr lang="en-US"/>
          </a:p>
        </p:txBody>
      </p:sp>
      <p:sp>
        <p:nvSpPr>
          <p:cNvPr id="5" name="GTBClassificationH1797906108"/>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0677492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IPPF - STANDARDS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123682"/>
            <a:ext cx="10972800" cy="4525963"/>
          </a:xfrm>
        </p:spPr>
        <p:txBody>
          <a:bodyPr/>
          <a:lstStyle/>
          <a:p>
            <a:pPr marL="0" indent="0" algn="ctr">
              <a:buNone/>
            </a:pPr>
            <a:r>
              <a:rPr lang="en-US" sz="2800" dirty="0" smtClean="0">
                <a:latin typeface="Times New Roman" panose="02020603050405020304" pitchFamily="18" charset="0"/>
                <a:cs typeface="Times New Roman" panose="02020603050405020304" pitchFamily="18" charset="0"/>
              </a:rPr>
              <a:t>PERFORMANCE STANDARDS – 7 STANDARDS</a:t>
            </a:r>
          </a:p>
          <a:p>
            <a:pPr marL="0" indent="0">
              <a:buNone/>
            </a:pPr>
            <a:r>
              <a:rPr lang="en-US" sz="3200" dirty="0" smtClean="0">
                <a:latin typeface="Times New Roman" panose="02020603050405020304" pitchFamily="18" charset="0"/>
                <a:cs typeface="Times New Roman" panose="02020603050405020304" pitchFamily="18" charset="0"/>
              </a:rPr>
              <a:t>2000 </a:t>
            </a:r>
            <a:r>
              <a:rPr lang="en-US" sz="3200" dirty="0">
                <a:latin typeface="Times New Roman" panose="02020603050405020304" pitchFamily="18" charset="0"/>
                <a:cs typeface="Times New Roman" panose="02020603050405020304" pitchFamily="18" charset="0"/>
              </a:rPr>
              <a:t>– Managing the Internal Audit Activity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2100 – Nature of Work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2200 – Engagement Planning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2300 – Performing the Engagement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2400 – Communicating Results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2500 – Monitoring Progress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2600 – Communicating the Acceptance of Risks </a:t>
            </a:r>
            <a:endParaRPr lang="en-US" sz="3200"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E2F3C12-4A6A-4212-A157-AE121822CE5B}" type="slidenum">
              <a:rPr lang="en-US" smtClean="0"/>
              <a:t>19</a:t>
            </a:fld>
            <a:endParaRPr lang="en-US"/>
          </a:p>
        </p:txBody>
      </p:sp>
      <p:sp>
        <p:nvSpPr>
          <p:cNvPr id="5" name="GTBClassificationH1276517048"/>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8619770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2000 – Managing the Internal Audit Activity </a:t>
            </a:r>
            <a:endParaRPr lang="en-US" sz="3200" dirty="0"/>
          </a:p>
        </p:txBody>
      </p:sp>
      <p:sp>
        <p:nvSpPr>
          <p:cNvPr id="3" name="Content Placeholder 2"/>
          <p:cNvSpPr>
            <a:spLocks noGrp="1"/>
          </p:cNvSpPr>
          <p:nvPr>
            <p:ph idx="1"/>
          </p:nvPr>
        </p:nvSpPr>
        <p:spPr>
          <a:xfrm>
            <a:off x="609600" y="1200958"/>
            <a:ext cx="10972800"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2010 – Planning </a:t>
            </a:r>
            <a:endParaRPr lang="en-US"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2010.A1 – The internal audit activity’s plan of engagements must be based on a documented risk assessment, undertaken at least </a:t>
            </a:r>
            <a:r>
              <a:rPr lang="en-US" sz="2000" dirty="0" smtClean="0">
                <a:latin typeface="Times New Roman" panose="02020603050405020304" pitchFamily="18" charset="0"/>
                <a:cs typeface="Times New Roman" panose="02020603050405020304" pitchFamily="18" charset="0"/>
              </a:rPr>
              <a:t>annually.</a:t>
            </a:r>
          </a:p>
          <a:p>
            <a:pPr lvl="1"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2010.A2 </a:t>
            </a:r>
            <a:r>
              <a:rPr lang="en-US" sz="2000" dirty="0">
                <a:latin typeface="Times New Roman" panose="02020603050405020304" pitchFamily="18" charset="0"/>
                <a:cs typeface="Times New Roman" panose="02020603050405020304" pitchFamily="18" charset="0"/>
              </a:rPr>
              <a:t>– The chief audit executive must identify and consider the expectations of senior management, the board, and other stakeholders for internal audit opinions and other conclusions. </a:t>
            </a:r>
            <a:endParaRPr lang="en-US" sz="20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2010.C1 – Accepting </a:t>
            </a:r>
            <a:r>
              <a:rPr lang="en-US" sz="2000" dirty="0">
                <a:latin typeface="Times New Roman" panose="02020603050405020304" pitchFamily="18" charset="0"/>
                <a:cs typeface="Times New Roman" panose="02020603050405020304" pitchFamily="18" charset="0"/>
              </a:rPr>
              <a:t>proposed consulting </a:t>
            </a:r>
            <a:r>
              <a:rPr lang="en-US" sz="2000" dirty="0" smtClean="0">
                <a:latin typeface="Times New Roman" panose="02020603050405020304" pitchFamily="18" charset="0"/>
                <a:cs typeface="Times New Roman" panose="02020603050405020304" pitchFamily="18" charset="0"/>
              </a:rPr>
              <a:t>engagements</a:t>
            </a:r>
          </a:p>
          <a:p>
            <a:pPr marL="0" indent="0" algn="just">
              <a:buNone/>
            </a:pPr>
            <a:r>
              <a:rPr lang="en-US" dirty="0">
                <a:latin typeface="Times New Roman" panose="02020603050405020304" pitchFamily="18" charset="0"/>
                <a:cs typeface="Times New Roman" panose="02020603050405020304" pitchFamily="18" charset="0"/>
              </a:rPr>
              <a:t>2020 – Communication and Approval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2030 – Resource Management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2040 – Policies and Procedures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2050 – Coordination and Reliance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2060 – Reporting to Senior Management and the Board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2070 – External Service Provider and Organizational Responsibility for Internal Auditing </a:t>
            </a:r>
          </a:p>
        </p:txBody>
      </p:sp>
      <p:sp>
        <p:nvSpPr>
          <p:cNvPr id="4" name="Slide Number Placeholder 3"/>
          <p:cNvSpPr>
            <a:spLocks noGrp="1"/>
          </p:cNvSpPr>
          <p:nvPr>
            <p:ph type="sldNum" sz="quarter" idx="12"/>
          </p:nvPr>
        </p:nvSpPr>
        <p:spPr/>
        <p:txBody>
          <a:bodyPr/>
          <a:lstStyle/>
          <a:p>
            <a:fld id="{6E2F3C12-4A6A-4212-A157-AE121822CE5B}" type="slidenum">
              <a:rPr lang="en-US" smtClean="0"/>
              <a:t>20</a:t>
            </a:fld>
            <a:endParaRPr lang="en-US"/>
          </a:p>
        </p:txBody>
      </p:sp>
      <p:sp>
        <p:nvSpPr>
          <p:cNvPr id="5" name="GTBClassificationH607657998"/>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0776361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2000 – Managing the Internal Audit Activity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26374920"/>
              </p:ext>
            </p:extLst>
          </p:nvPr>
        </p:nvGraphicFramePr>
        <p:xfrm>
          <a:off x="609600" y="902368"/>
          <a:ext cx="10972800" cy="375412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Times New Roman" panose="02020603050405020304" pitchFamily="18" charset="0"/>
                          <a:cs typeface="Times New Roman" panose="02020603050405020304" pitchFamily="18" charset="0"/>
                        </a:rPr>
                        <a:t>2010 – Planning &amp;</a:t>
                      </a:r>
                      <a:r>
                        <a:rPr lang="en-US" i="1" baseline="0"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2020 – Communication and Approval </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Risk Based plan to determine the priorities of IAA based on documents risk assessment, undertaken at least annually.</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Input of SM and Board</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Develop or update the audit universe</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Make use of organizational risk management process.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Communicate plan to SM &amp;</a:t>
                      </a:r>
                      <a:r>
                        <a:rPr lang="en-US" baseline="0" dirty="0" smtClean="0">
                          <a:latin typeface="Times New Roman" panose="02020603050405020304" pitchFamily="18" charset="0"/>
                          <a:cs typeface="Times New Roman" panose="02020603050405020304" pitchFamily="18" charset="0"/>
                        </a:rPr>
                        <a:t> AC for review and approval</a:t>
                      </a:r>
                    </a:p>
                    <a:p>
                      <a:pPr marL="285750" indent="-285750">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Communicate resources requirements including limitations and impact of such limitation to SM and AC for review and approval</a:t>
                      </a:r>
                      <a:endParaRPr lang="en-US" dirty="0" smtClean="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smtClean="0"/>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Risk Based audit annual plan</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Annual survey</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Input from CEO</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Audit universe</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Input from </a:t>
                      </a:r>
                      <a:r>
                        <a:rPr lang="en-US" sz="1800" kern="1200" dirty="0" smtClean="0">
                          <a:solidFill>
                            <a:schemeClr val="dk1"/>
                          </a:solidFill>
                          <a:latin typeface="Times New Roman" panose="02020603050405020304" pitchFamily="18" charset="0"/>
                          <a:ea typeface="+mn-ea"/>
                          <a:cs typeface="Times New Roman" panose="02020603050405020304" pitchFamily="18" charset="0"/>
                        </a:rPr>
                        <a:t>Risk</a:t>
                      </a:r>
                      <a:endParaRPr lang="en-US" sz="18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Resource allocation</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GIA Organization chart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21</a:t>
            </a:fld>
            <a:endParaRPr lang="en-US"/>
          </a:p>
        </p:txBody>
      </p:sp>
      <p:sp>
        <p:nvSpPr>
          <p:cNvPr id="5" name="GTBClassificationH187385584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8546389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2000 – Managing the Internal Audit Activity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84766387"/>
              </p:ext>
            </p:extLst>
          </p:nvPr>
        </p:nvGraphicFramePr>
        <p:xfrm>
          <a:off x="609600" y="926431"/>
          <a:ext cx="10972800" cy="347980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indent="0" algn="just">
                        <a:buNone/>
                      </a:pPr>
                      <a:r>
                        <a:rPr lang="en-US" i="1" dirty="0" smtClean="0">
                          <a:latin typeface="Times New Roman" panose="02020603050405020304" pitchFamily="18" charset="0"/>
                          <a:cs typeface="Times New Roman" panose="02020603050405020304" pitchFamily="18" charset="0"/>
                        </a:rPr>
                        <a:t>2030 – Resource Management</a:t>
                      </a:r>
                      <a:r>
                        <a:rPr lang="en-US" i="1" baseline="0" dirty="0" smtClean="0">
                          <a:latin typeface="Times New Roman" panose="02020603050405020304" pitchFamily="18" charset="0"/>
                          <a:cs typeface="Times New Roman" panose="02020603050405020304" pitchFamily="18" charset="0"/>
                        </a:rPr>
                        <a:t> &amp; </a:t>
                      </a:r>
                      <a:r>
                        <a:rPr lang="en-US" i="1" dirty="0" smtClean="0">
                          <a:latin typeface="Times New Roman" panose="02020603050405020304" pitchFamily="18" charset="0"/>
                          <a:cs typeface="Times New Roman" panose="02020603050405020304" pitchFamily="18" charset="0"/>
                        </a:rPr>
                        <a:t>2040 – Policies and Procedures </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Resources are appropriate, sufficient, and effectively deployed to achieve the approved plan.</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Knowledge skills and competencies are appropriate and ensure the accomplishment of the plan</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Succession planning, staff evaluation, and development program, and other human resource discipline</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CAE must establish policies and procedures to guide IAA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l" defTabSz="914400" rtl="0" eaLnBrk="1" latinLnBrk="0" hangingPunct="1">
                        <a:buFont typeface="Arial" panose="020B0604020202020204" pitchFamily="34" charset="0"/>
                        <a:buChar char="•"/>
                      </a:pPr>
                      <a:endParaRPr lang="en-US" sz="18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lgn="l" defTabSz="914400" rtl="0" eaLnBrk="1" latinLnBrk="0" hangingPunct="1">
                        <a:buFont typeface="Arial" panose="020B0604020202020204" pitchFamily="34" charset="0"/>
                        <a:buChar char="•"/>
                      </a:pPr>
                      <a:endParaRPr lang="en-US" sz="1800" kern="120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Resource allocation</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GIA Organization chart</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GIA competency framework</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Staff rotation policy</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Staff appraisal</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GIA training plan</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Time Sheet Policy – Man-days monitoring</a:t>
                      </a:r>
                    </a:p>
                    <a:p>
                      <a:pPr marL="285750" indent="-285750" algn="l"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GIA Manual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22</a:t>
            </a:fld>
            <a:endParaRPr lang="en-US"/>
          </a:p>
        </p:txBody>
      </p:sp>
      <p:sp>
        <p:nvSpPr>
          <p:cNvPr id="5" name="GTBClassificationH649012744"/>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8728064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2000 – Managing the Internal Audit </a:t>
            </a:r>
            <a:r>
              <a:rPr lang="en-US" dirty="0" smtClean="0">
                <a:latin typeface="Times New Roman" panose="02020603050405020304" pitchFamily="18" charset="0"/>
                <a:cs typeface="Times New Roman" panose="02020603050405020304" pitchFamily="18" charset="0"/>
              </a:rPr>
              <a:t>Activity </a:t>
            </a:r>
            <a:r>
              <a:rPr lang="en-US" dirty="0">
                <a:latin typeface="Times New Roman" panose="02020603050405020304" pitchFamily="18" charset="0"/>
                <a:cs typeface="Times New Roman" panose="02020603050405020304" pitchFamily="18" charset="0"/>
              </a:rPr>
              <a:t>(Cont’d)</a:t>
            </a:r>
            <a:r>
              <a:rPr lang="en-US" dirty="0" smtClean="0">
                <a:latin typeface="Times New Roman" panose="02020603050405020304" pitchFamily="18" charset="0"/>
                <a:cs typeface="Times New Roman" panose="02020603050405020304" pitchFamily="18" charset="0"/>
              </a:rPr>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75374550"/>
              </p:ext>
            </p:extLst>
          </p:nvPr>
        </p:nvGraphicFramePr>
        <p:xfrm>
          <a:off x="609600" y="917619"/>
          <a:ext cx="10972800" cy="5278644"/>
        </p:xfrm>
        <a:graphic>
          <a:graphicData uri="http://schemas.openxmlformats.org/drawingml/2006/table">
            <a:tbl>
              <a:tblPr firstRow="1" bandRow="1">
                <a:tableStyleId>{5C22544A-7EE6-4342-B048-85BDC9FD1C3A}</a:tableStyleId>
              </a:tblPr>
              <a:tblGrid>
                <a:gridCol w="5486400"/>
                <a:gridCol w="5486400"/>
              </a:tblGrid>
              <a:tr h="393439">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8852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Times New Roman" panose="02020603050405020304" pitchFamily="18" charset="0"/>
                          <a:cs typeface="Times New Roman" panose="02020603050405020304" pitchFamily="18" charset="0"/>
                        </a:rPr>
                        <a:t>2050 – Coordination </a:t>
                      </a:r>
                      <a:r>
                        <a:rPr lang="en-US" sz="1800" i="1" kern="1200" dirty="0" smtClean="0">
                          <a:solidFill>
                            <a:schemeClr val="dk1"/>
                          </a:solidFill>
                          <a:latin typeface="Times New Roman" panose="02020603050405020304" pitchFamily="18" charset="0"/>
                          <a:ea typeface="+mn-ea"/>
                          <a:cs typeface="Times New Roman" panose="02020603050405020304" pitchFamily="18" charset="0"/>
                        </a:rPr>
                        <a:t>and</a:t>
                      </a:r>
                      <a:r>
                        <a:rPr lang="en-US" i="1" dirty="0" smtClean="0">
                          <a:latin typeface="Times New Roman" panose="02020603050405020304" pitchFamily="18" charset="0"/>
                          <a:cs typeface="Times New Roman" panose="02020603050405020304" pitchFamily="18" charset="0"/>
                        </a:rPr>
                        <a:t> Reliance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Share information with other internal and external providers of assurance and consulting services.</a:t>
                      </a:r>
                    </a:p>
                    <a:p>
                      <a:pPr marL="285750"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Understand the independent assurance requirement of the board and the organization</a:t>
                      </a:r>
                    </a:p>
                    <a:p>
                      <a:pPr marL="285750"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Understand the work performed by the external auditors including,</a:t>
                      </a:r>
                    </a:p>
                    <a:p>
                      <a:pPr marL="742950" lvl="1"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Nature, extent, and timing of wok planned by external auditors’</a:t>
                      </a:r>
                    </a:p>
                    <a:p>
                      <a:pPr marL="742950" lvl="1"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The external auditor’s assessment of risk and materiality</a:t>
                      </a:r>
                    </a:p>
                    <a:p>
                      <a:pPr marL="742950" lvl="1"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The external auditors technique, methods</a:t>
                      </a:r>
                    </a:p>
                    <a:p>
                      <a:pPr marL="742950" lvl="1" indent="-285750" algn="just">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Access to the external auditors program and working papers</a:t>
                      </a:r>
                    </a:p>
                    <a:p>
                      <a:pPr marL="285750" lvl="0" indent="-285750" algn="just" defTabSz="914400" rtl="0" eaLnBrk="1" latinLnBrk="0" hangingPunct="1">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Planned audit activities of internal and external auditors need to be discussed to ensure that audit coverage is coordinated and duplicate efforts are minimized  here possible</a:t>
                      </a:r>
                      <a:endParaRPr lang="en-US" sz="1800" kern="1200" dirty="0" smtClean="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smtClean="0"/>
                    </a:p>
                    <a:p>
                      <a:endParaRPr lang="en-US" dirty="0" smtClean="0"/>
                    </a:p>
                    <a:p>
                      <a:pPr marL="285750" indent="-285750" algn="l" defTabSz="914400" rtl="0" eaLnBrk="1" latinLnBrk="0" hangingPunct="1">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Organization assurance map</a:t>
                      </a:r>
                    </a:p>
                    <a:p>
                      <a:pPr marL="285750" indent="-285750" algn="l" defTabSz="914400" rtl="0" eaLnBrk="1" latinLnBrk="0" hangingPunct="1">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Evaluation of the assurance map</a:t>
                      </a:r>
                    </a:p>
                    <a:p>
                      <a:pPr marL="285750" indent="-285750" algn="l" defTabSz="914400" rtl="0" eaLnBrk="1" latinLnBrk="0" hangingPunct="1">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Audit committee charter</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23</a:t>
            </a:fld>
            <a:endParaRPr lang="en-US"/>
          </a:p>
        </p:txBody>
      </p:sp>
      <p:sp>
        <p:nvSpPr>
          <p:cNvPr id="5" name="GTBClassificationH204202124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3749556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2000 – Managing the Internal Audit Activity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07968831"/>
              </p:ext>
            </p:extLst>
          </p:nvPr>
        </p:nvGraphicFramePr>
        <p:xfrm>
          <a:off x="609600" y="994893"/>
          <a:ext cx="10972800" cy="5120022"/>
        </p:xfrm>
        <a:graphic>
          <a:graphicData uri="http://schemas.openxmlformats.org/drawingml/2006/table">
            <a:tbl>
              <a:tblPr firstRow="1" bandRow="1">
                <a:tableStyleId>{5C22544A-7EE6-4342-B048-85BDC9FD1C3A}</a:tableStyleId>
              </a:tblPr>
              <a:tblGrid>
                <a:gridCol w="5486400"/>
                <a:gridCol w="5486400"/>
              </a:tblGrid>
              <a:tr h="355432">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54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smtClean="0">
                          <a:latin typeface="Times New Roman" panose="02020603050405020304" pitchFamily="18" charset="0"/>
                          <a:cs typeface="Times New Roman" panose="02020603050405020304" pitchFamily="18" charset="0"/>
                        </a:rPr>
                        <a:t>2060 – Reporting to Senior Management and the Board &amp; </a:t>
                      </a:r>
                      <a:r>
                        <a:rPr lang="en-US" sz="1600" i="1" kern="1200" dirty="0" smtClean="0">
                          <a:solidFill>
                            <a:schemeClr val="dk1"/>
                          </a:solidFill>
                          <a:latin typeface="Times New Roman" panose="02020603050405020304" pitchFamily="18" charset="0"/>
                          <a:ea typeface="+mn-ea"/>
                          <a:cs typeface="Times New Roman" panose="02020603050405020304" pitchFamily="18" charset="0"/>
                        </a:rPr>
                        <a:t>2070 – External Service Provider and Organizational Responsibility for Internal Auditing </a:t>
                      </a: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CAE</a:t>
                      </a:r>
                      <a:r>
                        <a:rPr lang="en-US" sz="1600" baseline="0" dirty="0" smtClean="0">
                          <a:latin typeface="Times New Roman" panose="02020603050405020304" pitchFamily="18" charset="0"/>
                          <a:cs typeface="Times New Roman" panose="02020603050405020304" pitchFamily="18" charset="0"/>
                        </a:rPr>
                        <a:t> reports periodically to SM and AC on IAA’s performance relative to its plan</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Reporting includes significant risk exposures and controls issues including fraud risk, governance issues and other matter requested by SM/AC</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When CAE believes that SM had accepted a level of risk that organization considers unacceptable, the CAE discuss the matter with SM</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The CAE should understand managements basis for the decision, cause of any disagreement, and determine managements authority fort accepting such risk. CAE should resolve the disagreement with senior management</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If the CAE and SM cannot reach an agreement, CAE should inform the board</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CAE is part of QAIP when external service provider is involved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smtClean="0"/>
                    </a:p>
                    <a:p>
                      <a:endParaRPr lang="en-US" dirty="0" smtClean="0"/>
                    </a:p>
                    <a:p>
                      <a:pPr marL="285750" indent="-285750" algn="just" defTabSz="914400" rtl="0" eaLnBrk="1" latinLnBrk="0" hangingPunct="1">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Quarterly Reporting to AC and periodic meetings with the SM ( CRO / CEO)</a:t>
                      </a:r>
                    </a:p>
                    <a:p>
                      <a:pPr marL="285750" indent="-285750" algn="just" defTabSz="914400" rtl="0" eaLnBrk="1" latinLnBrk="0" hangingPunct="1">
                        <a:buFont typeface="Arial" panose="020B0604020202020204" pitchFamily="34" charset="0"/>
                        <a:buChar char="•"/>
                      </a:pPr>
                      <a:r>
                        <a:rPr lang="en-US" sz="1600" kern="1200" dirty="0" smtClean="0">
                          <a:solidFill>
                            <a:schemeClr val="dk1"/>
                          </a:solidFill>
                          <a:latin typeface="Times New Roman" panose="02020603050405020304" pitchFamily="18" charset="0"/>
                          <a:ea typeface="+mn-ea"/>
                          <a:cs typeface="Times New Roman" panose="02020603050405020304" pitchFamily="18" charset="0"/>
                        </a:rPr>
                        <a:t>Demonstrated through the quality assurance and improvement program which assesses conformance with the Code of Ethics and the Standards. </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24</a:t>
            </a:fld>
            <a:endParaRPr lang="en-US"/>
          </a:p>
        </p:txBody>
      </p:sp>
      <p:sp>
        <p:nvSpPr>
          <p:cNvPr id="5" name="GTBClassificationH474555704"/>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7947438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2100 – Nature of Work </a:t>
            </a:r>
            <a:endParaRPr lang="en-US" sz="3200" dirty="0"/>
          </a:p>
        </p:txBody>
      </p:sp>
      <p:sp>
        <p:nvSpPr>
          <p:cNvPr id="3" name="Content Placeholder 2"/>
          <p:cNvSpPr>
            <a:spLocks noGrp="1"/>
          </p:cNvSpPr>
          <p:nvPr>
            <p:ph idx="1"/>
          </p:nvPr>
        </p:nvSpPr>
        <p:spPr>
          <a:xfrm>
            <a:off x="609600" y="917621"/>
            <a:ext cx="10972800" cy="5277117"/>
          </a:xfrm>
        </p:spPr>
        <p:txBody>
          <a:bodyPr/>
          <a:lstStyle/>
          <a:p>
            <a:pPr marL="0" indent="0" algn="just">
              <a:buNone/>
            </a:pPr>
            <a:r>
              <a:rPr lang="en-US" sz="1500" dirty="0">
                <a:latin typeface="Times New Roman" panose="02020603050405020304" pitchFamily="18" charset="0"/>
                <a:cs typeface="Times New Roman" panose="02020603050405020304" pitchFamily="18" charset="0"/>
              </a:rPr>
              <a:t>2110</a:t>
            </a:r>
            <a:r>
              <a:rPr lang="en-US" sz="1500" b="1" dirty="0">
                <a:latin typeface="Times New Roman" panose="02020603050405020304" pitchFamily="18" charset="0"/>
                <a:cs typeface="Times New Roman" panose="02020603050405020304" pitchFamily="18" charset="0"/>
              </a:rPr>
              <a:t> – </a:t>
            </a:r>
            <a:r>
              <a:rPr lang="en-US" sz="1500" dirty="0">
                <a:latin typeface="Times New Roman" panose="02020603050405020304" pitchFamily="18" charset="0"/>
                <a:cs typeface="Times New Roman" panose="02020603050405020304" pitchFamily="18" charset="0"/>
              </a:rPr>
              <a:t>Governance </a:t>
            </a:r>
            <a:endParaRPr lang="en-US" sz="15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2110.A1 – The internal audit activity must evaluate the design, implementation, and effectiveness of the organization’s ethics-related objectives, programs, and activities. </a:t>
            </a: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2110.A2 – The internal audit activity must assess whether the information technology governance of the organization supports the organization’s strategies and objectives. </a:t>
            </a:r>
            <a:endParaRPr lang="en-US" sz="1500" dirty="0" smtClean="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2120 – Risk Management </a:t>
            </a:r>
            <a:endParaRPr lang="en-US" sz="15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2120.A1 – The internal audit activity must evaluate risk exposures relating to the organization’s governance, operations, and information systems </a:t>
            </a:r>
            <a:endParaRPr lang="en-US" sz="15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2120.A2 – The internal audit activity must evaluate the potential for the occurrence of fraud and how the organization manages fraud risk. </a:t>
            </a: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2120.C1 – During consulting engagements, internal auditors must address risk consistent with the engagement’s objectives and be alert to the existence of other significant risks. </a:t>
            </a: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2120.C2 – Internal auditors must incorporate knowledge of risks gained from consulting engagements into their evaluation of the organization’s risk management processes. </a:t>
            </a:r>
          </a:p>
          <a:p>
            <a:pPr lvl="1" algn="just">
              <a:buFont typeface="Arial" panose="020B0604020202020204" pitchFamily="34" charset="0"/>
              <a:buChar char="•"/>
            </a:pPr>
            <a:r>
              <a:rPr lang="en-US" sz="1500" dirty="0" smtClean="0">
                <a:latin typeface="Times New Roman" panose="02020603050405020304" pitchFamily="18" charset="0"/>
                <a:cs typeface="Times New Roman" panose="02020603050405020304" pitchFamily="18" charset="0"/>
              </a:rPr>
              <a:t>2120.C3 – When assisting management in establishing or improving risk management processes, internal auditors must refrain from assuming any management responsibility by actually managing risks. </a:t>
            </a:r>
          </a:p>
          <a:p>
            <a:pPr marL="0" indent="0" algn="just">
              <a:buNone/>
            </a:pPr>
            <a:r>
              <a:rPr lang="en-US" sz="1500" dirty="0" smtClean="0">
                <a:latin typeface="Times New Roman" panose="02020603050405020304" pitchFamily="18" charset="0"/>
                <a:cs typeface="Times New Roman" panose="02020603050405020304" pitchFamily="18" charset="0"/>
              </a:rPr>
              <a:t>2130 – Control </a:t>
            </a:r>
          </a:p>
          <a:p>
            <a:pPr lvl="1" algn="just">
              <a:buFont typeface="Arial" panose="020B0604020202020204" pitchFamily="34" charset="0"/>
              <a:buChar char="•"/>
            </a:pPr>
            <a:r>
              <a:rPr lang="en-US" sz="1500" dirty="0" smtClean="0">
                <a:latin typeface="Times New Roman" panose="02020603050405020304" pitchFamily="18" charset="0"/>
                <a:cs typeface="Times New Roman" panose="02020603050405020304" pitchFamily="18" charset="0"/>
              </a:rPr>
              <a:t>2130.A1 </a:t>
            </a:r>
            <a:r>
              <a:rPr lang="en-US" sz="1500" dirty="0">
                <a:latin typeface="Times New Roman" panose="02020603050405020304" pitchFamily="18" charset="0"/>
                <a:cs typeface="Times New Roman" panose="02020603050405020304" pitchFamily="18" charset="0"/>
              </a:rPr>
              <a:t>– The internal audit activity must evaluate the adequacy and effectiveness of controls in responding to risks within the organization’s governance, operations, and information systems regarding the: </a:t>
            </a:r>
            <a:endParaRPr lang="en-US" sz="15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2130.C1 – Internal auditors must incorporate knowledge of controls gained from consulting engagements into evaluation of the organization’s control processes. </a:t>
            </a:r>
          </a:p>
        </p:txBody>
      </p:sp>
      <p:sp>
        <p:nvSpPr>
          <p:cNvPr id="4" name="Slide Number Placeholder 3"/>
          <p:cNvSpPr>
            <a:spLocks noGrp="1"/>
          </p:cNvSpPr>
          <p:nvPr>
            <p:ph type="sldNum" sz="quarter" idx="12"/>
          </p:nvPr>
        </p:nvSpPr>
        <p:spPr/>
        <p:txBody>
          <a:bodyPr/>
          <a:lstStyle/>
          <a:p>
            <a:fld id="{6E2F3C12-4A6A-4212-A157-AE121822CE5B}" type="slidenum">
              <a:rPr lang="en-US" smtClean="0"/>
              <a:t>25</a:t>
            </a:fld>
            <a:endParaRPr lang="en-US"/>
          </a:p>
        </p:txBody>
      </p:sp>
      <p:sp>
        <p:nvSpPr>
          <p:cNvPr id="5" name="GTBClassificationH7523998"/>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8112609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2100 – Nature of Work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18955026"/>
              </p:ext>
            </p:extLst>
          </p:nvPr>
        </p:nvGraphicFramePr>
        <p:xfrm>
          <a:off x="609600" y="994893"/>
          <a:ext cx="10972800" cy="430276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Sufficient meetings are to scheduled during the audit process to determine whether observations and the recommendations from work performed to date require that the scope pf planned work be adjusted</a:t>
                      </a:r>
                    </a:p>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IAA final reports, management responses and subsequent follow-up reports are to be made available to external auditors</a:t>
                      </a:r>
                    </a:p>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Internal auditors need access to the external auditors’ management letters</a:t>
                      </a:r>
                    </a:p>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The CAE ensured that appropriate</a:t>
                      </a:r>
                      <a:r>
                        <a:rPr lang="en-US" sz="1800" kern="1200" baseline="0" dirty="0" smtClean="0">
                          <a:solidFill>
                            <a:schemeClr val="dk1"/>
                          </a:solidFill>
                          <a:latin typeface="Times New Roman" panose="02020603050405020304" pitchFamily="18" charset="0"/>
                          <a:ea typeface="+mn-ea"/>
                          <a:cs typeface="Times New Roman" panose="02020603050405020304" pitchFamily="18" charset="0"/>
                        </a:rPr>
                        <a:t> </a:t>
                      </a:r>
                      <a:r>
                        <a:rPr lang="en-US" sz="1800" kern="1200" dirty="0" smtClean="0">
                          <a:solidFill>
                            <a:schemeClr val="dk1"/>
                          </a:solidFill>
                          <a:latin typeface="Times New Roman" panose="02020603050405020304" pitchFamily="18" charset="0"/>
                          <a:ea typeface="+mn-ea"/>
                          <a:cs typeface="Times New Roman" panose="02020603050405020304" pitchFamily="18" charset="0"/>
                        </a:rPr>
                        <a:t>follow-up and corrective actions have been taken by SM</a:t>
                      </a:r>
                    </a:p>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The CAE is responsible for regular evaluation of the coordination between internal and external auditors,</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Minutes of the meeting with external auditors</a:t>
                      </a:r>
                    </a:p>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Follow up with the external auditors for management letter</a:t>
                      </a:r>
                    </a:p>
                    <a:p>
                      <a:pPr marL="285750" indent="-285750" algn="just" defTabSz="914400" rtl="0" eaLnBrk="1" latinLnBrk="0" hangingPunct="1">
                        <a:buFont typeface="Arial" panose="020B0604020202020204" pitchFamily="34" charset="0"/>
                        <a:buChar char="•"/>
                      </a:pPr>
                      <a:r>
                        <a:rPr lang="en-US" sz="1800" kern="1200" dirty="0" smtClean="0">
                          <a:solidFill>
                            <a:schemeClr val="dk1"/>
                          </a:solidFill>
                          <a:latin typeface="Times New Roman" panose="02020603050405020304" pitchFamily="18" charset="0"/>
                          <a:ea typeface="+mn-ea"/>
                          <a:cs typeface="Times New Roman" panose="02020603050405020304" pitchFamily="18" charset="0"/>
                        </a:rPr>
                        <a:t>Reports of evaluation of coordination</a:t>
                      </a:r>
                    </a:p>
                    <a:p>
                      <a:endParaRPr lang="en-US" baseline="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26</a:t>
            </a:fld>
            <a:endParaRPr lang="en-US"/>
          </a:p>
        </p:txBody>
      </p:sp>
      <p:sp>
        <p:nvSpPr>
          <p:cNvPr id="5" name="GTBClassificationH747200074"/>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6821445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2100 – Nature of Work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8760570"/>
              </p:ext>
            </p:extLst>
          </p:nvPr>
        </p:nvGraphicFramePr>
        <p:xfrm>
          <a:off x="609600" y="961341"/>
          <a:ext cx="10972800" cy="448564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i="1" kern="1200" dirty="0" smtClean="0">
                          <a:solidFill>
                            <a:schemeClr val="dk1"/>
                          </a:solidFill>
                          <a:latin typeface="Times New Roman" panose="02020603050405020304" pitchFamily="18" charset="0"/>
                          <a:ea typeface="+mn-ea"/>
                          <a:cs typeface="Times New Roman" panose="02020603050405020304" pitchFamily="18" charset="0"/>
                        </a:rPr>
                        <a:t>2110 - Governance</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The definition of IAA should be agreed upon by SM/ AC</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All governance processes should be considered in the risk assessment in annual audit plan to cover high risk areas</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Assesses the effectiveness of the governance processes</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Evaluates the design, implementation, and effectiveness pf ethic-related objectives, programs and activities</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Assesses whether IT governance supports the organization's strategies and objectives</a:t>
                      </a:r>
                      <a:endParaRPr lang="en-US" sz="2000" kern="1200" baseline="0" dirty="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defTabSz="914400" rtl="0" eaLnBrk="1" latinLnBrk="0" hangingPunct="1">
                        <a:buFont typeface="Arial" panose="020B0604020202020204" pitchFamily="34" charset="0"/>
                        <a:buChar char="•"/>
                      </a:pPr>
                      <a:endParaRPr lang="en-US" sz="2000" kern="1200" baseline="0" dirty="0" smtClean="0">
                        <a:solidFill>
                          <a:schemeClr val="dk1"/>
                        </a:solidFill>
                        <a:latin typeface="Times New Roman" panose="02020603050405020304" pitchFamily="18" charset="0"/>
                        <a:ea typeface="+mn-ea"/>
                        <a:cs typeface="Times New Roman" panose="02020603050405020304" pitchFamily="18" charset="0"/>
                      </a:endParaRP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Governance framework</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Results of audit of Governance</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Report on evaluation of IT Governance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27</a:t>
            </a:fld>
            <a:endParaRPr lang="en-US"/>
          </a:p>
        </p:txBody>
      </p:sp>
      <p:sp>
        <p:nvSpPr>
          <p:cNvPr id="5" name="GTBClassificationH1385706060"/>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6829741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2100 – Nature of </a:t>
            </a:r>
            <a:r>
              <a:rPr lang="en-US" dirty="0" smtClean="0">
                <a:latin typeface="Times New Roman" panose="02020603050405020304" pitchFamily="18" charset="0"/>
                <a:cs typeface="Times New Roman" panose="02020603050405020304" pitchFamily="18" charset="0"/>
              </a:rPr>
              <a:t>Work </a:t>
            </a:r>
            <a:r>
              <a:rPr lang="en-US" dirty="0">
                <a:latin typeface="Times New Roman" panose="02020603050405020304" pitchFamily="18" charset="0"/>
                <a:cs typeface="Times New Roman" panose="02020603050405020304" pitchFamily="18" charset="0"/>
              </a:rPr>
              <a:t>(Cont’d)</a:t>
            </a:r>
            <a:r>
              <a:rPr lang="en-US" dirty="0" smtClean="0">
                <a:latin typeface="Times New Roman" panose="02020603050405020304" pitchFamily="18" charset="0"/>
                <a:cs typeface="Times New Roman" panose="02020603050405020304" pitchFamily="18" charset="0"/>
              </a:rPr>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37411808"/>
              </p:ext>
            </p:extLst>
          </p:nvPr>
        </p:nvGraphicFramePr>
        <p:xfrm>
          <a:off x="609600" y="982014"/>
          <a:ext cx="10972800" cy="536956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i="1" kern="1200" dirty="0" smtClean="0">
                          <a:solidFill>
                            <a:schemeClr val="dk1"/>
                          </a:solidFill>
                          <a:latin typeface="Times New Roman" panose="02020603050405020304" pitchFamily="18" charset="0"/>
                          <a:ea typeface="+mn-ea"/>
                          <a:cs typeface="Times New Roman" panose="02020603050405020304" pitchFamily="18" charset="0"/>
                        </a:rPr>
                        <a:t>2120 – Risk Management </a:t>
                      </a:r>
                    </a:p>
                    <a:p>
                      <a:endParaRPr lang="en-US" dirty="0" smtClean="0"/>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Evaluate how the organization manages fraud risks and potential for the occurrence of the fraud</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Opinion on the adequacy of the risk management processes to determine that objectives of ERM  processes are being met</a:t>
                      </a:r>
                    </a:p>
                    <a:p>
                      <a:pPr marL="285750" indent="-285750" algn="just" defTabSz="914400" rtl="0" eaLnBrk="1" latinLnBrk="0" hangingPunct="1">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IAA evaluates risk exposures relating to:</a:t>
                      </a:r>
                    </a:p>
                    <a:p>
                      <a:pPr marL="742950" lvl="1"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Safeguarding of the tangible and intangible assets</a:t>
                      </a:r>
                    </a:p>
                    <a:p>
                      <a:pPr marL="742950" lvl="1"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Effectiveness and efficiency of operations and program</a:t>
                      </a:r>
                    </a:p>
                    <a:p>
                      <a:pPr marL="742950" lvl="1"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Reliability and integrity of financial and operational information</a:t>
                      </a:r>
                    </a:p>
                    <a:p>
                      <a:pPr marL="742950" lvl="1" indent="-285750">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Compliance with laws, regulations, policies, procedures and contracts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smtClean="0"/>
                    </a:p>
                    <a:p>
                      <a:endParaRPr lang="en-US" dirty="0" smtClean="0"/>
                    </a:p>
                    <a:p>
                      <a:pPr marL="285750" indent="-285750">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Fraud risk framework</a:t>
                      </a:r>
                    </a:p>
                    <a:p>
                      <a:pPr marL="285750" indent="-285750">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Whistle blow policy</a:t>
                      </a:r>
                    </a:p>
                    <a:p>
                      <a:pPr marL="285750" indent="-285750">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Risk based audit plan</a:t>
                      </a:r>
                    </a:p>
                    <a:p>
                      <a:pPr marL="285750" indent="-285750">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Risk assessment at engagement level</a:t>
                      </a:r>
                    </a:p>
                    <a:p>
                      <a:pPr marL="285750" indent="-285750">
                        <a:buFont typeface="Arial" panose="020B0604020202020204" pitchFamily="34" charset="0"/>
                        <a:buChar char="•"/>
                      </a:pPr>
                      <a:r>
                        <a:rPr lang="en-US" sz="2000" kern="1200" baseline="0" dirty="0" smtClean="0">
                          <a:solidFill>
                            <a:schemeClr val="dk1"/>
                          </a:solidFill>
                          <a:latin typeface="Times New Roman" panose="02020603050405020304" pitchFamily="18" charset="0"/>
                          <a:ea typeface="+mn-ea"/>
                          <a:cs typeface="Times New Roman" panose="02020603050405020304" pitchFamily="18" charset="0"/>
                        </a:rPr>
                        <a:t>Results of audits of credit, market and operational risk</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28</a:t>
            </a:fld>
            <a:endParaRPr lang="en-US"/>
          </a:p>
        </p:txBody>
      </p:sp>
      <p:sp>
        <p:nvSpPr>
          <p:cNvPr id="5" name="GTBClassificationH58108128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485665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2100 – Nature of Work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04566747"/>
              </p:ext>
            </p:extLst>
          </p:nvPr>
        </p:nvGraphicFramePr>
        <p:xfrm>
          <a:off x="609600" y="956257"/>
          <a:ext cx="10972800" cy="259588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1" kern="1200" dirty="0" smtClean="0">
                          <a:solidFill>
                            <a:schemeClr val="dk1"/>
                          </a:solidFill>
                          <a:latin typeface="Times New Roman" panose="02020603050405020304" pitchFamily="18" charset="0"/>
                          <a:ea typeface="+mn-ea"/>
                          <a:cs typeface="Times New Roman" panose="02020603050405020304" pitchFamily="18" charset="0"/>
                        </a:rPr>
                        <a:t>2130 – Control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i="1" kern="1200" dirty="0" smtClean="0">
                        <a:solidFill>
                          <a:schemeClr val="dk1"/>
                        </a:solidFill>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kern="1200" dirty="0" smtClean="0">
                          <a:solidFill>
                            <a:schemeClr val="dk1"/>
                          </a:solidFill>
                          <a:latin typeface="Times New Roman" panose="02020603050405020304" pitchFamily="18" charset="0"/>
                          <a:ea typeface="+mn-ea"/>
                          <a:cs typeface="Times New Roman" panose="02020603050405020304" pitchFamily="18" charset="0"/>
                        </a:rPr>
                        <a:t>Evaluate</a:t>
                      </a:r>
                      <a:r>
                        <a:rPr lang="en-US" sz="2000" i="0" kern="1200" baseline="0" dirty="0" smtClean="0">
                          <a:solidFill>
                            <a:schemeClr val="dk1"/>
                          </a:solidFill>
                          <a:latin typeface="Times New Roman" panose="02020603050405020304" pitchFamily="18" charset="0"/>
                          <a:ea typeface="+mn-ea"/>
                          <a:cs typeface="Times New Roman" panose="02020603050405020304" pitchFamily="18" charset="0"/>
                        </a:rPr>
                        <a:t> the adequacy and effectiveness of controls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kern="1200" baseline="0" dirty="0" smtClean="0">
                          <a:solidFill>
                            <a:schemeClr val="dk1"/>
                          </a:solidFill>
                          <a:latin typeface="Times New Roman" panose="02020603050405020304" pitchFamily="18" charset="0"/>
                          <a:ea typeface="+mn-ea"/>
                          <a:cs typeface="Times New Roman" panose="02020603050405020304" pitchFamily="18" charset="0"/>
                        </a:rPr>
                        <a:t>CAE forms  an overall opinion about the adequacy and effectiveness of the control processes</a:t>
                      </a:r>
                      <a:endParaRPr lang="en-US" sz="2000" i="0" kern="1200" dirty="0" smtClean="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i="0" kern="1200" dirty="0" smtClean="0">
                        <a:solidFill>
                          <a:schemeClr val="dk1"/>
                        </a:solidFill>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i="0" kern="1200" dirty="0" smtClean="0">
                        <a:solidFill>
                          <a:schemeClr val="dk1"/>
                        </a:solidFill>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kern="1200" dirty="0" smtClean="0">
                          <a:solidFill>
                            <a:schemeClr val="dk1"/>
                          </a:solidFill>
                          <a:latin typeface="Times New Roman" panose="02020603050405020304" pitchFamily="18" charset="0"/>
                          <a:ea typeface="+mn-ea"/>
                          <a:cs typeface="Times New Roman" panose="02020603050405020304" pitchFamily="18" charset="0"/>
                        </a:rPr>
                        <a:t>Objectives, risk and controls input from RMG and client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kern="1200" dirty="0" smtClean="0">
                          <a:solidFill>
                            <a:schemeClr val="dk1"/>
                          </a:solidFill>
                          <a:latin typeface="Times New Roman" panose="02020603050405020304" pitchFamily="18" charset="0"/>
                          <a:ea typeface="+mn-ea"/>
                          <a:cs typeface="Times New Roman" panose="02020603050405020304" pitchFamily="18" charset="0"/>
                        </a:rPr>
                        <a:t>Consolidated risk assessment sheet prepared</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kern="1200" dirty="0" smtClean="0">
                          <a:solidFill>
                            <a:schemeClr val="dk1"/>
                          </a:solidFill>
                          <a:latin typeface="Times New Roman" panose="02020603050405020304" pitchFamily="18" charset="0"/>
                          <a:ea typeface="+mn-ea"/>
                          <a:cs typeface="Times New Roman" panose="02020603050405020304" pitchFamily="18" charset="0"/>
                        </a:rPr>
                        <a:t>Testing designs and effectiveness of key controls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i="0" kern="1200" dirty="0" smtClean="0">
                          <a:solidFill>
                            <a:schemeClr val="dk1"/>
                          </a:solidFill>
                          <a:latin typeface="Times New Roman" panose="02020603050405020304" pitchFamily="18" charset="0"/>
                          <a:ea typeface="+mn-ea"/>
                          <a:cs typeface="Times New Roman" panose="02020603050405020304" pitchFamily="18" charset="0"/>
                        </a:rPr>
                        <a:t>Overall opinion on control environment</a:t>
                      </a:r>
                      <a:endParaRPr lang="en-US" sz="2000" i="0" kern="1200" dirty="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29</a:t>
            </a:fld>
            <a:endParaRPr lang="en-US"/>
          </a:p>
        </p:txBody>
      </p:sp>
      <p:sp>
        <p:nvSpPr>
          <p:cNvPr id="5" name="GTBClassificationH1393937363"/>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4574646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2200 – Engagement Planning </a:t>
            </a:r>
            <a:endParaRPr lang="en-US" sz="3200" dirty="0"/>
          </a:p>
        </p:txBody>
      </p:sp>
      <p:sp>
        <p:nvSpPr>
          <p:cNvPr id="3" name="Content Placeholder 2"/>
          <p:cNvSpPr>
            <a:spLocks noGrp="1"/>
          </p:cNvSpPr>
          <p:nvPr>
            <p:ph idx="1"/>
          </p:nvPr>
        </p:nvSpPr>
        <p:spPr>
          <a:xfrm>
            <a:off x="525378" y="950496"/>
            <a:ext cx="10972800" cy="5329988"/>
          </a:xfrm>
        </p:spPr>
        <p:txBody>
          <a:bodyPr/>
          <a:lstStyle/>
          <a:p>
            <a:pPr marL="0" indent="0" algn="just">
              <a:buNone/>
            </a:pPr>
            <a:r>
              <a:rPr lang="en-US" sz="1300" dirty="0">
                <a:latin typeface="Times New Roman" panose="02020603050405020304" pitchFamily="18" charset="0"/>
                <a:cs typeface="Times New Roman" panose="02020603050405020304" pitchFamily="18" charset="0"/>
              </a:rPr>
              <a:t>2201 – Planning Considerations </a:t>
            </a:r>
            <a:endParaRPr lang="en-US" sz="1300" dirty="0" smtClean="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2201.A1 </a:t>
            </a:r>
            <a:r>
              <a:rPr lang="en-US" sz="1300" dirty="0" smtClean="0">
                <a:latin typeface="Times New Roman" panose="02020603050405020304" pitchFamily="18" charset="0"/>
                <a:cs typeface="Times New Roman" panose="02020603050405020304" pitchFamily="18" charset="0"/>
              </a:rPr>
              <a:t>–planning </a:t>
            </a:r>
            <a:r>
              <a:rPr lang="en-US" sz="1300" dirty="0">
                <a:latin typeface="Times New Roman" panose="02020603050405020304" pitchFamily="18" charset="0"/>
                <a:cs typeface="Times New Roman" panose="02020603050405020304" pitchFamily="18" charset="0"/>
              </a:rPr>
              <a:t>an engagement for parties outside the </a:t>
            </a:r>
            <a:r>
              <a:rPr lang="en-US" sz="1300" dirty="0" smtClean="0">
                <a:latin typeface="Times New Roman" panose="02020603050405020304" pitchFamily="18" charset="0"/>
                <a:cs typeface="Times New Roman" panose="02020603050405020304" pitchFamily="18" charset="0"/>
              </a:rPr>
              <a:t>organization</a:t>
            </a:r>
          </a:p>
          <a:p>
            <a:pPr lvl="1" algn="just">
              <a:buFont typeface="Arial" panose="020B0604020202020204" pitchFamily="34" charset="0"/>
              <a:buChar char="•"/>
            </a:pPr>
            <a:r>
              <a:rPr lang="en-US" sz="1300" dirty="0" smtClean="0">
                <a:latin typeface="Times New Roman" panose="02020603050405020304" pitchFamily="18" charset="0"/>
                <a:cs typeface="Times New Roman" panose="02020603050405020304" pitchFamily="18" charset="0"/>
              </a:rPr>
              <a:t>2201.C1 </a:t>
            </a:r>
            <a:r>
              <a:rPr lang="en-US" sz="1300" dirty="0">
                <a:latin typeface="Times New Roman" panose="02020603050405020304" pitchFamily="18" charset="0"/>
                <a:cs typeface="Times New Roman" panose="02020603050405020304" pitchFamily="18" charset="0"/>
              </a:rPr>
              <a:t>– Internal auditors must establish an understanding with consulting engagement clients about objectives, scope </a:t>
            </a:r>
            <a:r>
              <a:rPr lang="en-US" sz="1300" dirty="0" smtClean="0">
                <a:latin typeface="Times New Roman" panose="02020603050405020304" pitchFamily="18" charset="0"/>
                <a:cs typeface="Times New Roman" panose="02020603050405020304" pitchFamily="18" charset="0"/>
              </a:rPr>
              <a:t>etc.</a:t>
            </a:r>
          </a:p>
          <a:p>
            <a:pPr marL="0" indent="0" algn="just">
              <a:buNone/>
            </a:pPr>
            <a:r>
              <a:rPr lang="en-US" sz="1300" dirty="0">
                <a:latin typeface="Times New Roman" panose="02020603050405020304" pitchFamily="18" charset="0"/>
                <a:cs typeface="Times New Roman" panose="02020603050405020304" pitchFamily="18" charset="0"/>
              </a:rPr>
              <a:t>2210 – Engagement Objectives </a:t>
            </a:r>
            <a:endParaRPr lang="en-US" sz="13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2210.A1 – Internal auditors must conduct a preliminary assessment of the risks relevant to the activity under </a:t>
            </a:r>
            <a:r>
              <a:rPr lang="en-US" sz="1300" dirty="0" smtClean="0">
                <a:latin typeface="Times New Roman" panose="02020603050405020304" pitchFamily="18" charset="0"/>
                <a:cs typeface="Times New Roman" panose="02020603050405020304" pitchFamily="18" charset="0"/>
              </a:rPr>
              <a:t>review.</a:t>
            </a:r>
            <a:endParaRPr lang="en-US" sz="1300" dirty="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2210.A2 – Internal </a:t>
            </a:r>
            <a:endParaRPr lang="en-US" sz="13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2210.A3 – Adequate criteria are needed to evaluate governance, risk management, and </a:t>
            </a:r>
            <a:r>
              <a:rPr lang="en-US" sz="1300" dirty="0" smtClean="0">
                <a:latin typeface="Times New Roman" panose="02020603050405020304" pitchFamily="18" charset="0"/>
                <a:cs typeface="Times New Roman" panose="02020603050405020304" pitchFamily="18" charset="0"/>
              </a:rPr>
              <a:t>controls</a:t>
            </a:r>
          </a:p>
          <a:p>
            <a:pPr marL="571500" lvl="1" indent="-171450" algn="just">
              <a:buFont typeface="Arial" panose="020B0604020202020204" pitchFamily="34" charset="0"/>
              <a:buChar char="•"/>
            </a:pPr>
            <a:r>
              <a:rPr lang="en-US" sz="1300" dirty="0" smtClean="0">
                <a:latin typeface="Times New Roman" panose="02020603050405020304" pitchFamily="18" charset="0"/>
                <a:cs typeface="Times New Roman" panose="02020603050405020304" pitchFamily="18" charset="0"/>
              </a:rPr>
              <a:t>2210.C1 </a:t>
            </a:r>
            <a:r>
              <a:rPr lang="en-US" sz="1300" dirty="0">
                <a:latin typeface="Times New Roman" panose="02020603050405020304" pitchFamily="18" charset="0"/>
                <a:cs typeface="Times New Roman" panose="02020603050405020304" pitchFamily="18" charset="0"/>
              </a:rPr>
              <a:t>– Consulting engagement objectives must address governance, risk management, and control processes to the extent agreed upon with the client. </a:t>
            </a:r>
          </a:p>
          <a:p>
            <a:pPr marL="571500" lvl="1" indent="-171450"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2210.C2 – Consulting engagement objectives must be consistent with the organization's values, strategies, and objectives. </a:t>
            </a:r>
            <a:endParaRPr lang="en-US" sz="1300" dirty="0" smtClean="0">
              <a:latin typeface="Times New Roman" panose="02020603050405020304" pitchFamily="18" charset="0"/>
              <a:cs typeface="Times New Roman" panose="02020603050405020304" pitchFamily="18" charset="0"/>
            </a:endParaRPr>
          </a:p>
          <a:p>
            <a:pPr marL="0" indent="0" algn="just">
              <a:buNone/>
            </a:pPr>
            <a:r>
              <a:rPr lang="en-US" sz="1300" dirty="0">
                <a:latin typeface="Times New Roman" panose="02020603050405020304" pitchFamily="18" charset="0"/>
                <a:cs typeface="Times New Roman" panose="02020603050405020304" pitchFamily="18" charset="0"/>
              </a:rPr>
              <a:t>2220 – Engagement Scope </a:t>
            </a:r>
            <a:endParaRPr lang="en-US" sz="13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2220.A1 – The scope of the engagement must include consideration of relevant systems, records, personnel, and physical properties, including those under the control of third parties. </a:t>
            </a:r>
            <a:r>
              <a:rPr lang="en-US" sz="1300" dirty="0" smtClean="0">
                <a:latin typeface="Times New Roman" panose="02020603050405020304" pitchFamily="18" charset="0"/>
                <a:cs typeface="Times New Roman" panose="02020603050405020304" pitchFamily="18" charset="0"/>
              </a:rPr>
              <a:t>2220.A2 – During </a:t>
            </a:r>
            <a:r>
              <a:rPr lang="en-US" sz="1300" dirty="0">
                <a:latin typeface="Times New Roman" panose="02020603050405020304" pitchFamily="18" charset="0"/>
                <a:cs typeface="Times New Roman" panose="02020603050405020304" pitchFamily="18" charset="0"/>
              </a:rPr>
              <a:t>an assurance engagement, a specific written understanding as to the objectives, scope, respective responsibilities, and other expectations should be reached </a:t>
            </a:r>
            <a:endParaRPr lang="en-US" sz="13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smtClean="0">
                <a:latin typeface="Times New Roman" panose="02020603050405020304" pitchFamily="18" charset="0"/>
                <a:cs typeface="Times New Roman" panose="02020603050405020304" pitchFamily="18" charset="0"/>
              </a:rPr>
              <a:t>2220.C1 </a:t>
            </a:r>
            <a:r>
              <a:rPr lang="en-US" sz="1300" dirty="0">
                <a:latin typeface="Times New Roman" panose="02020603050405020304" pitchFamily="18" charset="0"/>
                <a:cs typeface="Times New Roman" panose="02020603050405020304" pitchFamily="18" charset="0"/>
              </a:rPr>
              <a:t>– In performing consulting engagements, internal auditors must ensure that the scope of the engagement is sufficient to address the agreed-upon objectives</a:t>
            </a:r>
            <a:r>
              <a:rPr lang="en-US" sz="1300" dirty="0" smtClean="0">
                <a:latin typeface="Times New Roman" panose="02020603050405020304" pitchFamily="18" charset="0"/>
                <a:cs typeface="Times New Roman" panose="02020603050405020304" pitchFamily="18" charset="0"/>
              </a:rPr>
              <a:t>. </a:t>
            </a:r>
            <a:endParaRPr lang="en-US" sz="1300" dirty="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2220.C2 – During consulting engagements, internal auditors must address controls consistent with the engagement’s objectives and be alert to significant control issues. </a:t>
            </a:r>
          </a:p>
          <a:p>
            <a:pPr marL="0" indent="0" algn="just">
              <a:buNone/>
            </a:pPr>
            <a:r>
              <a:rPr lang="en-US" sz="1300" dirty="0">
                <a:latin typeface="Times New Roman" panose="02020603050405020304" pitchFamily="18" charset="0"/>
                <a:cs typeface="Times New Roman" panose="02020603050405020304" pitchFamily="18" charset="0"/>
              </a:rPr>
              <a:t>2230 – Engagement Resource Allocation </a:t>
            </a:r>
          </a:p>
          <a:p>
            <a:pPr marL="0" indent="0" algn="just">
              <a:buNone/>
            </a:pPr>
            <a:r>
              <a:rPr lang="en-US" sz="1300" dirty="0" smtClean="0">
                <a:latin typeface="Times New Roman" panose="02020603050405020304" pitchFamily="18" charset="0"/>
                <a:cs typeface="Times New Roman" panose="02020603050405020304" pitchFamily="18" charset="0"/>
              </a:rPr>
              <a:t>2240 </a:t>
            </a:r>
            <a:r>
              <a:rPr lang="en-US" sz="1300" dirty="0">
                <a:latin typeface="Times New Roman" panose="02020603050405020304" pitchFamily="18" charset="0"/>
                <a:cs typeface="Times New Roman" panose="02020603050405020304" pitchFamily="18" charset="0"/>
              </a:rPr>
              <a:t>– Engagement Work Program </a:t>
            </a:r>
          </a:p>
          <a:p>
            <a:pPr marL="571500" lvl="1" indent="-171450" algn="just">
              <a:buFont typeface="Arial" panose="020B0604020202020204" pitchFamily="34" charset="0"/>
              <a:buChar char="•"/>
            </a:pPr>
            <a:r>
              <a:rPr lang="en-US" sz="1300" dirty="0" smtClean="0">
                <a:latin typeface="Times New Roman" panose="02020603050405020304" pitchFamily="18" charset="0"/>
                <a:cs typeface="Times New Roman" panose="02020603050405020304" pitchFamily="18" charset="0"/>
              </a:rPr>
              <a:t>2240.A1 </a:t>
            </a:r>
            <a:r>
              <a:rPr lang="en-US" sz="1300" dirty="0">
                <a:latin typeface="Times New Roman" panose="02020603050405020304" pitchFamily="18" charset="0"/>
                <a:cs typeface="Times New Roman" panose="02020603050405020304" pitchFamily="18" charset="0"/>
              </a:rPr>
              <a:t>– Work programs must include the procedures for identifying, analyzing, evaluating, and documenting information during the engagement. </a:t>
            </a:r>
            <a:endParaRPr lang="en-US" sz="13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300" dirty="0" smtClean="0">
                <a:latin typeface="Times New Roman" panose="02020603050405020304" pitchFamily="18" charset="0"/>
                <a:cs typeface="Times New Roman" panose="02020603050405020304" pitchFamily="18" charset="0"/>
              </a:rPr>
              <a:t>2240.C1 </a:t>
            </a:r>
            <a:r>
              <a:rPr lang="en-US" sz="1300" dirty="0">
                <a:latin typeface="Times New Roman" panose="02020603050405020304" pitchFamily="18" charset="0"/>
                <a:cs typeface="Times New Roman" panose="02020603050405020304" pitchFamily="18" charset="0"/>
              </a:rPr>
              <a:t>– Work programs for consulting engagements may vary in form and content depending upon the nature of the engagement. </a:t>
            </a:r>
          </a:p>
        </p:txBody>
      </p:sp>
      <p:sp>
        <p:nvSpPr>
          <p:cNvPr id="4" name="Slide Number Placeholder 3"/>
          <p:cNvSpPr>
            <a:spLocks noGrp="1"/>
          </p:cNvSpPr>
          <p:nvPr>
            <p:ph type="sldNum" sz="quarter" idx="12"/>
          </p:nvPr>
        </p:nvSpPr>
        <p:spPr/>
        <p:txBody>
          <a:bodyPr/>
          <a:lstStyle/>
          <a:p>
            <a:fld id="{6E2F3C12-4A6A-4212-A157-AE121822CE5B}" type="slidenum">
              <a:rPr lang="en-US" smtClean="0"/>
              <a:t>30</a:t>
            </a:fld>
            <a:endParaRPr lang="en-US"/>
          </a:p>
        </p:txBody>
      </p:sp>
      <p:sp>
        <p:nvSpPr>
          <p:cNvPr id="5" name="GTBClassificationH2130506839"/>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3148189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2200 – Engagement Planning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73813743"/>
              </p:ext>
            </p:extLst>
          </p:nvPr>
        </p:nvGraphicFramePr>
        <p:xfrm>
          <a:off x="609600" y="985837"/>
          <a:ext cx="10972800" cy="5258551"/>
        </p:xfrm>
        <a:graphic>
          <a:graphicData uri="http://schemas.openxmlformats.org/drawingml/2006/table">
            <a:tbl>
              <a:tblPr firstRow="1" bandRow="1">
                <a:tableStyleId>{5C22544A-7EE6-4342-B048-85BDC9FD1C3A}</a:tableStyleId>
              </a:tblPr>
              <a:tblGrid>
                <a:gridCol w="5486400"/>
                <a:gridCol w="5486400"/>
              </a:tblGrid>
              <a:tr h="473334">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85217">
                <a:tc>
                  <a:txBody>
                    <a:bodyPr/>
                    <a:lstStyle/>
                    <a:p>
                      <a:pPr marL="285750" indent="-285750" algn="just">
                        <a:buFont typeface="Arial" panose="020B0604020202020204" pitchFamily="34" charset="0"/>
                        <a:buChar char="•"/>
                      </a:pPr>
                      <a:r>
                        <a:rPr lang="en-US" sz="1500" dirty="0" smtClean="0">
                          <a:latin typeface="Times New Roman" panose="02020603050405020304" pitchFamily="18" charset="0"/>
                          <a:cs typeface="Times New Roman" panose="02020603050405020304" pitchFamily="18" charset="0"/>
                        </a:rPr>
                        <a:t>The internal auditor inform</a:t>
                      </a:r>
                      <a:r>
                        <a:rPr lang="en-US" sz="1500" baseline="0" dirty="0" smtClean="0">
                          <a:latin typeface="Times New Roman" panose="02020603050405020304" pitchFamily="18" charset="0"/>
                          <a:cs typeface="Times New Roman" panose="02020603050405020304" pitchFamily="18" charset="0"/>
                        </a:rPr>
                        <a:t> management about the engagement</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Conduct meeting with client management</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Summarize and distribute the discussion and any conclusions reached form the meetings</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Determine how, when, and to whom engagement results will be communicated . Documents this and send it to management</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The scope inclusion consideration of relevant systems records, personnel and physical properties </a:t>
                      </a:r>
                      <a:r>
                        <a:rPr lang="en-US" sz="1500" baseline="0" dirty="0" err="1" smtClean="0">
                          <a:latin typeface="Times New Roman" panose="02020603050405020304" pitchFamily="18" charset="0"/>
                          <a:cs typeface="Times New Roman" panose="02020603050405020304" pitchFamily="18" charset="0"/>
                        </a:rPr>
                        <a:t>inclsing</a:t>
                      </a:r>
                      <a:r>
                        <a:rPr lang="en-US" sz="1500" baseline="0" dirty="0" smtClean="0">
                          <a:latin typeface="Times New Roman" panose="02020603050405020304" pitchFamily="18" charset="0"/>
                          <a:cs typeface="Times New Roman" panose="02020603050405020304" pitchFamily="18" charset="0"/>
                        </a:rPr>
                        <a:t> under the control of third parties </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Determine appropriate and sufficient resources</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Develop and obtain documented approval of work programs before commencing the internal audit engagement</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The work program includes methodologies to be used such as technology based audit and sampling technique</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Written plan for each assignment</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Determine period covered, estimated completion dates</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Plan and conduct the engagement with supervisory review and approval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a:buFont typeface="Arial" panose="020B0604020202020204" pitchFamily="34" charset="0"/>
                        <a:buChar char="•"/>
                      </a:pPr>
                      <a:r>
                        <a:rPr lang="en-US" sz="1500" dirty="0" smtClean="0">
                          <a:latin typeface="Times New Roman" panose="02020603050405020304" pitchFamily="18" charset="0"/>
                          <a:cs typeface="Times New Roman" panose="02020603050405020304" pitchFamily="18" charset="0"/>
                        </a:rPr>
                        <a:t>TORs</a:t>
                      </a:r>
                    </a:p>
                    <a:p>
                      <a:pPr marL="285750" indent="-285750" algn="just">
                        <a:buFont typeface="Arial" panose="020B0604020202020204" pitchFamily="34" charset="0"/>
                        <a:buChar char="•"/>
                      </a:pPr>
                      <a:r>
                        <a:rPr lang="en-US" sz="1500" dirty="0" smtClean="0">
                          <a:latin typeface="Times New Roman" panose="02020603050405020304" pitchFamily="18" charset="0"/>
                          <a:cs typeface="Times New Roman" panose="02020603050405020304" pitchFamily="18" charset="0"/>
                        </a:rPr>
                        <a:t>Minutes</a:t>
                      </a:r>
                      <a:r>
                        <a:rPr lang="en-US" sz="1500" baseline="0" dirty="0" smtClean="0">
                          <a:latin typeface="Times New Roman" panose="02020603050405020304" pitchFamily="18" charset="0"/>
                          <a:cs typeface="Times New Roman" panose="02020603050405020304" pitchFamily="18" charset="0"/>
                        </a:rPr>
                        <a:t> of the kick off meeting with the client</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Walkthroughs</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Time Budgets</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Approved Risk Assessments</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Manager Review</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QAIP Review </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Fraud risk template</a:t>
                      </a:r>
                    </a:p>
                    <a:p>
                      <a:pPr marL="285750" indent="-285750" algn="just">
                        <a:buFont typeface="Arial" panose="020B0604020202020204" pitchFamily="34" charset="0"/>
                        <a:buChar char="•"/>
                      </a:pPr>
                      <a:r>
                        <a:rPr lang="en-US" sz="1500" baseline="0" dirty="0" smtClean="0">
                          <a:latin typeface="Times New Roman" panose="02020603050405020304" pitchFamily="18" charset="0"/>
                          <a:cs typeface="Times New Roman" panose="02020603050405020304" pitchFamily="18" charset="0"/>
                        </a:rPr>
                        <a:t>Divisional objectives and KPIs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31</a:t>
            </a:fld>
            <a:endParaRPr lang="en-US"/>
          </a:p>
        </p:txBody>
      </p:sp>
      <p:sp>
        <p:nvSpPr>
          <p:cNvPr id="5" name="GTBClassificationH972153560"/>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42888912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2300 – Performing the Engagement </a:t>
            </a:r>
            <a:endParaRPr lang="en-US" sz="3200" dirty="0"/>
          </a:p>
        </p:txBody>
      </p:sp>
      <p:sp>
        <p:nvSpPr>
          <p:cNvPr id="3" name="Content Placeholder 2"/>
          <p:cNvSpPr>
            <a:spLocks noGrp="1"/>
          </p:cNvSpPr>
          <p:nvPr>
            <p:ph idx="1"/>
          </p:nvPr>
        </p:nvSpPr>
        <p:spPr>
          <a:xfrm>
            <a:off x="609600" y="998622"/>
            <a:ext cx="10972800" cy="4525963"/>
          </a:xfrm>
        </p:spPr>
        <p:txBody>
          <a:bodyPr/>
          <a:lstStyle/>
          <a:p>
            <a:pPr marL="0" indent="0" algn="just">
              <a:buNone/>
            </a:pPr>
            <a:r>
              <a:rPr lang="en-US" sz="1800" dirty="0" smtClean="0">
                <a:latin typeface="Times New Roman" panose="02020603050405020304" pitchFamily="18" charset="0"/>
                <a:cs typeface="Times New Roman" panose="02020603050405020304" pitchFamily="18" charset="0"/>
              </a:rPr>
              <a:t>2310 </a:t>
            </a:r>
            <a:r>
              <a:rPr lang="en-US" sz="1800" dirty="0">
                <a:latin typeface="Times New Roman" panose="02020603050405020304" pitchFamily="18" charset="0"/>
                <a:cs typeface="Times New Roman" panose="02020603050405020304" pitchFamily="18" charset="0"/>
              </a:rPr>
              <a:t>– Identifying Information </a:t>
            </a:r>
          </a:p>
          <a:p>
            <a:pPr marL="0" indent="0" algn="just">
              <a:buNone/>
            </a:pPr>
            <a:r>
              <a:rPr lang="en-US" sz="1800" dirty="0" smtClean="0">
                <a:latin typeface="Times New Roman" panose="02020603050405020304" pitchFamily="18" charset="0"/>
                <a:cs typeface="Times New Roman" panose="02020603050405020304" pitchFamily="18" charset="0"/>
              </a:rPr>
              <a:t>2320 </a:t>
            </a:r>
            <a:r>
              <a:rPr lang="en-US" sz="1800" dirty="0">
                <a:latin typeface="Times New Roman" panose="02020603050405020304" pitchFamily="18" charset="0"/>
                <a:cs typeface="Times New Roman" panose="02020603050405020304" pitchFamily="18" charset="0"/>
              </a:rPr>
              <a:t>– Analysis and Evaluation </a:t>
            </a:r>
          </a:p>
          <a:p>
            <a:pPr marL="0" indent="0" algn="just">
              <a:buNone/>
            </a:pPr>
            <a:r>
              <a:rPr lang="en-US" sz="1800" dirty="0" smtClean="0">
                <a:latin typeface="Times New Roman" panose="02020603050405020304" pitchFamily="18" charset="0"/>
                <a:cs typeface="Times New Roman" panose="02020603050405020304" pitchFamily="18" charset="0"/>
              </a:rPr>
              <a:t>2330 </a:t>
            </a:r>
            <a:r>
              <a:rPr lang="en-US" sz="1800" dirty="0">
                <a:latin typeface="Times New Roman" panose="02020603050405020304" pitchFamily="18" charset="0"/>
                <a:cs typeface="Times New Roman" panose="02020603050405020304" pitchFamily="18" charset="0"/>
              </a:rPr>
              <a:t>– Documenting Information </a:t>
            </a:r>
          </a:p>
          <a:p>
            <a:pPr marL="571500" lvl="1" indent="-171450" algn="just">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2330.A1 </a:t>
            </a:r>
            <a:r>
              <a:rPr lang="en-US" sz="1800" dirty="0">
                <a:latin typeface="Times New Roman" panose="02020603050405020304" pitchFamily="18" charset="0"/>
                <a:cs typeface="Times New Roman" panose="02020603050405020304" pitchFamily="18" charset="0"/>
              </a:rPr>
              <a:t>– The chief audit executive must control access to engagement records. The chief audit executive must obtain the approval of senior management and/or legal counsel prior to releasing such records to external parties, as appropriate. </a:t>
            </a:r>
          </a:p>
          <a:p>
            <a:pPr marL="571500" lvl="1" indent="-1714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2330.A2 – The chief audit executive must develop retention requirements for engagement records, regardless of the medium in which each record is stored. These retention requirements must be consistent with the organization’s guidelines and any pertinent regulatory or other requirements. </a:t>
            </a:r>
          </a:p>
          <a:p>
            <a:pPr marL="571500" lvl="1" indent="-1714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2330.C1 – The chief audit executive must develop policies governing the custody and retention of consulting engagement records, as well as their release to internal and external parties. These policies must be consistent with the organization’s guidelines and any pertinent regulatory or other requirements. </a:t>
            </a:r>
          </a:p>
          <a:p>
            <a:pPr marL="0" indent="0" algn="just">
              <a:buNone/>
            </a:pPr>
            <a:r>
              <a:rPr lang="en-US" sz="1800" dirty="0">
                <a:latin typeface="Times New Roman" panose="02020603050405020304" pitchFamily="18" charset="0"/>
                <a:cs typeface="Times New Roman" panose="02020603050405020304" pitchFamily="18" charset="0"/>
              </a:rPr>
              <a:t>2340 – Engagement Supervision </a:t>
            </a:r>
          </a:p>
        </p:txBody>
      </p:sp>
      <p:sp>
        <p:nvSpPr>
          <p:cNvPr id="4" name="Slide Number Placeholder 3"/>
          <p:cNvSpPr>
            <a:spLocks noGrp="1"/>
          </p:cNvSpPr>
          <p:nvPr>
            <p:ph type="sldNum" sz="quarter" idx="12"/>
          </p:nvPr>
        </p:nvSpPr>
        <p:spPr/>
        <p:txBody>
          <a:bodyPr/>
          <a:lstStyle/>
          <a:p>
            <a:fld id="{6E2F3C12-4A6A-4212-A157-AE121822CE5B}" type="slidenum">
              <a:rPr lang="en-US" smtClean="0"/>
              <a:t>32</a:t>
            </a:fld>
            <a:endParaRPr lang="en-US"/>
          </a:p>
        </p:txBody>
      </p:sp>
      <p:sp>
        <p:nvSpPr>
          <p:cNvPr id="5" name="GTBClassificationH444905340"/>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2414328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2300 – Performing the Engagement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65707505"/>
              </p:ext>
            </p:extLst>
          </p:nvPr>
        </p:nvGraphicFramePr>
        <p:xfrm>
          <a:off x="609600" y="962526"/>
          <a:ext cx="10972800" cy="402844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indent="0" algn="just">
                        <a:buNone/>
                      </a:pPr>
                      <a:r>
                        <a:rPr lang="en-US" sz="1800" dirty="0" smtClean="0">
                          <a:latin typeface="Times New Roman" panose="02020603050405020304" pitchFamily="18" charset="0"/>
                          <a:cs typeface="Times New Roman" panose="02020603050405020304" pitchFamily="18" charset="0"/>
                        </a:rPr>
                        <a:t>2310 – </a:t>
                      </a:r>
                      <a:r>
                        <a:rPr lang="en-US" sz="1800" i="1" dirty="0" smtClean="0">
                          <a:latin typeface="Times New Roman" panose="02020603050405020304" pitchFamily="18" charset="0"/>
                          <a:cs typeface="Times New Roman" panose="02020603050405020304" pitchFamily="18" charset="0"/>
                        </a:rPr>
                        <a:t>Identifying Information &amp;</a:t>
                      </a:r>
                      <a:r>
                        <a:rPr lang="en-US" sz="1800" i="1" baseline="0" dirty="0" smtClean="0">
                          <a:latin typeface="Times New Roman" panose="02020603050405020304" pitchFamily="18" charset="0"/>
                          <a:cs typeface="Times New Roman" panose="02020603050405020304" pitchFamily="18" charset="0"/>
                        </a:rPr>
                        <a:t> </a:t>
                      </a:r>
                      <a:r>
                        <a:rPr lang="en-US" sz="1800" i="1" dirty="0" smtClean="0">
                          <a:latin typeface="Times New Roman" panose="02020603050405020304" pitchFamily="18" charset="0"/>
                          <a:cs typeface="Times New Roman" panose="02020603050405020304" pitchFamily="18" charset="0"/>
                        </a:rPr>
                        <a:t>2320 – Analysis and Evaluation </a:t>
                      </a:r>
                    </a:p>
                    <a:p>
                      <a:pPr marL="0" indent="0" algn="just">
                        <a:buNone/>
                      </a:pPr>
                      <a:endParaRPr lang="en-US" sz="18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Identified information is sufficient, reliable, relevant and useful to achieve the engagement objectives</a:t>
                      </a:r>
                    </a:p>
                    <a:p>
                      <a:pPr marL="285750" indent="-285750" algn="just">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Understand and comply with all laws</a:t>
                      </a:r>
                      <a:r>
                        <a:rPr lang="en-US" sz="1800" baseline="0" dirty="0" smtClean="0">
                          <a:latin typeface="Times New Roman" panose="02020603050405020304" pitchFamily="18" charset="0"/>
                          <a:cs typeface="Times New Roman" panose="02020603050405020304" pitchFamily="18" charset="0"/>
                        </a:rPr>
                        <a:t> regarding the use of personal information</a:t>
                      </a:r>
                    </a:p>
                    <a:p>
                      <a:pPr marL="285750" indent="-285750" algn="just">
                        <a:buFont typeface="Arial" panose="020B0604020202020204" pitchFamily="34" charset="0"/>
                        <a:buChar char="•"/>
                      </a:pPr>
                      <a:r>
                        <a:rPr lang="en-US" sz="1800" baseline="0" dirty="0" smtClean="0">
                          <a:latin typeface="Times New Roman" panose="02020603050405020304" pitchFamily="18" charset="0"/>
                          <a:cs typeface="Times New Roman" panose="02020603050405020304" pitchFamily="18" charset="0"/>
                        </a:rPr>
                        <a:t>Conclusion and engagement results are always based on appropriate analyses and evaluation</a:t>
                      </a:r>
                    </a:p>
                    <a:p>
                      <a:pPr marL="285750" indent="-285750" algn="just">
                        <a:buFont typeface="Arial" panose="020B0604020202020204" pitchFamily="34" charset="0"/>
                        <a:buChar char="•"/>
                      </a:pPr>
                      <a:r>
                        <a:rPr lang="en-US" sz="1800" baseline="0" dirty="0" smtClean="0">
                          <a:latin typeface="Times New Roman" panose="02020603050405020304" pitchFamily="18" charset="0"/>
                          <a:cs typeface="Times New Roman" panose="02020603050405020304" pitchFamily="18" charset="0"/>
                        </a:rPr>
                        <a:t>Work papers should include sufficient detail to describe clearly the sampling objective and the sampling process used,</a:t>
                      </a:r>
                      <a:endParaRPr lang="en-US" sz="1800" dirty="0" smtClean="0">
                        <a:latin typeface="Times New Roman" panose="02020603050405020304" pitchFamily="18" charset="0"/>
                        <a:cs typeface="Times New Roman" panose="02020603050405020304" pitchFamily="18" charset="0"/>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Code of conduct</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List of all applicable laws and regulations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Risk Register</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Audit evidence</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Sampling</a:t>
                      </a:r>
                      <a:r>
                        <a:rPr lang="en-US" baseline="0" dirty="0" smtClean="0">
                          <a:latin typeface="Times New Roman" panose="02020603050405020304" pitchFamily="18" charset="0"/>
                          <a:cs typeface="Times New Roman" panose="02020603050405020304" pitchFamily="18" charset="0"/>
                        </a:rPr>
                        <a:t> document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33</a:t>
            </a:fld>
            <a:endParaRPr lang="en-US"/>
          </a:p>
        </p:txBody>
      </p:sp>
      <p:sp>
        <p:nvSpPr>
          <p:cNvPr id="5" name="GTBClassificationH613781294"/>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8091977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2300 – Performing the </a:t>
            </a:r>
            <a:r>
              <a:rPr lang="en-US" dirty="0" smtClean="0">
                <a:latin typeface="Times New Roman" panose="02020603050405020304" pitchFamily="18" charset="0"/>
                <a:cs typeface="Times New Roman" panose="02020603050405020304" pitchFamily="18" charset="0"/>
              </a:rPr>
              <a:t>Engagement </a:t>
            </a:r>
            <a:r>
              <a:rPr lang="en-US" dirty="0">
                <a:latin typeface="Times New Roman" panose="02020603050405020304" pitchFamily="18" charset="0"/>
                <a:cs typeface="Times New Roman" panose="02020603050405020304" pitchFamily="18" charset="0"/>
              </a:rPr>
              <a:t>(Cont’d)</a:t>
            </a:r>
            <a:r>
              <a:rPr lang="en-US" dirty="0" smtClean="0">
                <a:latin typeface="Times New Roman" panose="02020603050405020304" pitchFamily="18" charset="0"/>
                <a:cs typeface="Times New Roman" panose="02020603050405020304" pitchFamily="18" charset="0"/>
              </a:rPr>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11355410"/>
              </p:ext>
            </p:extLst>
          </p:nvPr>
        </p:nvGraphicFramePr>
        <p:xfrm>
          <a:off x="609600" y="950494"/>
          <a:ext cx="10972800" cy="375412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smtClean="0">
                          <a:latin typeface="Times New Roman" panose="02020603050405020304" pitchFamily="18" charset="0"/>
                          <a:cs typeface="Times New Roman" panose="02020603050405020304" pitchFamily="18" charset="0"/>
                        </a:rPr>
                        <a:t>2330</a:t>
                      </a:r>
                      <a:r>
                        <a:rPr lang="en-US" baseline="0" dirty="0" smtClean="0">
                          <a:latin typeface="Times New Roman" panose="02020603050405020304" pitchFamily="18" charset="0"/>
                          <a:cs typeface="Times New Roman" panose="02020603050405020304" pitchFamily="18" charset="0"/>
                        </a:rPr>
                        <a:t> - </a:t>
                      </a:r>
                      <a:r>
                        <a:rPr lang="en-US" sz="1800" i="1" kern="1200" dirty="0" smtClean="0">
                          <a:solidFill>
                            <a:schemeClr val="dk1"/>
                          </a:solidFill>
                          <a:latin typeface="Times New Roman" panose="02020603050405020304" pitchFamily="18" charset="0"/>
                          <a:ea typeface="+mn-ea"/>
                          <a:cs typeface="Times New Roman" panose="02020603050405020304" pitchFamily="18" charset="0"/>
                        </a:rPr>
                        <a:t>Documenting Information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smtClean="0">
                        <a:latin typeface="Times New Roman" panose="02020603050405020304" pitchFamily="18"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latin typeface="Times New Roman" panose="02020603050405020304" pitchFamily="18" charset="0"/>
                          <a:cs typeface="Times New Roman" panose="02020603050405020304" pitchFamily="18" charset="0"/>
                        </a:rPr>
                        <a:t>Document relevant information to support the conclusion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latin typeface="Times New Roman" panose="02020603050405020304" pitchFamily="18" charset="0"/>
                          <a:cs typeface="Times New Roman" panose="02020603050405020304" pitchFamily="18" charset="0"/>
                        </a:rPr>
                        <a:t>CAE develop retention requirements and working paper policy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latin typeface="Times New Roman" panose="02020603050405020304" pitchFamily="18" charset="0"/>
                          <a:cs typeface="Times New Roman" panose="02020603050405020304" pitchFamily="18" charset="0"/>
                        </a:rPr>
                        <a:t>CAE</a:t>
                      </a:r>
                      <a:r>
                        <a:rPr lang="en-US" baseline="0" dirty="0" smtClean="0">
                          <a:latin typeface="Times New Roman" panose="02020603050405020304" pitchFamily="18" charset="0"/>
                          <a:cs typeface="Times New Roman" panose="02020603050405020304" pitchFamily="18" charset="0"/>
                        </a:rPr>
                        <a:t> controls access to engagement records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latin typeface="Times New Roman" panose="02020603050405020304" pitchFamily="18" charset="0"/>
                          <a:cs typeface="Times New Roman" panose="02020603050405020304" pitchFamily="18" charset="0"/>
                        </a:rPr>
                        <a:t>Approval of SM and or legal counsel prior to release records to external parties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latin typeface="Times New Roman" panose="02020603050405020304" pitchFamily="18" charset="0"/>
                          <a:cs typeface="Times New Roman" panose="02020603050405020304" pitchFamily="18" charset="0"/>
                        </a:rPr>
                        <a:t>The CAE approve access to engagement working papers by external auditors</a:t>
                      </a: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Audit manual</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Retention policy</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Investigation procedures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Policy for access</a:t>
                      </a:r>
                      <a:r>
                        <a:rPr lang="en-US" baseline="0" dirty="0" smtClean="0">
                          <a:latin typeface="Times New Roman" panose="02020603050405020304" pitchFamily="18" charset="0"/>
                          <a:cs typeface="Times New Roman" panose="02020603050405020304" pitchFamily="18" charset="0"/>
                        </a:rPr>
                        <a:t> to engagement records approved by AC</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34</a:t>
            </a:fld>
            <a:endParaRPr lang="en-US"/>
          </a:p>
        </p:txBody>
      </p:sp>
      <p:sp>
        <p:nvSpPr>
          <p:cNvPr id="5" name="GTBClassificationH797123536"/>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4035782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2300 – Performing the Engagement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57996188"/>
              </p:ext>
            </p:extLst>
          </p:nvPr>
        </p:nvGraphicFramePr>
        <p:xfrm>
          <a:off x="609600" y="950495"/>
          <a:ext cx="10972800" cy="320548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i="0" dirty="0" smtClean="0">
                          <a:latin typeface="Times New Roman" panose="02020603050405020304" pitchFamily="18" charset="0"/>
                          <a:cs typeface="Times New Roman" panose="02020603050405020304" pitchFamily="18" charset="0"/>
                        </a:rPr>
                        <a:t>2340</a:t>
                      </a:r>
                      <a:r>
                        <a:rPr lang="en-US" i="1" baseline="0" dirty="0" smtClean="0">
                          <a:latin typeface="Times New Roman" panose="02020603050405020304" pitchFamily="18" charset="0"/>
                          <a:cs typeface="Times New Roman" panose="02020603050405020304" pitchFamily="18" charset="0"/>
                        </a:rPr>
                        <a:t> - </a:t>
                      </a:r>
                      <a:r>
                        <a:rPr lang="en-US" i="1" dirty="0" smtClean="0">
                          <a:latin typeface="Times New Roman" panose="02020603050405020304" pitchFamily="18" charset="0"/>
                          <a:cs typeface="Times New Roman" panose="02020603050405020304" pitchFamily="18" charset="0"/>
                        </a:rPr>
                        <a:t>Engagement supervision</a:t>
                      </a:r>
                    </a:p>
                    <a:p>
                      <a:endParaRPr lang="en-US"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CAE or designees provides appropriate engagement supervision</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All engagement working papers are reviewed to ensure that they support engagement communication and necessary audit procedures are performed</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Engagement supervision</a:t>
                      </a:r>
                      <a:r>
                        <a:rPr lang="en-US" baseline="0" dirty="0" smtClean="0">
                          <a:latin typeface="Times New Roman" panose="02020603050405020304" pitchFamily="18" charset="0"/>
                          <a:cs typeface="Times New Roman" panose="02020603050405020304" pitchFamily="18" charset="0"/>
                        </a:rPr>
                        <a:t> also allows for training and development of staff and performance evaluation</a:t>
                      </a:r>
                    </a:p>
                    <a:p>
                      <a:pPr marL="285750" indent="-285750" algn="just">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Evidence od supervision is documented and retained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Approved APM,</a:t>
                      </a:r>
                      <a:r>
                        <a:rPr lang="en-US" baseline="0" dirty="0" smtClean="0">
                          <a:latin typeface="Times New Roman" panose="02020603050405020304" pitchFamily="18" charset="0"/>
                          <a:cs typeface="Times New Roman" panose="02020603050405020304" pitchFamily="18" charset="0"/>
                        </a:rPr>
                        <a:t> time budget and engagement work program</a:t>
                      </a:r>
                    </a:p>
                    <a:p>
                      <a:pPr marL="285750" indent="-285750" algn="just">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QAIP checklist</a:t>
                      </a:r>
                    </a:p>
                    <a:p>
                      <a:pPr marL="285750" indent="-285750" algn="just">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Manger review checklist</a:t>
                      </a:r>
                    </a:p>
                    <a:p>
                      <a:pPr marL="285750" indent="-285750" algn="just">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Staff performance evaluation for engagement</a:t>
                      </a:r>
                    </a:p>
                    <a:p>
                      <a:pPr marL="285750" indent="-285750" algn="just">
                        <a:buFont typeface="Arial" panose="020B0604020202020204" pitchFamily="34" charset="0"/>
                        <a:buChar char="•"/>
                      </a:pPr>
                      <a:r>
                        <a:rPr lang="en-US" baseline="0" dirty="0" smtClean="0">
                          <a:latin typeface="Times New Roman" panose="02020603050405020304" pitchFamily="18" charset="0"/>
                          <a:cs typeface="Times New Roman" panose="02020603050405020304" pitchFamily="18" charset="0"/>
                        </a:rPr>
                        <a:t>Reviewed draft and final reports by lime manger and quality officer</a:t>
                      </a:r>
                    </a:p>
                    <a:p>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35</a:t>
            </a:fld>
            <a:endParaRPr lang="en-US"/>
          </a:p>
        </p:txBody>
      </p:sp>
      <p:sp>
        <p:nvSpPr>
          <p:cNvPr id="5" name="GTBClassificationH768242288"/>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896861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2400 – Communicating Results </a:t>
            </a:r>
            <a:endParaRPr lang="en-US" sz="3200" dirty="0"/>
          </a:p>
        </p:txBody>
      </p:sp>
      <p:sp>
        <p:nvSpPr>
          <p:cNvPr id="3" name="Content Placeholder 2"/>
          <p:cNvSpPr>
            <a:spLocks noGrp="1"/>
          </p:cNvSpPr>
          <p:nvPr>
            <p:ph idx="1"/>
          </p:nvPr>
        </p:nvSpPr>
        <p:spPr>
          <a:xfrm>
            <a:off x="524540" y="887820"/>
            <a:ext cx="10972800" cy="5356569"/>
          </a:xfrm>
        </p:spPr>
        <p:txBody>
          <a:bodyPr/>
          <a:lstStyle/>
          <a:p>
            <a:pPr marL="0" indent="0" algn="just">
              <a:buNone/>
            </a:pPr>
            <a:r>
              <a:rPr lang="en-US" sz="1400" dirty="0">
                <a:latin typeface="Times New Roman" panose="02020603050405020304" pitchFamily="18" charset="0"/>
                <a:cs typeface="Times New Roman" panose="02020603050405020304" pitchFamily="18" charset="0"/>
              </a:rPr>
              <a:t>2410 – Criteria for Communicating </a:t>
            </a:r>
            <a:endParaRPr lang="en-US" sz="14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2410.A1 – Final communication of engagement results must include applicable conclusions, as well as applicable recommendations and/or action plans. Where appropriate, the internal auditors’ opinion should be provided. An opinion must take into account the expectations of senior management, the board, and other stakeholders and must be supported by sufficient, reliable, relevant, and useful information. </a:t>
            </a:r>
            <a:endParaRPr lang="en-US" sz="14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2410.A2 – Internal auditors are encouraged to acknowledge satisfactory performance in engagement communications. </a:t>
            </a:r>
          </a:p>
          <a:p>
            <a:pPr marL="571500" lvl="1" indent="-1714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2410.A3 – When releasing engagement results to parties outside the organization, the communication must include limitations on distribution and use of the results. </a:t>
            </a:r>
            <a:endParaRPr lang="en-US" sz="1400" dirty="0" smtClean="0">
              <a:latin typeface="Times New Roman" panose="02020603050405020304" pitchFamily="18" charset="0"/>
              <a:cs typeface="Times New Roman" panose="02020603050405020304" pitchFamily="18" charset="0"/>
            </a:endParaRPr>
          </a:p>
          <a:p>
            <a:pPr marL="571500" lvl="1" indent="-171450"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2410.C1 </a:t>
            </a:r>
            <a:r>
              <a:rPr lang="en-US" sz="1400" dirty="0">
                <a:latin typeface="Times New Roman" panose="02020603050405020304" pitchFamily="18" charset="0"/>
                <a:cs typeface="Times New Roman" panose="02020603050405020304" pitchFamily="18" charset="0"/>
              </a:rPr>
              <a:t>– Communication of the progress and results of consulting engagements will vary in form and content depending upon the nature of the engagement and the needs of the client. </a:t>
            </a:r>
          </a:p>
          <a:p>
            <a:pPr marL="0" indent="0" algn="just">
              <a:buNone/>
            </a:pPr>
            <a:r>
              <a:rPr lang="en-US" sz="1400" dirty="0">
                <a:latin typeface="Times New Roman" panose="02020603050405020304" pitchFamily="18" charset="0"/>
                <a:cs typeface="Times New Roman" panose="02020603050405020304" pitchFamily="18" charset="0"/>
              </a:rPr>
              <a:t>2420 – Quality of Communications </a:t>
            </a:r>
          </a:p>
          <a:p>
            <a:pPr marL="0" indent="0" algn="just">
              <a:buNone/>
            </a:pPr>
            <a:r>
              <a:rPr lang="en-US" sz="1400" dirty="0" smtClean="0">
                <a:latin typeface="Times New Roman" panose="02020603050405020304" pitchFamily="18" charset="0"/>
                <a:cs typeface="Times New Roman" panose="02020603050405020304" pitchFamily="18" charset="0"/>
              </a:rPr>
              <a:t>2421 </a:t>
            </a:r>
            <a:r>
              <a:rPr lang="en-US" sz="1400" dirty="0">
                <a:latin typeface="Times New Roman" panose="02020603050405020304" pitchFamily="18" charset="0"/>
                <a:cs typeface="Times New Roman" panose="02020603050405020304" pitchFamily="18" charset="0"/>
              </a:rPr>
              <a:t>– Errors and Omissions </a:t>
            </a:r>
            <a:endParaRPr lang="en-US" sz="1400" dirty="0" smtClean="0">
              <a:latin typeface="Times New Roman" panose="02020603050405020304" pitchFamily="18" charset="0"/>
              <a:cs typeface="Times New Roman" panose="02020603050405020304" pitchFamily="18" charset="0"/>
            </a:endParaRPr>
          </a:p>
          <a:p>
            <a:pPr marL="0" indent="0" algn="just">
              <a:buNone/>
            </a:pPr>
            <a:r>
              <a:rPr lang="en-US" sz="1400" dirty="0">
                <a:latin typeface="Times New Roman" panose="02020603050405020304" pitchFamily="18" charset="0"/>
                <a:cs typeface="Times New Roman" panose="02020603050405020304" pitchFamily="18" charset="0"/>
              </a:rPr>
              <a:t>2430 – Use of “Conducted in Conformance with the </a:t>
            </a:r>
            <a:r>
              <a:rPr lang="en-US" sz="1400" i="1" dirty="0">
                <a:latin typeface="Times New Roman" panose="02020603050405020304" pitchFamily="18" charset="0"/>
                <a:cs typeface="Times New Roman" panose="02020603050405020304" pitchFamily="18" charset="0"/>
              </a:rPr>
              <a:t>International Standards for the Professional Practice of Internal Auditing</a:t>
            </a:r>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pPr marL="0" indent="0" algn="just">
              <a:buNone/>
            </a:pPr>
            <a:r>
              <a:rPr lang="en-US" sz="1400" dirty="0">
                <a:latin typeface="Times New Roman" panose="02020603050405020304" pitchFamily="18" charset="0"/>
                <a:cs typeface="Times New Roman" panose="02020603050405020304" pitchFamily="18" charset="0"/>
              </a:rPr>
              <a:t>2431 – Engagement Disclosure of Nonconformance </a:t>
            </a:r>
          </a:p>
          <a:p>
            <a:pPr marL="0" indent="0" algn="just">
              <a:buNone/>
            </a:pPr>
            <a:r>
              <a:rPr lang="en-US" sz="1400" dirty="0" smtClean="0">
                <a:latin typeface="Times New Roman" panose="02020603050405020304" pitchFamily="18" charset="0"/>
                <a:cs typeface="Times New Roman" panose="02020603050405020304" pitchFamily="18" charset="0"/>
              </a:rPr>
              <a:t>2440 </a:t>
            </a:r>
            <a:r>
              <a:rPr lang="en-US" sz="1400" dirty="0">
                <a:latin typeface="Times New Roman" panose="02020603050405020304" pitchFamily="18" charset="0"/>
                <a:cs typeface="Times New Roman" panose="02020603050405020304" pitchFamily="18" charset="0"/>
              </a:rPr>
              <a:t>– Disseminating Results </a:t>
            </a:r>
          </a:p>
          <a:p>
            <a:pPr marL="571500" lvl="1" indent="-171450"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2440.A1 – The chief audit executive is responsible for communicating the final results to parties who can ensure that the results are given due consideration. </a:t>
            </a:r>
          </a:p>
          <a:p>
            <a:pPr marL="571500" lvl="1" indent="-171450"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2440.A2 – If not otherwise mandated by legal, statutory, or regulatory requirements, prior to releasing results to parties outside the organization the chief audit executive must give consent</a:t>
            </a:r>
          </a:p>
          <a:p>
            <a:pPr marL="571500" lvl="1" indent="-171450"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2440.C1 – The chief audit executive is responsible for communicating the final results of consulting engagements to clients. </a:t>
            </a:r>
          </a:p>
          <a:p>
            <a:pPr marL="571500" lvl="1" indent="-171450"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2440.C2 – During consulting engagements, governance, risk management, and control issues may be identified. </a:t>
            </a:r>
          </a:p>
          <a:p>
            <a:pPr marL="571500" lvl="1" indent="-171450"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2450 </a:t>
            </a:r>
            <a:r>
              <a:rPr lang="en-US" sz="1400" dirty="0">
                <a:latin typeface="Times New Roman" panose="02020603050405020304" pitchFamily="18" charset="0"/>
                <a:cs typeface="Times New Roman" panose="02020603050405020304" pitchFamily="18" charset="0"/>
              </a:rPr>
              <a:t>– Overall Opinions </a:t>
            </a:r>
          </a:p>
        </p:txBody>
      </p:sp>
      <p:sp>
        <p:nvSpPr>
          <p:cNvPr id="4" name="Slide Number Placeholder 3"/>
          <p:cNvSpPr>
            <a:spLocks noGrp="1"/>
          </p:cNvSpPr>
          <p:nvPr>
            <p:ph type="sldNum" sz="quarter" idx="12"/>
          </p:nvPr>
        </p:nvSpPr>
        <p:spPr/>
        <p:txBody>
          <a:bodyPr/>
          <a:lstStyle/>
          <a:p>
            <a:fld id="{6E2F3C12-4A6A-4212-A157-AE121822CE5B}" type="slidenum">
              <a:rPr lang="en-US" smtClean="0"/>
              <a:t>36</a:t>
            </a:fld>
            <a:endParaRPr lang="en-US"/>
          </a:p>
        </p:txBody>
      </p:sp>
      <p:sp>
        <p:nvSpPr>
          <p:cNvPr id="5" name="GTBClassificationH78963428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12908565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2400 – Communicating </a:t>
            </a:r>
            <a:r>
              <a:rPr lang="en-US" dirty="0" smtClean="0">
                <a:latin typeface="Times New Roman" panose="02020603050405020304" pitchFamily="18" charset="0"/>
                <a:cs typeface="Times New Roman" panose="02020603050405020304" pitchFamily="18" charset="0"/>
              </a:rPr>
              <a:t>Results </a:t>
            </a:r>
            <a:r>
              <a:rPr lang="en-US" dirty="0">
                <a:latin typeface="Times New Roman" panose="02020603050405020304" pitchFamily="18" charset="0"/>
                <a:cs typeface="Times New Roman" panose="02020603050405020304" pitchFamily="18" charset="0"/>
              </a:rPr>
              <a:t>(Cont’d)</a:t>
            </a:r>
            <a:r>
              <a:rPr lang="en-US" dirty="0" smtClean="0">
                <a:latin typeface="Times New Roman" panose="02020603050405020304" pitchFamily="18" charset="0"/>
                <a:cs typeface="Times New Roman" panose="02020603050405020304" pitchFamily="18" charset="0"/>
              </a:rPr>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26276421"/>
              </p:ext>
            </p:extLst>
          </p:nvPr>
        </p:nvGraphicFramePr>
        <p:xfrm>
          <a:off x="609600" y="938463"/>
          <a:ext cx="10972800" cy="5095240"/>
        </p:xfrm>
        <a:graphic>
          <a:graphicData uri="http://schemas.openxmlformats.org/drawingml/2006/table">
            <a:tbl>
              <a:tblPr firstRow="1" bandRow="1">
                <a:tableStyleId>{5C22544A-7EE6-4342-B048-85BDC9FD1C3A}</a:tableStyleId>
              </a:tblPr>
              <a:tblGrid>
                <a:gridCol w="5486400"/>
                <a:gridCol w="5486400"/>
              </a:tblGrid>
              <a:tr h="370840">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Major Requirements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rgbClr val="FF0000"/>
                          </a:solidFill>
                          <a:latin typeface="Times New Roman" panose="02020603050405020304" pitchFamily="18" charset="0"/>
                          <a:cs typeface="Times New Roman" panose="02020603050405020304" pitchFamily="18" charset="0"/>
                        </a:rPr>
                        <a:t>Documents</a:t>
                      </a:r>
                      <a:endParaRPr lang="en-US" dirty="0">
                        <a:solidFill>
                          <a:srgbClr val="FF0000"/>
                        </a:solidFill>
                        <a:latin typeface="Times New Roman" panose="02020603050405020304" pitchFamily="18" charset="0"/>
                        <a:cs typeface="Times New Roman" panose="02020603050405020304" pitchFamily="18" charset="0"/>
                      </a:endParaRPr>
                    </a:p>
                  </a:txBody>
                  <a:tcPr marL="95416" marR="954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CAE</a:t>
                      </a:r>
                      <a:r>
                        <a:rPr lang="en-US" sz="1600" baseline="0" dirty="0" smtClean="0">
                          <a:latin typeface="Times New Roman" panose="02020603050405020304" pitchFamily="18" charset="0"/>
                          <a:cs typeface="Times New Roman" panose="02020603050405020304" pitchFamily="18" charset="0"/>
                        </a:rPr>
                        <a:t> determines which internal auditor is authorized to sign the report</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If engagement reports are distributed by electronic means, a signed version of the report is kept on file by IAA</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Opinions at the engagement level – in relation to controls around a specific process, risk, or business unit – are either ratings conclusions or other descriptions of the results</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When releasing engagement results to parties outside the organization the communication includes limitations on distribution and use of the results</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Internal auditors discuss conclusion and recommendation with management before CAE issues the final report. This  is usually accomplished during the course of the engagement and / or engagement meetings ( exit Meetings)</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CAE is responsible for communicating the final results of consulting engagement to clients</a:t>
                      </a:r>
                    </a:p>
                    <a:p>
                      <a:pPr marL="285750" indent="-285750" algn="just">
                        <a:buFont typeface="Arial" panose="020B0604020202020204" pitchFamily="34" charset="0"/>
                        <a:buChar char="•"/>
                      </a:pPr>
                      <a:r>
                        <a:rPr lang="en-US" sz="1600" baseline="0" dirty="0" smtClean="0">
                          <a:latin typeface="Times New Roman" panose="02020603050405020304" pitchFamily="18" charset="0"/>
                          <a:cs typeface="Times New Roman" panose="02020603050405020304" pitchFamily="18" charset="0"/>
                        </a:rPr>
                        <a:t>CAE or designee reviews and approves the final report be for issuance and decides to whom an how it will be disseminated</a:t>
                      </a:r>
                    </a:p>
                    <a:p>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Detailed audit report</a:t>
                      </a: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High level audit report</a:t>
                      </a: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Memo Report</a:t>
                      </a: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Audit reports related to government loans etc.</a:t>
                      </a: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Limitation clause is detailed audit report</a:t>
                      </a: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Observation 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37</a:t>
            </a:fld>
            <a:endParaRPr lang="en-US"/>
          </a:p>
        </p:txBody>
      </p:sp>
      <p:sp>
        <p:nvSpPr>
          <p:cNvPr id="5" name="GTBClassificationH844406857"/>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308589949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2500 – Monitoring Progress </a:t>
            </a:r>
            <a:endParaRPr lang="en-US" sz="3200" dirty="0"/>
          </a:p>
        </p:txBody>
      </p:sp>
      <p:sp>
        <p:nvSpPr>
          <p:cNvPr id="3" name="Content Placeholder 2"/>
          <p:cNvSpPr>
            <a:spLocks noGrp="1"/>
          </p:cNvSpPr>
          <p:nvPr>
            <p:ph idx="1"/>
          </p:nvPr>
        </p:nvSpPr>
        <p:spPr>
          <a:xfrm>
            <a:off x="609600" y="962527"/>
            <a:ext cx="10972800" cy="4525963"/>
          </a:xfrm>
        </p:spPr>
        <p:txBody>
          <a:bodyPr/>
          <a:lstStyle/>
          <a:p>
            <a:pPr algn="just"/>
            <a:r>
              <a:rPr lang="en-US" dirty="0">
                <a:latin typeface="Times New Roman" panose="02020603050405020304" pitchFamily="18" charset="0"/>
                <a:cs typeface="Times New Roman" panose="02020603050405020304" pitchFamily="18" charset="0"/>
              </a:rPr>
              <a:t>2500.A1 – The chief audit executive must establish a follow-up process to monitor and ensure that management actions have been effectively implemented or that senior management has accepted the risk of not taking action. </a:t>
            </a:r>
          </a:p>
          <a:p>
            <a:pPr algn="just"/>
            <a:r>
              <a:rPr lang="en-US" dirty="0">
                <a:latin typeface="Times New Roman" panose="02020603050405020304" pitchFamily="18" charset="0"/>
                <a:cs typeface="Times New Roman" panose="02020603050405020304" pitchFamily="18" charset="0"/>
              </a:rPr>
              <a:t>2500.C1 – The internal audit activity must monitor the disposition of results of consulting engagements to the extent agreed upon with the client. </a:t>
            </a:r>
          </a:p>
        </p:txBody>
      </p:sp>
      <p:sp>
        <p:nvSpPr>
          <p:cNvPr id="4" name="Slide Number Placeholder 3"/>
          <p:cNvSpPr>
            <a:spLocks noGrp="1"/>
          </p:cNvSpPr>
          <p:nvPr>
            <p:ph type="sldNum" sz="quarter" idx="12"/>
          </p:nvPr>
        </p:nvSpPr>
        <p:spPr/>
        <p:txBody>
          <a:bodyPr/>
          <a:lstStyle/>
          <a:p>
            <a:fld id="{6E2F3C12-4A6A-4212-A157-AE121822CE5B}" type="slidenum">
              <a:rPr lang="en-US" smtClean="0"/>
              <a:t>38</a:t>
            </a:fld>
            <a:endParaRPr lang="en-US"/>
          </a:p>
        </p:txBody>
      </p:sp>
      <p:sp>
        <p:nvSpPr>
          <p:cNvPr id="5" name="GTBClassificationH1239366241"/>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2589689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2500 – Monitoring Progress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35803095"/>
              </p:ext>
            </p:extLst>
          </p:nvPr>
        </p:nvGraphicFramePr>
        <p:xfrm>
          <a:off x="609600" y="950495"/>
          <a:ext cx="10972800" cy="5185610"/>
        </p:xfrm>
        <a:graphic>
          <a:graphicData uri="http://schemas.openxmlformats.org/drawingml/2006/table">
            <a:tbl>
              <a:tblPr firstRow="1" bandRow="1">
                <a:tableStyleId>{5C22544A-7EE6-4342-B048-85BDC9FD1C3A}</a:tableStyleId>
              </a:tblPr>
              <a:tblGrid>
                <a:gridCol w="5486400"/>
                <a:gridCol w="5486400"/>
              </a:tblGrid>
              <a:tr h="470248">
                <a:tc>
                  <a:txBody>
                    <a:bodyPr/>
                    <a:lstStyle/>
                    <a:p>
                      <a:pPr algn="ctr"/>
                      <a:r>
                        <a:rPr lang="en-US" sz="1800" dirty="0" smtClean="0">
                          <a:solidFill>
                            <a:srgbClr val="FF0000"/>
                          </a:solidFill>
                          <a:latin typeface="Times New Roman" panose="02020603050405020304" pitchFamily="18" charset="0"/>
                          <a:cs typeface="Times New Roman" panose="02020603050405020304" pitchFamily="18" charset="0"/>
                        </a:rPr>
                        <a:t>Major Requirements</a:t>
                      </a:r>
                      <a:endParaRPr lang="en-US" sz="1800"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smtClean="0">
                          <a:solidFill>
                            <a:srgbClr val="FF0000"/>
                          </a:solidFill>
                          <a:latin typeface="Times New Roman" panose="02020603050405020304" pitchFamily="18" charset="0"/>
                          <a:cs typeface="Times New Roman" panose="02020603050405020304" pitchFamily="18" charset="0"/>
                        </a:rPr>
                        <a:t>Documents</a:t>
                      </a:r>
                      <a:endParaRPr lang="en-US" sz="2400"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15362">
                <a:tc>
                  <a:txBody>
                    <a:bodyPr/>
                    <a:lstStyle/>
                    <a:p>
                      <a:pPr marL="0" indent="0" algn="just">
                        <a:buNone/>
                      </a:pPr>
                      <a:r>
                        <a:rPr lang="en-US" sz="1400" baseline="0" smtClean="0">
                          <a:latin typeface="Times New Roman" panose="02020603050405020304" pitchFamily="18" charset="0"/>
                          <a:cs typeface="Times New Roman" panose="02020603050405020304" pitchFamily="18" charset="0"/>
                        </a:rPr>
                        <a:t>2500 - </a:t>
                      </a:r>
                      <a:r>
                        <a:rPr lang="en-US" sz="1400" i="1" baseline="0" smtClean="0">
                          <a:latin typeface="Times New Roman" panose="02020603050405020304" pitchFamily="18" charset="0"/>
                          <a:cs typeface="Times New Roman" panose="02020603050405020304" pitchFamily="18" charset="0"/>
                        </a:rPr>
                        <a:t>Monitoring </a:t>
                      </a:r>
                      <a:r>
                        <a:rPr lang="en-US" sz="1400" i="1" baseline="0" dirty="0" smtClean="0">
                          <a:latin typeface="Times New Roman" panose="02020603050405020304" pitchFamily="18" charset="0"/>
                          <a:cs typeface="Times New Roman" panose="02020603050405020304" pitchFamily="18" charset="0"/>
                        </a:rPr>
                        <a:t>progress and follow-up Process</a:t>
                      </a:r>
                    </a:p>
                    <a:p>
                      <a:pPr marL="0" indent="0" algn="just">
                        <a:buNone/>
                      </a:pPr>
                      <a:endParaRPr lang="en-US" sz="1400" baseline="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To effectibvely monitor the disposition of results, CAE establishes procedures to include:</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The timeframe for response to observation</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Evaluation of mangment’s responses</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Verification of the responses</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Performance of a followup engagement</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Escalation of unsatisfactory responses / actions and assumption of riskto the appropriate levels of senior mangemnt or the board</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If cettian reported observations require  immediate acton by management or the board , the internal audit activity monitors actions taken until the observation is corrected ot the recommendation is implemented</a:t>
                      </a:r>
                    </a:p>
                    <a:p>
                      <a:pPr marL="285750"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The internal audit activity may effectively monitor progress by:</a:t>
                      </a:r>
                    </a:p>
                    <a:p>
                      <a:pPr marL="742950" lvl="1"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Recivirng periodic updates from management</a:t>
                      </a:r>
                    </a:p>
                    <a:p>
                      <a:pPr marL="742950" lvl="1" indent="-285750" algn="just">
                        <a:buFont typeface="Arial" panose="020B0604020202020204" pitchFamily="34" charset="0"/>
                        <a:buChar char="•"/>
                      </a:pPr>
                      <a:r>
                        <a:rPr lang="en-US" sz="1400" baseline="0" smtClean="0">
                          <a:latin typeface="Times New Roman" panose="02020603050405020304" pitchFamily="18" charset="0"/>
                          <a:cs typeface="Times New Roman" panose="02020603050405020304" pitchFamily="18" charset="0"/>
                        </a:rPr>
                        <a:t>Reproting ot SM and / or board on the status of the respinses to engangwmnt observation and recommendation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Periodic emails form clients on status of observations</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Follow-up database</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BOD Reports</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Automated reminders</a:t>
                      </a:r>
                      <a:r>
                        <a:rPr lang="en-US" sz="1400" baseline="0" dirty="0" smtClean="0">
                          <a:latin typeface="Times New Roman" panose="02020603050405020304" pitchFamily="18" charset="0"/>
                          <a:cs typeface="Times New Roman" panose="02020603050405020304" pitchFamily="18" charset="0"/>
                        </a:rPr>
                        <a:t> through Team Mate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39</a:t>
            </a:fld>
            <a:endParaRPr lang="en-US"/>
          </a:p>
        </p:txBody>
      </p:sp>
      <p:sp>
        <p:nvSpPr>
          <p:cNvPr id="5" name="GTBClassificationH1908209745"/>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40399973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2500 – Monitoring Progress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11286277"/>
              </p:ext>
            </p:extLst>
          </p:nvPr>
        </p:nvGraphicFramePr>
        <p:xfrm>
          <a:off x="609600" y="926432"/>
          <a:ext cx="10972800" cy="5341219"/>
        </p:xfrm>
        <a:graphic>
          <a:graphicData uri="http://schemas.openxmlformats.org/drawingml/2006/table">
            <a:tbl>
              <a:tblPr firstRow="1" bandRow="1">
                <a:tableStyleId>{5C22544A-7EE6-4342-B048-85BDC9FD1C3A}</a:tableStyleId>
              </a:tblPr>
              <a:tblGrid>
                <a:gridCol w="5486400"/>
                <a:gridCol w="5486400"/>
              </a:tblGrid>
              <a:tr h="372979">
                <a:tc>
                  <a:txBody>
                    <a:bodyPr/>
                    <a:lstStyle/>
                    <a:p>
                      <a:pPr algn="ctr"/>
                      <a:r>
                        <a:rPr lang="en-US" sz="1800" dirty="0" smtClean="0">
                          <a:solidFill>
                            <a:srgbClr val="FF0000"/>
                          </a:solidFill>
                          <a:latin typeface="Times New Roman" panose="02020603050405020304" pitchFamily="18" charset="0"/>
                          <a:cs typeface="Times New Roman" panose="02020603050405020304" pitchFamily="18" charset="0"/>
                        </a:rPr>
                        <a:t>Major Requirements</a:t>
                      </a:r>
                      <a:endParaRPr lang="en-US" sz="1800"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smtClean="0">
                          <a:solidFill>
                            <a:srgbClr val="FF0000"/>
                          </a:solidFill>
                          <a:latin typeface="Times New Roman" panose="02020603050405020304" pitchFamily="18" charset="0"/>
                          <a:cs typeface="Times New Roman" panose="02020603050405020304" pitchFamily="18" charset="0"/>
                        </a:rPr>
                        <a:t>Documents</a:t>
                      </a:r>
                      <a:endParaRPr lang="en-US" sz="1800" dirty="0">
                        <a:solidFill>
                          <a:srgbClr val="FF0000"/>
                        </a:solidFill>
                        <a:latin typeface="Times New Roman" panose="02020603050405020304" pitchFamily="18" charset="0"/>
                        <a:cs typeface="Times New Roman" panose="02020603050405020304" pitchFamily="18" charset="0"/>
                      </a:endParaRPr>
                    </a:p>
                  </a:txBody>
                  <a:tcPr marL="95416" marR="95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662905">
                <a:tc>
                  <a:txBody>
                    <a:bodyPr/>
                    <a:lstStyle/>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Determine whether management has taken action or implemented the recommendation</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Determine whether the desired results are achieved or if SM or the board has assumed the risk of not taking action or implementing the recommendation</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IA charter should define the responsibility of the follow-up</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CAE is responsible for scheduling follow-up activities as part of the developing engagement wok schedule</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Where CAE judge that that action taken is sufficient internal auditors may follow up as part of the next</a:t>
                      </a:r>
                      <a:r>
                        <a:rPr lang="en-US" sz="2000" baseline="0" dirty="0" smtClean="0">
                          <a:latin typeface="Times New Roman" panose="02020603050405020304" pitchFamily="18" charset="0"/>
                          <a:cs typeface="Times New Roman" panose="02020603050405020304" pitchFamily="18" charset="0"/>
                        </a:rPr>
                        <a:t> engagement</a:t>
                      </a:r>
                    </a:p>
                    <a:p>
                      <a:pPr marL="285750" indent="-285750" algn="just">
                        <a:buFont typeface="Arial" panose="020B0604020202020204" pitchFamily="34" charset="0"/>
                        <a:buChar char="•"/>
                      </a:pPr>
                      <a:r>
                        <a:rPr lang="en-US" sz="2000" baseline="0" dirty="0" smtClean="0">
                          <a:latin typeface="Times New Roman" panose="02020603050405020304" pitchFamily="18" charset="0"/>
                          <a:cs typeface="Times New Roman" panose="02020603050405020304" pitchFamily="18" charset="0"/>
                        </a:rPr>
                        <a:t>Follow-up activities should be appropriately documented</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Periodic emails from clients on status of observation</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BOD reports</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GIA charter</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Follow-up engagement</a:t>
                      </a:r>
                    </a:p>
                    <a:p>
                      <a:pPr marL="285750" indent="-28575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Follow-up report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Slide Number Placeholder 2"/>
          <p:cNvSpPr>
            <a:spLocks noGrp="1"/>
          </p:cNvSpPr>
          <p:nvPr>
            <p:ph type="sldNum" sz="quarter" idx="12"/>
          </p:nvPr>
        </p:nvSpPr>
        <p:spPr/>
        <p:txBody>
          <a:bodyPr/>
          <a:lstStyle/>
          <a:p>
            <a:fld id="{6E2F3C12-4A6A-4212-A157-AE121822CE5B}" type="slidenum">
              <a:rPr lang="en-US" smtClean="0"/>
              <a:t>40</a:t>
            </a:fld>
            <a:endParaRPr lang="en-US"/>
          </a:p>
        </p:txBody>
      </p:sp>
      <p:sp>
        <p:nvSpPr>
          <p:cNvPr id="5" name="GTBClassificationH386754279"/>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0974048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dirty="0" smtClean="0"/>
              <a:t>Thank you </a:t>
            </a:r>
            <a:endParaRPr lang="en-US" sz="4000" dirty="0"/>
          </a:p>
        </p:txBody>
      </p:sp>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sz="6000"/>
              <a:t>P</a:t>
            </a:r>
            <a:r>
              <a:rPr lang="en-US" sz="6000" smtClean="0"/>
              <a:t>ack </a:t>
            </a:r>
            <a:r>
              <a:rPr lang="en-US" sz="6000" dirty="0" smtClean="0"/>
              <a:t>up</a:t>
            </a:r>
            <a:endParaRPr lang="en-US" dirty="0"/>
          </a:p>
        </p:txBody>
      </p:sp>
      <p:sp>
        <p:nvSpPr>
          <p:cNvPr id="4" name="Slide Number Placeholder 3"/>
          <p:cNvSpPr>
            <a:spLocks noGrp="1"/>
          </p:cNvSpPr>
          <p:nvPr>
            <p:ph type="sldNum" sz="quarter" idx="12"/>
          </p:nvPr>
        </p:nvSpPr>
        <p:spPr/>
        <p:txBody>
          <a:bodyPr/>
          <a:lstStyle/>
          <a:p>
            <a:fld id="{6E2F3C12-4A6A-4212-A157-AE121822CE5B}" type="slidenum">
              <a:rPr lang="en-US" smtClean="0"/>
              <a:t>41</a:t>
            </a:fld>
            <a:endParaRPr lang="en-US"/>
          </a:p>
        </p:txBody>
      </p:sp>
      <p:sp>
        <p:nvSpPr>
          <p:cNvPr id="5" name="GTBClassificationH1616764053"/>
          <p:cNvSpPr txBox="1"/>
          <p:nvPr/>
        </p:nvSpPr>
        <p:spPr>
          <a:xfrm>
            <a:off x="0" y="0"/>
            <a:ext cx="12192000" cy="295275"/>
          </a:xfrm>
          <a:prstGeom prst="rect">
            <a:avLst/>
          </a:prstGeom>
          <a:solidFill>
            <a:schemeClr val="accent1">
              <a:alpha val="0"/>
            </a:schemeClr>
          </a:solidFill>
        </p:spPr>
        <p:txBody>
          <a:bodyPr vert="horz" wrap="none" rtlCol="0" anchor="t">
            <a:noAutofit/>
          </a:bodyPr>
          <a:lstStyle/>
          <a:p>
            <a:pPr algn="ctr"/>
            <a:r>
              <a:rPr lang="en-US" sz="1000" b="1" smtClean="0">
                <a:solidFill>
                  <a:srgbClr val="000000">
                    <a:alpha val="70000"/>
                  </a:srgbClr>
                </a:solidFill>
                <a:latin typeface="verdana" panose="020B0604030504040204" pitchFamily="34" charset="0"/>
              </a:rPr>
              <a:t>Classification:</a:t>
            </a:r>
            <a:r>
              <a:rPr lang="en-US" sz="1000" smtClean="0">
                <a:solidFill>
                  <a:srgbClr val="000000">
                    <a:alpha val="70000"/>
                  </a:srgbClr>
                </a:solidFill>
                <a:latin typeface="verdana" panose="020B0604030504040204" pitchFamily="34" charset="0"/>
              </a:rPr>
              <a:t> </a:t>
            </a:r>
            <a:r>
              <a:rPr lang="en-US" sz="1000" b="1" smtClean="0">
                <a:solidFill>
                  <a:srgbClr val="FF0000">
                    <a:alpha val="70000"/>
                  </a:srgbClr>
                </a:solidFill>
                <a:latin typeface="verdana" panose="020B0604030504040204" pitchFamily="34" charset="0"/>
              </a:rPr>
              <a:t>RAKBANK-Highly Confidential</a:t>
            </a:r>
            <a:endParaRPr lang="en-US" sz="1000" b="1">
              <a:solidFill>
                <a:srgbClr val="FF0000">
                  <a:alpha val="70000"/>
                </a:srgbClr>
              </a:solidFill>
              <a:latin typeface="verdana" panose="020B0604030504040204" pitchFamily="34" charset="0"/>
            </a:endParaRPr>
          </a:p>
        </p:txBody>
      </p:sp>
    </p:spTree>
    <p:extLst>
      <p:ext uri="{BB962C8B-B14F-4D97-AF65-F5344CB8AC3E}">
        <p14:creationId xmlns:p14="http://schemas.microsoft.com/office/powerpoint/2010/main" val="284512504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XMLData TextToDisplay="RightsWATCHMark">2|RAK-Rakbank All-INTERNAL|{00000000-0000-0000-0000-000000000000}</XMLData>
</file>

<file path=customXml/item2.xml><?xml version="1.0" encoding="utf-8"?>
<XMLData TextToDisplay="%CLASSIFICATIONDATETIME%">18:34 22/10/2018</XMLData>
</file>

<file path=customXml/item3.xml><?xml version="1.0" encoding="utf-8"?>
<XMLData TextToDisplay="%DOCUMENTGUID%">{00000000-0000-0000-0000-000000000000}</XMLData>
</file>

<file path=customXml/item4.xml><?xml version="1.0" encoding="utf-8"?>
<GTBClassification>
  <attrValue xml:space="preserve">RAKBANK-Highly Confidential</attrValue>
  <customPropName>RAKBANK Classification</customPropName>
  <timestamp>1/24/2023 11:08:16 AM</timestamp>
  <userName>WATANI_RAK\akhawaja</userName>
  <computerName>RBLT418.rakbank.co.ae</computerName>
  <guid>{2dbd4434-71da-4a7e-9419-f25379a54eda}</guid>
  <hdr>
    <align>center</align>
    <r>
      <fontName>verdana</fontName>
      <fontColor>000000</fontColor>
      <fontSize>10</fontSize>
      <b/>
      <text xml:space="preserve">Classification:</text>
    </r>
    <r>
      <fontName>verdana</fontName>
      <fontColor>000000</fontColor>
      <fontSize>10</fontSize>
      <text xml:space="preserve"> </text>
    </r>
    <r>
      <fontName>verdana</fontName>
      <fontColor>FF0000</fontColor>
      <fontSize>10</fontSize>
      <b/>
      <text xml:space="preserve">RAKBANK-Highly Confidential</text>
    </r>
  </hdr>
</GTBClassification>
</file>

<file path=customXml/itemProps1.xml><?xml version="1.0" encoding="utf-8"?>
<ds:datastoreItem xmlns:ds="http://schemas.openxmlformats.org/officeDocument/2006/customXml" ds:itemID="{3673CFD9-853F-4701-93EC-2C94DDA8FE2F}">
  <ds:schemaRefs/>
</ds:datastoreItem>
</file>

<file path=customXml/itemProps2.xml><?xml version="1.0" encoding="utf-8"?>
<ds:datastoreItem xmlns:ds="http://schemas.openxmlformats.org/officeDocument/2006/customXml" ds:itemID="{0470676D-F1F9-4E61-AEE8-85F7A18F9BBE}">
  <ds:schemaRefs/>
</ds:datastoreItem>
</file>

<file path=customXml/itemProps3.xml><?xml version="1.0" encoding="utf-8"?>
<ds:datastoreItem xmlns:ds="http://schemas.openxmlformats.org/officeDocument/2006/customXml" ds:itemID="{5042FCB2-7BD2-404A-B275-6C5D68222E6D}">
  <ds:schemaRefs/>
</ds:datastoreItem>
</file>

<file path=customXml/itemProps4.xml><?xml version="1.0" encoding="utf-8"?>
<ds:datastoreItem xmlns:ds="http://schemas.openxmlformats.org/officeDocument/2006/customXml" ds:itemID="{E6658671-4B2E-486A-817C-1FFE2149A4D6}">
  <ds:schemaRefs/>
</ds:datastoreItem>
</file>

<file path=docProps/app.xml><?xml version="1.0" encoding="utf-8"?>
<Properties xmlns="http://schemas.openxmlformats.org/officeDocument/2006/extended-properties" xmlns:vt="http://schemas.openxmlformats.org/officeDocument/2006/docPropsVTypes">
  <Template>Wisp</Template>
  <TotalTime>440</TotalTime>
  <Words>4813</Words>
  <Application>Microsoft Office PowerPoint</Application>
  <PresentationFormat>Widescreen</PresentationFormat>
  <Paragraphs>632</Paragraphs>
  <Slides>41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EYInterstate Light</vt:lpstr>
      <vt:lpstr>Times New Roman</vt:lpstr>
      <vt:lpstr>verdana</vt:lpstr>
      <vt:lpstr>verdana</vt:lpstr>
      <vt:lpstr>1_Default Design</vt:lpstr>
      <vt:lpstr>      INTERNATIONAL PROFESSIONAL PRACTICE FRAMEWORK (IPPF)</vt:lpstr>
      <vt:lpstr>PowerPoint Presentation</vt:lpstr>
      <vt:lpstr>IPPF FRAMEWORK – MANDATORY GUIDANCE</vt:lpstr>
      <vt:lpstr>IPPF FRAMEWORK – MANDATORY GUIDANCE</vt:lpstr>
      <vt:lpstr>IPPF FRAMEWORK – MANDATORY GUIDANCE</vt:lpstr>
      <vt:lpstr>IPPF FRAMEWORK - RECOMMENDED GUIDELINES</vt:lpstr>
      <vt:lpstr>IPPF STANDARDS FOR INTERNAL AUDIT – MANDATORY GUIDELINES</vt:lpstr>
      <vt:lpstr>IPPF - STANDARDS</vt:lpstr>
      <vt:lpstr>1000 - Purpose, Authority and Responsibility</vt:lpstr>
      <vt:lpstr>1100 - Independence and Objectivity</vt:lpstr>
      <vt:lpstr>1100 - Independence and Objectivity (Cont’d)</vt:lpstr>
      <vt:lpstr>1200 - Proficiency and Due Professional Care</vt:lpstr>
      <vt:lpstr>1200 - Proficiency and Due Professional Care (Cont’d)</vt:lpstr>
      <vt:lpstr>1200 - Proficiency and Due Professional Care (Cont’d)</vt:lpstr>
      <vt:lpstr>1300 – Quality Assurance and Improvement </vt:lpstr>
      <vt:lpstr>1300 – Quality Assurance and Improvement (Cont’d)</vt:lpstr>
      <vt:lpstr>1300 – Quality Assurance and Improvement (Cont’d)</vt:lpstr>
      <vt:lpstr>1300 – Quality Assurance and Improvement (Cont’d)</vt:lpstr>
      <vt:lpstr>IPPF - STANDARDS</vt:lpstr>
      <vt:lpstr>2000 – Managing the Internal Audit Activity </vt:lpstr>
      <vt:lpstr>2000 – Managing the Internal Audit Activity (Cont’d)</vt:lpstr>
      <vt:lpstr>2000 – Managing the Internal Audit Activity (Cont’d)</vt:lpstr>
      <vt:lpstr>2000 – Managing the Internal Audit Activity (Cont’d) </vt:lpstr>
      <vt:lpstr>2000 – Managing the Internal Audit Activity (Cont’d)</vt:lpstr>
      <vt:lpstr>2100 – Nature of Work </vt:lpstr>
      <vt:lpstr>2100 – Nature of Work (Cont’d)</vt:lpstr>
      <vt:lpstr>2100 – Nature of Work (Cont’d)</vt:lpstr>
      <vt:lpstr>2100 – Nature of Work (Cont’d) </vt:lpstr>
      <vt:lpstr>2100 – Nature of Work (Cont’d)</vt:lpstr>
      <vt:lpstr>2200 – Engagement Planning </vt:lpstr>
      <vt:lpstr>2200 – Engagement Planning (Cont’d)</vt:lpstr>
      <vt:lpstr>2300 – Performing the Engagement </vt:lpstr>
      <vt:lpstr>2300 – Performing the Engagement (Cont’d)</vt:lpstr>
      <vt:lpstr>2300 – Performing the Engagement (Cont’d) </vt:lpstr>
      <vt:lpstr>2300 – Performing the Engagement </vt:lpstr>
      <vt:lpstr>2400 – Communicating Results </vt:lpstr>
      <vt:lpstr>2400 – Communicating Results (Cont’d) </vt:lpstr>
      <vt:lpstr>2500 – Monitoring Progress </vt:lpstr>
      <vt:lpstr>2500 – Monitoring Progress (Cont’d)</vt:lpstr>
      <vt:lpstr>2500 – Monitoring Progress (Cont’d)</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PROFESSIONAL PRACTICE FRAMEWORK (IPPF)</dc:title>
  <dc:creator>Khawaja Fawwad Ahmad</dc:creator>
  <cp:keywords>ClassificationData:&lt;RAKBANK Classification:RAKBANK-Highly Confidential&gt;</cp:keywords>
  <cp:lastModifiedBy>Khawaja Fawwad Ahmad</cp:lastModifiedBy>
  <cp:revision>79</cp:revision>
  <cp:lastPrinted>2021-05-04T06:24:22Z</cp:lastPrinted>
  <dcterms:created xsi:type="dcterms:W3CDTF">2018-10-22T15:30:56Z</dcterms:created>
  <dcterms:modified xsi:type="dcterms:W3CDTF">2023-01-24T07:13:41Z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2|RAK-Rakbank All-INTERNAL|{00000000-0000-0000-0000-000000000000}</vt:lpwstr>
  </property>
  <property fmtid="{D5CDD505-2E9C-101B-9397-08002B2CF9AE}" pid="3" name="RAKBANK Classification">
    <vt:lpwstr>RAKBANK-Highly Confidential</vt:lpwstr>
  </property>
  <property fmtid="{D5CDD505-2E9C-101B-9397-08002B2CF9AE}" pid="4" name="ClassifiedBy">
    <vt:lpwstr>WATANI_RAK\akhawaja</vt:lpwstr>
  </property>
  <property fmtid="{D5CDD505-2E9C-101B-9397-08002B2CF9AE}" pid="5" name="ClassificationHost">
    <vt:lpwstr>RBLT418.rakbank.co.ae</vt:lpwstr>
  </property>
  <property fmtid="{D5CDD505-2E9C-101B-9397-08002B2CF9AE}" pid="6" name="ClassificationDate">
    <vt:lpwstr>1/24/2023 11:08:16 AM</vt:lpwstr>
  </property>
  <property fmtid="{D5CDD505-2E9C-101B-9397-08002B2CF9AE}" pid="7" name="ClassificationGUID">
    <vt:lpwstr>{2dbd4434-71da-4a7e-9419-f25379a54eda}</vt:lpwstr>
  </property>
</Properties>
</file>
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34" r:id="rId5"/>
    <p:sldMasterId id="2147484144" r:id="rId6"/>
  </p:sldMasterIdLst>
  <p:notesMasterIdLst>
    <p:notesMasterId r:id="rId20"/>
  </p:notesMasterIdLst>
  <p:handoutMasterIdLst>
    <p:handoutMasterId r:id="rId21"/>
  </p:handoutMasterIdLst>
  <p:sldIdLst>
    <p:sldId id="256" r:id="rId7"/>
    <p:sldId id="793" r:id="rId8"/>
    <p:sldId id="788" r:id="rId9"/>
    <p:sldId id="789" r:id="rId10"/>
    <p:sldId id="855" r:id="rId11"/>
    <p:sldId id="856" r:id="rId12"/>
    <p:sldId id="857" r:id="rId13"/>
    <p:sldId id="700" r:id="rId14"/>
    <p:sldId id="840" r:id="rId15"/>
    <p:sldId id="734" r:id="rId16"/>
    <p:sldId id="829" r:id="rId17"/>
    <p:sldId id="772" r:id="rId18"/>
    <p:sldId id="801" r:id="rId19"/>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orient="horz" pos="672" userDrawn="1">
          <p15:clr>
            <a:srgbClr val="A4A3A4"/>
          </p15:clr>
        </p15:guide>
        <p15:guide id="3" orient="horz" pos="1152" userDrawn="1">
          <p15:clr>
            <a:srgbClr val="A4A3A4"/>
          </p15:clr>
        </p15:guide>
        <p15:guide id="4" orient="horz" pos="1638" userDrawn="1">
          <p15:clr>
            <a:srgbClr val="A4A3A4"/>
          </p15:clr>
        </p15:guide>
        <p15:guide id="5" pos="7582" userDrawn="1">
          <p15:clr>
            <a:srgbClr val="A4A3A4"/>
          </p15:clr>
        </p15:guide>
        <p15:guide id="6" pos="192" userDrawn="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4C19F0C-1025-016E-69A2-29B94CC88275}" name="Deepak Kumar" initials="DK" userId="S::deepak.k@rakbank.ae::3eb5e22b-70f4-41ba-9bec-1eb22614ee51" providerId="AD"/>
  <p188:author id="{2902DCF6-50F7-1C34-C966-20DD7EC140EF}" name="Sameer Yusuf Tayeb Chandiwala" initials="SY" userId="S::Sameer.Chandiwala@rakbank.ae::e99563e6-efb0-4985-bb9d-0f28bcccbb5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eil Paul Jarman" initials="NPJ" lastIdx="32" clrIdx="0">
    <p:extLst>
      <p:ext uri="{19B8F6BF-5375-455C-9EA6-DF929625EA0E}">
        <p15:presenceInfo xmlns:p15="http://schemas.microsoft.com/office/powerpoint/2012/main" userId="S-1-5-21-1241872456-1058172877-1847928074-147530" providerId="AD"/>
      </p:ext>
    </p:extLst>
  </p:cmAuthor>
  <p:cmAuthor id="2" name="Deepa Ajit" initials="DA" lastIdx="10" clrIdx="1">
    <p:extLst>
      <p:ext uri="{19B8F6BF-5375-455C-9EA6-DF929625EA0E}">
        <p15:presenceInfo xmlns:p15="http://schemas.microsoft.com/office/powerpoint/2012/main" userId="S-1-5-21-1241872456-1058172877-1847928074-1039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A70A"/>
    <a:srgbClr val="D1C77B"/>
    <a:srgbClr val="FFCC99"/>
    <a:srgbClr val="FFCCCC"/>
    <a:srgbClr val="00CC66"/>
    <a:srgbClr val="FEE3A0"/>
    <a:srgbClr val="FCE4D6"/>
    <a:srgbClr val="ED1D24"/>
    <a:srgbClr val="F5FFEB"/>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82" autoAdjust="0"/>
    <p:restoredTop sz="92827" autoAdjust="0"/>
  </p:normalViewPr>
  <p:slideViewPr>
    <p:cSldViewPr snapToGrid="0">
      <p:cViewPr varScale="1">
        <p:scale>
          <a:sx n="59" d="100"/>
          <a:sy n="59" d="100"/>
        </p:scale>
        <p:origin x="736" y="28"/>
      </p:cViewPr>
      <p:guideLst>
        <p:guide orient="horz" pos="2160"/>
        <p:guide orient="horz" pos="672"/>
        <p:guide orient="horz" pos="1152"/>
        <p:guide orient="horz" pos="1638"/>
        <p:guide pos="7582"/>
        <p:guide pos="192"/>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commentAuthors" Target="commentAuthors.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ideepa\Downloads\audit_findings_distribution.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'Findings Distribution'!$B$1</c:f>
              <c:strCache>
                <c:ptCount val="1"/>
                <c:pt idx="0">
                  <c:v>IT</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'Findings Distribution'!$A$2:$A$8</c:f>
              <c:strCache>
                <c:ptCount val="7"/>
                <c:pt idx="0">
                  <c:v>1. Open risks not addressed in a timely manner [Open from FY22]</c:v>
                </c:pt>
                <c:pt idx="1">
                  <c:v>2. ECL roles and responsibilities</c:v>
                </c:pt>
                <c:pt idx="2">
                  <c:v>3. ECL model recommendations</c:v>
                </c:pt>
                <c:pt idx="3">
                  <c:v>4. Credit Risk Management Standards (CRMS)</c:v>
                </c:pt>
                <c:pt idx="4">
                  <c:v>5. Overall provisioning levels – Post Model Adjustments</c:v>
                </c:pt>
                <c:pt idx="5">
                  <c:v>6. Protego Insurance Brokers L.L.C.</c:v>
                </c:pt>
                <c:pt idx="6">
                  <c:v>7. Financial statement manual preparation</c:v>
                </c:pt>
              </c:strCache>
            </c:strRef>
          </c:cat>
          <c:val>
            <c:numRef>
              <c:f>'Findings Distribution'!$B$2:$B$8</c:f>
              <c:numCache>
                <c:formatCode>General</c:formatCode>
                <c:ptCount val="7"/>
                <c:pt idx="0">
                  <c:v>1</c:v>
                </c:pt>
              </c:numCache>
            </c:numRef>
          </c:val>
          <c:extLst>
            <c:ext xmlns:c16="http://schemas.microsoft.com/office/drawing/2014/chart" uri="{C3380CC4-5D6E-409C-BE32-E72D297353CC}">
              <c16:uniqueId val="{00000000-E1C2-4EED-8AC9-49EA269E2617}"/>
            </c:ext>
          </c:extLst>
        </c:ser>
        <c:ser>
          <c:idx val="1"/>
          <c:order val="1"/>
          <c:tx>
            <c:strRef>
              <c:f>'Findings Distribution'!$C$1</c:f>
              <c:strCache>
                <c:ptCount val="1"/>
                <c:pt idx="0">
                  <c:v>Risk</c:v>
                </c:pt>
              </c:strCache>
            </c:strRef>
          </c:tx>
          <c:spPr>
            <a:solidFill>
              <a:srgbClr val="FFCC99"/>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E1C2-4EED-8AC9-49EA269E2617}"/>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'Findings Distribution'!$A$2:$A$8</c:f>
              <c:strCache>
                <c:ptCount val="7"/>
                <c:pt idx="0">
                  <c:v>1. Open risks not addressed in a timely manner [Open from FY22]</c:v>
                </c:pt>
                <c:pt idx="1">
                  <c:v>2. ECL roles and responsibilities</c:v>
                </c:pt>
                <c:pt idx="2">
                  <c:v>3. ECL model recommendations</c:v>
                </c:pt>
                <c:pt idx="3">
                  <c:v>4. Credit Risk Management Standards (CRMS)</c:v>
                </c:pt>
                <c:pt idx="4">
                  <c:v>5. Overall provisioning levels – Post Model Adjustments</c:v>
                </c:pt>
                <c:pt idx="5">
                  <c:v>6. Protego Insurance Brokers L.L.C.</c:v>
                </c:pt>
                <c:pt idx="6">
                  <c:v>7. Financial statement manual preparation</c:v>
                </c:pt>
              </c:strCache>
            </c:strRef>
          </c:cat>
          <c:val>
            <c:numRef>
              <c:f>'Findings Distribution'!$C$2:$C$8</c:f>
              <c:numCache>
                <c:formatCode>General</c:formatCode>
                <c:ptCount val="7"/>
                <c:pt idx="1">
                  <c:v>1</c:v>
                </c:pt>
                <c:pt idx="2">
                  <c:v>3</c:v>
                </c:pt>
                <c:pt idx="3">
                  <c:v>1</c:v>
                </c:pt>
                <c:pt idx="4">
                  <c:v>1</c:v>
                </c:pt>
              </c:numCache>
            </c:numRef>
          </c:val>
          <c:extLst>
            <c:ext xmlns:c16="http://schemas.microsoft.com/office/drawing/2014/chart" uri="{C3380CC4-5D6E-409C-BE32-E72D297353CC}">
              <c16:uniqueId val="{00000002-E1C2-4EED-8AC9-49EA269E2617}"/>
            </c:ext>
          </c:extLst>
        </c:ser>
        <c:ser>
          <c:idx val="2"/>
          <c:order val="2"/>
          <c:tx>
            <c:strRef>
              <c:f>'Findings Distribution'!$D$1</c:f>
              <c:strCache>
                <c:ptCount val="1"/>
                <c:pt idx="0">
                  <c:v>Finance</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'Findings Distribution'!$A$2:$A$8</c:f>
              <c:strCache>
                <c:ptCount val="7"/>
                <c:pt idx="0">
                  <c:v>1. Open risks not addressed in a timely manner [Open from FY22]</c:v>
                </c:pt>
                <c:pt idx="1">
                  <c:v>2. ECL roles and responsibilities</c:v>
                </c:pt>
                <c:pt idx="2">
                  <c:v>3. ECL model recommendations</c:v>
                </c:pt>
                <c:pt idx="3">
                  <c:v>4. Credit Risk Management Standards (CRMS)</c:v>
                </c:pt>
                <c:pt idx="4">
                  <c:v>5. Overall provisioning levels – Post Model Adjustments</c:v>
                </c:pt>
                <c:pt idx="5">
                  <c:v>6. Protego Insurance Brokers L.L.C.</c:v>
                </c:pt>
                <c:pt idx="6">
                  <c:v>7. Financial statement manual preparation</c:v>
                </c:pt>
              </c:strCache>
            </c:strRef>
          </c:cat>
          <c:val>
            <c:numRef>
              <c:f>'Findings Distribution'!$D$2:$D$8</c:f>
              <c:numCache>
                <c:formatCode>General</c:formatCode>
                <c:ptCount val="7"/>
                <c:pt idx="3">
                  <c:v>1</c:v>
                </c:pt>
                <c:pt idx="4">
                  <c:v>1</c:v>
                </c:pt>
                <c:pt idx="6">
                  <c:v>1</c:v>
                </c:pt>
              </c:numCache>
            </c:numRef>
          </c:val>
          <c:extLst>
            <c:ext xmlns:c16="http://schemas.microsoft.com/office/drawing/2014/chart" uri="{C3380CC4-5D6E-409C-BE32-E72D297353CC}">
              <c16:uniqueId val="{00000003-E1C2-4EED-8AC9-49EA269E2617}"/>
            </c:ext>
          </c:extLst>
        </c:ser>
        <c:ser>
          <c:idx val="3"/>
          <c:order val="3"/>
          <c:tx>
            <c:strRef>
              <c:f>'Findings Distribution'!$E$1</c:f>
              <c:strCache>
                <c:ptCount val="1"/>
                <c:pt idx="0">
                  <c:v>Retail Banking</c:v>
                </c:pt>
              </c:strCache>
            </c:strRef>
          </c:tx>
          <c:spPr>
            <a:solidFill>
              <a:srgbClr val="D1C77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'Findings Distribution'!$A$2:$A$8</c:f>
              <c:strCache>
                <c:ptCount val="7"/>
                <c:pt idx="0">
                  <c:v>1. Open risks not addressed in a timely manner [Open from FY22]</c:v>
                </c:pt>
                <c:pt idx="1">
                  <c:v>2. ECL roles and responsibilities</c:v>
                </c:pt>
                <c:pt idx="2">
                  <c:v>3. ECL model recommendations</c:v>
                </c:pt>
                <c:pt idx="3">
                  <c:v>4. Credit Risk Management Standards (CRMS)</c:v>
                </c:pt>
                <c:pt idx="4">
                  <c:v>5. Overall provisioning levels – Post Model Adjustments</c:v>
                </c:pt>
                <c:pt idx="5">
                  <c:v>6. Protego Insurance Brokers L.L.C.</c:v>
                </c:pt>
                <c:pt idx="6">
                  <c:v>7. Financial statement manual preparation</c:v>
                </c:pt>
              </c:strCache>
            </c:strRef>
          </c:cat>
          <c:val>
            <c:numRef>
              <c:f>'Findings Distribution'!$E$2:$E$8</c:f>
              <c:numCache>
                <c:formatCode>General</c:formatCode>
                <c:ptCount val="7"/>
                <c:pt idx="5">
                  <c:v>2</c:v>
                </c:pt>
              </c:numCache>
            </c:numRef>
          </c:val>
          <c:extLst>
            <c:ext xmlns:c16="http://schemas.microsoft.com/office/drawing/2014/chart" uri="{C3380CC4-5D6E-409C-BE32-E72D297353CC}">
              <c16:uniqueId val="{00000004-E1C2-4EED-8AC9-49EA269E2617}"/>
            </c:ext>
          </c:extLst>
        </c:ser>
        <c:dLbls>
          <c:showLegendKey val="0"/>
          <c:showVal val="0"/>
          <c:showCatName val="0"/>
          <c:showSerName val="0"/>
          <c:showPercent val="0"/>
          <c:showBubbleSize val="0"/>
        </c:dLbls>
        <c:gapWidth val="150"/>
        <c:overlap val="100"/>
        <c:axId val="474877791"/>
        <c:axId val="474884031"/>
      </c:barChart>
      <c:catAx>
        <c:axId val="474877791"/>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crossAx val="474884031"/>
        <c:crosses val="autoZero"/>
        <c:auto val="1"/>
        <c:lblAlgn val="ctr"/>
        <c:lblOffset val="100"/>
        <c:noMultiLvlLbl val="0"/>
      </c:catAx>
      <c:valAx>
        <c:axId val="474884031"/>
        <c:scaling>
          <c:orientation val="minMax"/>
        </c:scaling>
        <c:delete val="1"/>
        <c:axPos val="t"/>
        <c:numFmt formatCode="General" sourceLinked="1"/>
        <c:majorTickMark val="none"/>
        <c:minorTickMark val="none"/>
        <c:tickLblPos val="nextTo"/>
        <c:crossAx val="4748777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70717" cy="480598"/>
          </a:xfrm>
          <a:prstGeom prst="rect">
            <a:avLst/>
          </a:prstGeom>
        </p:spPr>
        <p:txBody>
          <a:bodyPr vert="horz" lIns="92446" tIns="46223" rIns="92446" bIns="46223" rtlCol="0"/>
          <a:lstStyle>
            <a:lvl1pPr algn="l">
              <a:defRPr sz="1200"/>
            </a:lvl1pPr>
          </a:lstStyle>
          <a:p>
            <a:pPr>
              <a:defRPr/>
            </a:pPr>
            <a:endParaRPr lang="en-US"/>
          </a:p>
        </p:txBody>
      </p:sp>
      <p:sp>
        <p:nvSpPr>
          <p:cNvPr id="3" name="Date Placeholder 2"/>
          <p:cNvSpPr>
            <a:spLocks noGrp="1"/>
          </p:cNvSpPr>
          <p:nvPr>
            <p:ph type="dt" sz="quarter" idx="1"/>
          </p:nvPr>
        </p:nvSpPr>
        <p:spPr>
          <a:xfrm>
            <a:off x="4142775" y="3"/>
            <a:ext cx="3170717" cy="480598"/>
          </a:xfrm>
          <a:prstGeom prst="rect">
            <a:avLst/>
          </a:prstGeom>
        </p:spPr>
        <p:txBody>
          <a:bodyPr vert="horz" lIns="92446" tIns="46223" rIns="92446" bIns="46223" rtlCol="0"/>
          <a:lstStyle>
            <a:lvl1pPr algn="r">
              <a:defRPr sz="1200"/>
            </a:lvl1pPr>
          </a:lstStyle>
          <a:p>
            <a:pPr>
              <a:defRPr/>
            </a:pPr>
            <a:fld id="{67E03295-5FEB-4B7C-B313-4B910D1B813B}" type="datetimeFigureOut">
              <a:rPr lang="en-US"/>
              <a:pPr>
                <a:defRPr/>
              </a:pPr>
              <a:t>12/5/2025</a:t>
            </a:fld>
            <a:endParaRPr lang="en-US"/>
          </a:p>
        </p:txBody>
      </p:sp>
      <p:sp>
        <p:nvSpPr>
          <p:cNvPr id="4" name="Footer Placeholder 3"/>
          <p:cNvSpPr>
            <a:spLocks noGrp="1"/>
          </p:cNvSpPr>
          <p:nvPr>
            <p:ph type="ftr" sz="quarter" idx="2"/>
          </p:nvPr>
        </p:nvSpPr>
        <p:spPr>
          <a:xfrm>
            <a:off x="0" y="9119070"/>
            <a:ext cx="3170717" cy="480597"/>
          </a:xfrm>
          <a:prstGeom prst="rect">
            <a:avLst/>
          </a:prstGeom>
        </p:spPr>
        <p:txBody>
          <a:bodyPr vert="horz" lIns="92446" tIns="46223" rIns="92446" bIns="46223"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4142775" y="9119070"/>
            <a:ext cx="3170717" cy="480597"/>
          </a:xfrm>
          <a:prstGeom prst="rect">
            <a:avLst/>
          </a:prstGeom>
        </p:spPr>
        <p:txBody>
          <a:bodyPr vert="horz" lIns="92446" tIns="46223" rIns="92446" bIns="46223" rtlCol="0" anchor="b"/>
          <a:lstStyle>
            <a:lvl1pPr algn="r">
              <a:defRPr sz="1200"/>
            </a:lvl1pPr>
          </a:lstStyle>
          <a:p>
            <a:pPr>
              <a:defRPr/>
            </a:pPr>
            <a:fld id="{CD5C56ED-9D49-4D4F-8462-23CD64C0CBD8}" type="slidenum">
              <a:rPr lang="en-US"/>
              <a:pPr>
                <a:defRPr/>
              </a:pPr>
              <a:t>‹#›</a:t>
            </a:fld>
            <a:endParaRPr lang="en-US"/>
          </a:p>
        </p:txBody>
      </p:sp>
    </p:spTree>
    <p:extLst>
      <p:ext uri="{BB962C8B-B14F-4D97-AF65-F5344CB8AC3E}">
        <p14:creationId xmlns:p14="http://schemas.microsoft.com/office/powerpoint/2010/main" val="2483443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70717" cy="480598"/>
          </a:xfrm>
          <a:prstGeom prst="rect">
            <a:avLst/>
          </a:prstGeom>
        </p:spPr>
        <p:txBody>
          <a:bodyPr vert="horz" lIns="92446" tIns="46223" rIns="92446" bIns="46223" rtlCol="0"/>
          <a:lstStyle>
            <a:lvl1pPr algn="l">
              <a:defRPr sz="1200"/>
            </a:lvl1pPr>
          </a:lstStyle>
          <a:p>
            <a:pPr>
              <a:defRPr/>
            </a:pPr>
            <a:endParaRPr lang="en-US"/>
          </a:p>
        </p:txBody>
      </p:sp>
      <p:sp>
        <p:nvSpPr>
          <p:cNvPr id="3" name="Date Placeholder 2"/>
          <p:cNvSpPr>
            <a:spLocks noGrp="1"/>
          </p:cNvSpPr>
          <p:nvPr>
            <p:ph type="dt" idx="1"/>
          </p:nvPr>
        </p:nvSpPr>
        <p:spPr>
          <a:xfrm>
            <a:off x="4142775" y="3"/>
            <a:ext cx="3170717" cy="480598"/>
          </a:xfrm>
          <a:prstGeom prst="rect">
            <a:avLst/>
          </a:prstGeom>
        </p:spPr>
        <p:txBody>
          <a:bodyPr vert="horz" lIns="92446" tIns="46223" rIns="92446" bIns="46223" rtlCol="0"/>
          <a:lstStyle>
            <a:lvl1pPr algn="r">
              <a:defRPr sz="1200"/>
            </a:lvl1pPr>
          </a:lstStyle>
          <a:p>
            <a:pPr>
              <a:defRPr/>
            </a:pPr>
            <a:fld id="{8F0FC619-C1FE-40BA-9BCA-F29DF6603EDE}" type="datetimeFigureOut">
              <a:rPr lang="en-US"/>
              <a:pPr>
                <a:defRPr/>
              </a:pPr>
              <a:t>12/5/2025</a:t>
            </a:fld>
            <a:endParaRPr lang="en-US"/>
          </a:p>
        </p:txBody>
      </p:sp>
      <p:sp>
        <p:nvSpPr>
          <p:cNvPr id="4" name="Slide Image Placeholder 3"/>
          <p:cNvSpPr>
            <a:spLocks noGrp="1" noRot="1" noChangeAspect="1"/>
          </p:cNvSpPr>
          <p:nvPr>
            <p:ph type="sldImg" idx="2"/>
          </p:nvPr>
        </p:nvSpPr>
        <p:spPr>
          <a:xfrm>
            <a:off x="457200" y="720725"/>
            <a:ext cx="6402388" cy="3600450"/>
          </a:xfrm>
          <a:prstGeom prst="rect">
            <a:avLst/>
          </a:prstGeom>
          <a:noFill/>
          <a:ln w="12700">
            <a:solidFill>
              <a:prstClr val="black"/>
            </a:solidFill>
          </a:ln>
        </p:spPr>
        <p:txBody>
          <a:bodyPr vert="horz" lIns="92446" tIns="46223" rIns="92446" bIns="46223" rtlCol="0" anchor="ctr"/>
          <a:lstStyle/>
          <a:p>
            <a:pPr lvl="0"/>
            <a:endParaRPr lang="en-US" noProof="0"/>
          </a:p>
        </p:txBody>
      </p:sp>
      <p:sp>
        <p:nvSpPr>
          <p:cNvPr id="5" name="Notes Placeholder 4"/>
          <p:cNvSpPr>
            <a:spLocks noGrp="1"/>
          </p:cNvSpPr>
          <p:nvPr>
            <p:ph type="body" sz="quarter" idx="3"/>
          </p:nvPr>
        </p:nvSpPr>
        <p:spPr>
          <a:xfrm>
            <a:off x="732893" y="4561842"/>
            <a:ext cx="5851134" cy="4319234"/>
          </a:xfrm>
          <a:prstGeom prst="rect">
            <a:avLst/>
          </a:prstGeom>
        </p:spPr>
        <p:txBody>
          <a:bodyPr vert="horz" lIns="92446" tIns="46223" rIns="92446" bIns="46223"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070"/>
            <a:ext cx="3170717" cy="480597"/>
          </a:xfrm>
          <a:prstGeom prst="rect">
            <a:avLst/>
          </a:prstGeom>
        </p:spPr>
        <p:txBody>
          <a:bodyPr vert="horz" lIns="92446" tIns="46223" rIns="92446" bIns="46223"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4142775" y="9119070"/>
            <a:ext cx="3170717" cy="480597"/>
          </a:xfrm>
          <a:prstGeom prst="rect">
            <a:avLst/>
          </a:prstGeom>
        </p:spPr>
        <p:txBody>
          <a:bodyPr vert="horz" lIns="92446" tIns="46223" rIns="92446" bIns="46223" rtlCol="0" anchor="b"/>
          <a:lstStyle>
            <a:lvl1pPr algn="r">
              <a:defRPr sz="1200"/>
            </a:lvl1pPr>
          </a:lstStyle>
          <a:p>
            <a:pPr>
              <a:defRPr/>
            </a:pPr>
            <a:fld id="{5BB6A19A-5A46-4852-A445-67FCE3757263}" type="slidenum">
              <a:rPr lang="en-US"/>
              <a:pPr>
                <a:defRPr/>
              </a:pPr>
              <a:t>‹#›</a:t>
            </a:fld>
            <a:endParaRPr lang="en-US"/>
          </a:p>
        </p:txBody>
      </p:sp>
    </p:spTree>
    <p:extLst>
      <p:ext uri="{BB962C8B-B14F-4D97-AF65-F5344CB8AC3E}">
        <p14:creationId xmlns:p14="http://schemas.microsoft.com/office/powerpoint/2010/main" val="34571233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pPr>
              <a:defRPr/>
            </a:pPr>
            <a:fld id="{5BB6A19A-5A46-4852-A445-67FCE3757263}" type="slidenum">
              <a:rPr lang="en-US" smtClean="0"/>
              <a:pPr>
                <a:defRPr/>
              </a:pPr>
              <a:t>8</a:t>
            </a:fld>
            <a:endParaRPr lang="en-US"/>
          </a:p>
        </p:txBody>
      </p:sp>
    </p:spTree>
    <p:extLst>
      <p:ext uri="{BB962C8B-B14F-4D97-AF65-F5344CB8AC3E}">
        <p14:creationId xmlns:p14="http://schemas.microsoft.com/office/powerpoint/2010/main" val="4119963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pPr>
              <a:defRPr/>
            </a:pPr>
            <a:fld id="{5BB6A19A-5A46-4852-A445-67FCE3757263}" type="slidenum">
              <a:rPr lang="en-US" smtClean="0"/>
              <a:pPr>
                <a:defRPr/>
              </a:pPr>
              <a:t>9</a:t>
            </a:fld>
            <a:endParaRPr lang="en-US"/>
          </a:p>
        </p:txBody>
      </p:sp>
    </p:spTree>
    <p:extLst>
      <p:ext uri="{BB962C8B-B14F-4D97-AF65-F5344CB8AC3E}">
        <p14:creationId xmlns:p14="http://schemas.microsoft.com/office/powerpoint/2010/main" val="1663658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B6A19A-5A46-4852-A445-67FCE3757263}" type="slidenum">
              <a:rPr lang="en-US" smtClean="0"/>
              <a:pPr>
                <a:defRPr/>
              </a:pPr>
              <a:t>11</a:t>
            </a:fld>
            <a:endParaRPr lang="en-US"/>
          </a:p>
        </p:txBody>
      </p:sp>
    </p:spTree>
    <p:extLst>
      <p:ext uri="{BB962C8B-B14F-4D97-AF65-F5344CB8AC3E}">
        <p14:creationId xmlns:p14="http://schemas.microsoft.com/office/powerpoint/2010/main" val="104073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B6A19A-5A46-4852-A445-67FCE3757263}" type="slidenum">
              <a:rPr lang="en-US" smtClean="0"/>
              <a:pPr>
                <a:defRPr/>
              </a:pPr>
              <a:t>13</a:t>
            </a:fld>
            <a:endParaRPr lang="en-US"/>
          </a:p>
        </p:txBody>
      </p:sp>
    </p:spTree>
    <p:extLst>
      <p:ext uri="{BB962C8B-B14F-4D97-AF65-F5344CB8AC3E}">
        <p14:creationId xmlns:p14="http://schemas.microsoft.com/office/powerpoint/2010/main" val="36184057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12.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3.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3"/>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4"/>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a:endParaRPr lang="en-GB" sz="1069">
              <a:solidFill>
                <a:srgbClr val="2D2926"/>
              </a:solidFill>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4"/>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3"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5"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6" y="-962476"/>
            <a:ext cx="369901" cy="5915488"/>
          </a:xfrm>
          <a:prstGeom prst="rect">
            <a:avLst/>
          </a:prstGeom>
        </p:spPr>
      </p:pic>
    </p:spTree>
    <p:extLst>
      <p:ext uri="{BB962C8B-B14F-4D97-AF65-F5344CB8AC3E}">
        <p14:creationId xmlns:p14="http://schemas.microsoft.com/office/powerpoint/2010/main" val="3428762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6" y="477840"/>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6" y="1964569"/>
            <a:ext cx="11713633" cy="65091"/>
          </a:xfrm>
          <a:prstGeom prst="rect">
            <a:avLst/>
          </a:prstGeom>
        </p:spPr>
      </p:pic>
      <p:sp>
        <p:nvSpPr>
          <p:cNvPr id="8" name="Text Placeholder 11"/>
          <p:cNvSpPr>
            <a:spLocks noGrp="1"/>
          </p:cNvSpPr>
          <p:nvPr>
            <p:ph type="body" sz="quarter" idx="13" hasCustomPrompt="1"/>
          </p:nvPr>
        </p:nvSpPr>
        <p:spPr>
          <a:xfrm>
            <a:off x="239186"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6"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942995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49"/>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012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32061452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1" userDrawn="1">
          <p15:clr>
            <a:srgbClr val="FBAE40"/>
          </p15:clr>
        </p15:guide>
        <p15:guide id="4" pos="10049"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2772539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1" userDrawn="1">
          <p15:clr>
            <a:srgbClr val="FBAE40"/>
          </p15:clr>
        </p15:guide>
        <p15:guide id="4" pos="10049"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754977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8237581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1" userDrawn="1">
          <p15:clr>
            <a:srgbClr val="FBAE40"/>
          </p15:clr>
        </p15:guide>
        <p15:guide id="5" pos="1004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8" name="Copyright" hidden="1"/>
          <p:cNvSpPr txBox="1"/>
          <p:nvPr/>
        </p:nvSpPr>
        <p:spPr>
          <a:xfrm rot="16200000">
            <a:off x="9486902"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rgbClr val="FFFFFF"/>
                </a:solidFill>
                <a:latin typeface="Calibri"/>
                <a:sym typeface="Trebuchet MS" panose="020B0603020202020204" pitchFamily="34" charset="0"/>
              </a:rPr>
              <a:t>Copyright © 2022 by Boston Consulting Group. All rights reserved.</a:t>
            </a:r>
          </a:p>
        </p:txBody>
      </p:sp>
      <p:sp>
        <p:nvSpPr>
          <p:cNvPr id="14" name="Pentagon 8"/>
          <p:cNvSpPr/>
          <p:nvPr/>
        </p:nvSpPr>
        <p:spPr bwMode="white">
          <a:xfrm>
            <a:off x="0"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1"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algn="r" defTabSz="685800" fontAlgn="auto">
              <a:spcBef>
                <a:spcPts val="0"/>
              </a:spcBef>
              <a:spcAft>
                <a:spcPts val="0"/>
              </a:spcAft>
              <a:defRPr/>
            </a:pPr>
            <a:fld id="{DFCF27A5-1A5B-48D3-A060-2758FFBB1ADD}" type="slidenum">
              <a:rPr lang="en-US" sz="750" smtClean="0">
                <a:solidFill>
                  <a:srgbClr val="FFFFFF"/>
                </a:solidFill>
                <a:latin typeface="Calibri"/>
                <a:sym typeface="Trebuchet MS" panose="020B0603020202020204" pitchFamily="34" charset="0"/>
              </a:rPr>
              <a:pPr algn="r" defTabSz="685800" fontAlgn="auto">
                <a:spcBef>
                  <a:spcPts val="0"/>
                </a:spcBef>
                <a:spcAft>
                  <a:spcPts val="0"/>
                </a:spcAft>
                <a:defRPr/>
              </a:pPr>
              <a:t>‹#›</a:t>
            </a:fld>
            <a:endParaRPr lang="en-US" sz="750">
              <a:solidFill>
                <a:srgbClr val="FFFFFF"/>
              </a:solidFill>
              <a:latin typeface="Calibri"/>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1" y="6445250"/>
            <a:ext cx="1454151" cy="368300"/>
          </a:xfrm>
          <a:prstGeom prst="rect">
            <a:avLst/>
          </a:prstGeom>
        </p:spPr>
      </p:pic>
    </p:spTree>
    <p:extLst>
      <p:ext uri="{BB962C8B-B14F-4D97-AF65-F5344CB8AC3E}">
        <p14:creationId xmlns:p14="http://schemas.microsoft.com/office/powerpoint/2010/main" val="1387786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3"/>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4"/>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a:endParaRPr lang="en-GB" sz="1069">
              <a:solidFill>
                <a:srgbClr val="2D2926"/>
              </a:solidFill>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4"/>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3"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5"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6" y="-962476"/>
            <a:ext cx="369901" cy="5915488"/>
          </a:xfrm>
          <a:prstGeom prst="rect">
            <a:avLst/>
          </a:prstGeom>
        </p:spPr>
      </p:pic>
    </p:spTree>
    <p:extLst>
      <p:ext uri="{BB962C8B-B14F-4D97-AF65-F5344CB8AC3E}">
        <p14:creationId xmlns:p14="http://schemas.microsoft.com/office/powerpoint/2010/main" val="4137129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6" y="477840"/>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6" y="1964569"/>
            <a:ext cx="11713633" cy="65091"/>
          </a:xfrm>
          <a:prstGeom prst="rect">
            <a:avLst/>
          </a:prstGeom>
        </p:spPr>
      </p:pic>
      <p:sp>
        <p:nvSpPr>
          <p:cNvPr id="8" name="Text Placeholder 11"/>
          <p:cNvSpPr>
            <a:spLocks noGrp="1"/>
          </p:cNvSpPr>
          <p:nvPr>
            <p:ph type="body" sz="quarter" idx="13" hasCustomPrompt="1"/>
          </p:nvPr>
        </p:nvSpPr>
        <p:spPr>
          <a:xfrm>
            <a:off x="239186"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6"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455690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49"/>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2545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26070766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1" userDrawn="1">
          <p15:clr>
            <a:srgbClr val="FBAE40"/>
          </p15:clr>
        </p15:guide>
        <p15:guide id="4" pos="10049"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6287930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1" userDrawn="1">
          <p15:clr>
            <a:srgbClr val="FBAE40"/>
          </p15:clr>
        </p15:guide>
        <p15:guide id="4" pos="10049"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23115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0724159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1" userDrawn="1">
          <p15:clr>
            <a:srgbClr val="FBAE40"/>
          </p15:clr>
        </p15:guide>
        <p15:guide id="5" pos="1004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8" name="Copyright" hidden="1"/>
          <p:cNvSpPr txBox="1"/>
          <p:nvPr/>
        </p:nvSpPr>
        <p:spPr>
          <a:xfrm rot="16200000">
            <a:off x="9486902"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rgbClr val="FFFFFF"/>
                </a:solidFill>
                <a:latin typeface="Calibri"/>
                <a:sym typeface="Trebuchet MS" panose="020B0603020202020204" pitchFamily="34" charset="0"/>
              </a:rPr>
              <a:t>Copyright © 2022 by Boston Consulting Group. All rights reserved.</a:t>
            </a:r>
          </a:p>
        </p:txBody>
      </p:sp>
      <p:sp>
        <p:nvSpPr>
          <p:cNvPr id="14" name="Pentagon 8"/>
          <p:cNvSpPr/>
          <p:nvPr/>
        </p:nvSpPr>
        <p:spPr bwMode="white">
          <a:xfrm>
            <a:off x="0"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1"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algn="r" defTabSz="685800" fontAlgn="auto">
              <a:spcBef>
                <a:spcPts val="0"/>
              </a:spcBef>
              <a:spcAft>
                <a:spcPts val="0"/>
              </a:spcAft>
              <a:defRPr/>
            </a:pPr>
            <a:fld id="{DFCF27A5-1A5B-48D3-A060-2758FFBB1ADD}" type="slidenum">
              <a:rPr lang="en-US" sz="750" smtClean="0">
                <a:solidFill>
                  <a:srgbClr val="FFFFFF"/>
                </a:solidFill>
                <a:latin typeface="Calibri"/>
                <a:sym typeface="Trebuchet MS" panose="020B0603020202020204" pitchFamily="34" charset="0"/>
              </a:rPr>
              <a:pPr algn="r" defTabSz="685800" fontAlgn="auto">
                <a:spcBef>
                  <a:spcPts val="0"/>
                </a:spcBef>
                <a:spcAft>
                  <a:spcPts val="0"/>
                </a:spcAft>
                <a:defRPr/>
              </a:pPr>
              <a:t>‹#›</a:t>
            </a:fld>
            <a:endParaRPr lang="en-US" sz="750">
              <a:solidFill>
                <a:srgbClr val="FFFFFF"/>
              </a:solidFill>
              <a:latin typeface="Calibri"/>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1" y="6445250"/>
            <a:ext cx="1454151" cy="368300"/>
          </a:xfrm>
          <a:prstGeom prst="rect">
            <a:avLst/>
          </a:prstGeom>
        </p:spPr>
      </p:pic>
    </p:spTree>
    <p:extLst>
      <p:ext uri="{BB962C8B-B14F-4D97-AF65-F5344CB8AC3E}">
        <p14:creationId xmlns:p14="http://schemas.microsoft.com/office/powerpoint/2010/main" val="5149058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1"/>
            <a:ext cx="8534400" cy="473075"/>
          </a:xfrm>
          <a:prstGeom prst="rect">
            <a:avLst/>
          </a:prstGeom>
        </p:spPr>
        <p:txBody>
          <a:bodyPr/>
          <a:lstStyle/>
          <a:p>
            <a:r>
              <a:rPr lang="en-GB" noProof="0"/>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Rectangle 6"/>
          <p:cNvSpPr>
            <a:spLocks noGrp="1" noChangeArrowheads="1"/>
          </p:cNvSpPr>
          <p:nvPr>
            <p:ph type="sldNum" sz="quarter" idx="4"/>
          </p:nvPr>
        </p:nvSpPr>
        <p:spPr>
          <a:xfrm>
            <a:off x="11582400" y="6631509"/>
            <a:ext cx="609600" cy="226492"/>
          </a:xfrm>
          <a:prstGeom prst="rect">
            <a:avLst/>
          </a:prstGeom>
        </p:spPr>
        <p:txBody>
          <a:bodyPr/>
          <a:lstStyle>
            <a:lvl1pPr algn="ctr">
              <a:defRPr sz="1200" b="1">
                <a:solidFill>
                  <a:schemeClr val="tx1"/>
                </a:solidFill>
                <a:latin typeface="+mj-lt"/>
              </a:defRPr>
            </a:lvl1pPr>
          </a:lstStyle>
          <a:p>
            <a:pPr>
              <a:defRPr/>
            </a:pPr>
            <a:fld id="{6516E9BE-843C-4425-80E4-36155279AD5E}" type="slidenum">
              <a:rPr lang="en-GB" smtClean="0"/>
              <a:pPr>
                <a:defRPr/>
              </a:pPr>
              <a:t>‹#›</a:t>
            </a:fld>
            <a:endParaRPr lang="en-GB"/>
          </a:p>
        </p:txBody>
      </p:sp>
    </p:spTree>
    <p:extLst>
      <p:ext uri="{BB962C8B-B14F-4D97-AF65-F5344CB8AC3E}">
        <p14:creationId xmlns:p14="http://schemas.microsoft.com/office/powerpoint/2010/main" val="24699330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9883701" y="6547156"/>
            <a:ext cx="1616243" cy="152978"/>
          </a:xfrm>
          <a:prstGeom prst="rect">
            <a:avLst/>
          </a:prstGeom>
        </p:spPr>
      </p:pic>
      <p:pic>
        <p:nvPicPr>
          <p:cNvPr id="17" name="bg object 17"/>
          <p:cNvPicPr/>
          <p:nvPr/>
        </p:nvPicPr>
        <p:blipFill>
          <a:blip r:embed="rId3" cstate="print"/>
          <a:stretch>
            <a:fillRect/>
          </a:stretch>
        </p:blipFill>
        <p:spPr>
          <a:xfrm>
            <a:off x="2" y="0"/>
            <a:ext cx="12191999" cy="647462"/>
          </a:xfrm>
          <a:prstGeom prst="rect">
            <a:avLst/>
          </a:prstGeom>
        </p:spPr>
      </p:pic>
      <p:pic>
        <p:nvPicPr>
          <p:cNvPr id="18" name="bg object 18"/>
          <p:cNvPicPr/>
          <p:nvPr/>
        </p:nvPicPr>
        <p:blipFill>
          <a:blip r:embed="rId4" cstate="print"/>
          <a:stretch>
            <a:fillRect/>
          </a:stretch>
        </p:blipFill>
        <p:spPr>
          <a:xfrm>
            <a:off x="2" y="0"/>
            <a:ext cx="3215639" cy="691896"/>
          </a:xfrm>
          <a:prstGeom prst="rect">
            <a:avLst/>
          </a:prstGeom>
        </p:spPr>
      </p:pic>
      <p:pic>
        <p:nvPicPr>
          <p:cNvPr id="19" name="bg object 19"/>
          <p:cNvPicPr/>
          <p:nvPr/>
        </p:nvPicPr>
        <p:blipFill>
          <a:blip r:embed="rId5" cstate="print"/>
          <a:stretch>
            <a:fillRect/>
          </a:stretch>
        </p:blipFill>
        <p:spPr>
          <a:xfrm>
            <a:off x="11905490" y="0"/>
            <a:ext cx="286511" cy="691896"/>
          </a:xfrm>
          <a:prstGeom prst="rect">
            <a:avLst/>
          </a:prstGeom>
        </p:spPr>
      </p:pic>
      <p:pic>
        <p:nvPicPr>
          <p:cNvPr id="20" name="bg object 20"/>
          <p:cNvPicPr/>
          <p:nvPr/>
        </p:nvPicPr>
        <p:blipFill>
          <a:blip r:embed="rId6" cstate="print"/>
          <a:stretch>
            <a:fillRect/>
          </a:stretch>
        </p:blipFill>
        <p:spPr>
          <a:xfrm>
            <a:off x="11567159" y="152400"/>
            <a:ext cx="618744" cy="387096"/>
          </a:xfrm>
          <a:prstGeom prst="rect">
            <a:avLst/>
          </a:prstGeom>
        </p:spPr>
      </p:pic>
      <p:pic>
        <p:nvPicPr>
          <p:cNvPr id="21" name="bg object 21"/>
          <p:cNvPicPr/>
          <p:nvPr/>
        </p:nvPicPr>
        <p:blipFill>
          <a:blip r:embed="rId7" cstate="print"/>
          <a:stretch>
            <a:fillRect/>
          </a:stretch>
        </p:blipFill>
        <p:spPr>
          <a:xfrm>
            <a:off x="11603737" y="115825"/>
            <a:ext cx="530351" cy="448055"/>
          </a:xfrm>
          <a:prstGeom prst="rect">
            <a:avLst/>
          </a:prstGeom>
        </p:spPr>
      </p:pic>
      <p:pic>
        <p:nvPicPr>
          <p:cNvPr id="22" name="bg object 22"/>
          <p:cNvPicPr/>
          <p:nvPr/>
        </p:nvPicPr>
        <p:blipFill>
          <a:blip r:embed="rId8" cstate="print"/>
          <a:stretch>
            <a:fillRect/>
          </a:stretch>
        </p:blipFill>
        <p:spPr>
          <a:xfrm>
            <a:off x="192024" y="655321"/>
            <a:ext cx="11999976" cy="371855"/>
          </a:xfrm>
          <a:prstGeom prst="rect">
            <a:avLst/>
          </a:prstGeom>
        </p:spPr>
      </p:pic>
      <p:pic>
        <p:nvPicPr>
          <p:cNvPr id="23" name="bg object 23"/>
          <p:cNvPicPr/>
          <p:nvPr/>
        </p:nvPicPr>
        <p:blipFill>
          <a:blip r:embed="rId9" cstate="print"/>
          <a:stretch>
            <a:fillRect/>
          </a:stretch>
        </p:blipFill>
        <p:spPr>
          <a:xfrm>
            <a:off x="2" y="2"/>
            <a:ext cx="12191999" cy="6857997"/>
          </a:xfrm>
          <a:prstGeom prst="rect">
            <a:avLst/>
          </a:prstGeom>
        </p:spPr>
      </p:pic>
      <p:sp>
        <p:nvSpPr>
          <p:cNvPr id="24" name="bg object 24"/>
          <p:cNvSpPr/>
          <p:nvPr/>
        </p:nvSpPr>
        <p:spPr>
          <a:xfrm>
            <a:off x="1524" y="1812035"/>
            <a:ext cx="12192000" cy="3237230"/>
          </a:xfrm>
          <a:custGeom>
            <a:avLst/>
            <a:gdLst/>
            <a:ahLst/>
            <a:cxnLst/>
            <a:rect l="l" t="t" r="r" b="b"/>
            <a:pathLst>
              <a:path w="12192000" h="3237229">
                <a:moveTo>
                  <a:pt x="12192000" y="0"/>
                </a:moveTo>
                <a:lnTo>
                  <a:pt x="0" y="0"/>
                </a:lnTo>
                <a:lnTo>
                  <a:pt x="0" y="3236976"/>
                </a:lnTo>
                <a:lnTo>
                  <a:pt x="12192000" y="3236976"/>
                </a:lnTo>
                <a:lnTo>
                  <a:pt x="12192000" y="0"/>
                </a:lnTo>
                <a:close/>
              </a:path>
            </a:pathLst>
          </a:custGeom>
          <a:solidFill>
            <a:srgbClr val="FFFFFF"/>
          </a:solidFill>
        </p:spPr>
        <p:txBody>
          <a:bodyPr wrap="square" lIns="0" tIns="0" rIns="0" bIns="0" rtlCol="0"/>
          <a:lstStyle/>
          <a:p>
            <a:endParaRPr/>
          </a:p>
        </p:txBody>
      </p:sp>
      <p:sp>
        <p:nvSpPr>
          <p:cNvPr id="25" name="bg object 25"/>
          <p:cNvSpPr/>
          <p:nvPr/>
        </p:nvSpPr>
        <p:spPr>
          <a:xfrm>
            <a:off x="1524" y="1812035"/>
            <a:ext cx="12192000" cy="3237230"/>
          </a:xfrm>
          <a:custGeom>
            <a:avLst/>
            <a:gdLst/>
            <a:ahLst/>
            <a:cxnLst/>
            <a:rect l="l" t="t" r="r" b="b"/>
            <a:pathLst>
              <a:path w="12192000" h="3237229">
                <a:moveTo>
                  <a:pt x="0" y="3236976"/>
                </a:moveTo>
                <a:lnTo>
                  <a:pt x="12192000" y="3236976"/>
                </a:lnTo>
                <a:lnTo>
                  <a:pt x="12192000" y="0"/>
                </a:lnTo>
                <a:lnTo>
                  <a:pt x="0" y="0"/>
                </a:lnTo>
                <a:lnTo>
                  <a:pt x="0" y="3236976"/>
                </a:lnTo>
                <a:close/>
              </a:path>
            </a:pathLst>
          </a:custGeom>
          <a:ln w="9524">
            <a:solidFill>
              <a:srgbClr val="FFFFFF"/>
            </a:solidFill>
          </a:ln>
        </p:spPr>
        <p:txBody>
          <a:bodyPr wrap="square" lIns="0" tIns="0" rIns="0" bIns="0" rtlCol="0"/>
          <a:lstStyle/>
          <a:p>
            <a:endParaRPr/>
          </a:p>
        </p:txBody>
      </p:sp>
      <p:sp>
        <p:nvSpPr>
          <p:cNvPr id="26" name="bg object 26"/>
          <p:cNvSpPr/>
          <p:nvPr/>
        </p:nvSpPr>
        <p:spPr>
          <a:xfrm>
            <a:off x="5106925" y="6758941"/>
            <a:ext cx="2923540" cy="100965"/>
          </a:xfrm>
          <a:custGeom>
            <a:avLst/>
            <a:gdLst/>
            <a:ahLst/>
            <a:cxnLst/>
            <a:rect l="l" t="t" r="r" b="b"/>
            <a:pathLst>
              <a:path w="2923540" h="100965">
                <a:moveTo>
                  <a:pt x="2923031" y="0"/>
                </a:moveTo>
                <a:lnTo>
                  <a:pt x="0" y="0"/>
                </a:lnTo>
                <a:lnTo>
                  <a:pt x="0" y="100584"/>
                </a:lnTo>
                <a:lnTo>
                  <a:pt x="2923031" y="100584"/>
                </a:lnTo>
                <a:lnTo>
                  <a:pt x="2923031" y="0"/>
                </a:lnTo>
                <a:close/>
              </a:path>
            </a:pathLst>
          </a:custGeom>
          <a:solidFill>
            <a:srgbClr val="FFFFFF"/>
          </a:solidFill>
        </p:spPr>
        <p:txBody>
          <a:bodyPr wrap="square" lIns="0" tIns="0" rIns="0" bIns="0" rtlCol="0"/>
          <a:lstStyle/>
          <a:p>
            <a:endParaRPr/>
          </a:p>
        </p:txBody>
      </p:sp>
      <p:sp>
        <p:nvSpPr>
          <p:cNvPr id="27" name="bg object 27"/>
          <p:cNvSpPr/>
          <p:nvPr/>
        </p:nvSpPr>
        <p:spPr>
          <a:xfrm>
            <a:off x="5106925" y="6758941"/>
            <a:ext cx="2923540" cy="100965"/>
          </a:xfrm>
          <a:custGeom>
            <a:avLst/>
            <a:gdLst/>
            <a:ahLst/>
            <a:cxnLst/>
            <a:rect l="l" t="t" r="r" b="b"/>
            <a:pathLst>
              <a:path w="2923540" h="100965">
                <a:moveTo>
                  <a:pt x="0" y="100584"/>
                </a:moveTo>
                <a:lnTo>
                  <a:pt x="2923031" y="100584"/>
                </a:lnTo>
                <a:lnTo>
                  <a:pt x="2923031" y="0"/>
                </a:lnTo>
                <a:lnTo>
                  <a:pt x="0" y="0"/>
                </a:lnTo>
                <a:lnTo>
                  <a:pt x="0" y="100584"/>
                </a:lnTo>
                <a:close/>
              </a:path>
            </a:pathLst>
          </a:custGeom>
          <a:ln w="9525">
            <a:solidFill>
              <a:srgbClr val="FFFFFF"/>
            </a:solidFill>
          </a:ln>
        </p:spPr>
        <p:txBody>
          <a:bodyPr wrap="square" lIns="0" tIns="0" rIns="0" bIns="0" rtlCol="0"/>
          <a:lstStyle/>
          <a:p>
            <a:endParaRPr/>
          </a:p>
        </p:txBody>
      </p:sp>
      <p:pic>
        <p:nvPicPr>
          <p:cNvPr id="28" name="bg object 28"/>
          <p:cNvPicPr/>
          <p:nvPr/>
        </p:nvPicPr>
        <p:blipFill>
          <a:blip r:embed="rId10" cstate="print"/>
          <a:stretch>
            <a:fillRect/>
          </a:stretch>
        </p:blipFill>
        <p:spPr>
          <a:xfrm>
            <a:off x="8430768" y="527311"/>
            <a:ext cx="2854667" cy="755896"/>
          </a:xfrm>
          <a:prstGeom prst="rect">
            <a:avLst/>
          </a:prstGeom>
        </p:spPr>
      </p:pic>
      <p:pic>
        <p:nvPicPr>
          <p:cNvPr id="29" name="bg object 29"/>
          <p:cNvPicPr/>
          <p:nvPr/>
        </p:nvPicPr>
        <p:blipFill>
          <a:blip r:embed="rId11" cstate="print"/>
          <a:stretch>
            <a:fillRect/>
          </a:stretch>
        </p:blipFill>
        <p:spPr>
          <a:xfrm>
            <a:off x="6284978" y="1810511"/>
            <a:ext cx="5907023" cy="36880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sz="1200">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757186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 Id="rId1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oleObject" Target="../embeddings/oleObject1.bin"/><Relationship Id="rId18" Type="http://schemas.openxmlformats.org/officeDocument/2006/relationships/image" Target="../media/image5.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ags" Target="../tags/tag11.xml"/><Relationship Id="rId17" Type="http://schemas.openxmlformats.org/officeDocument/2006/relationships/image" Target="../media/image4.png"/><Relationship Id="rId2" Type="http://schemas.openxmlformats.org/officeDocument/2006/relationships/slideLayout" Target="../slideLayouts/slideLayout10.xml"/><Relationship Id="rId16" Type="http://schemas.openxmlformats.org/officeDocument/2006/relationships/image" Target="../media/image3.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heme" Target="../theme/theme2.xml"/><Relationship Id="rId5" Type="http://schemas.openxmlformats.org/officeDocument/2006/relationships/slideLayout" Target="../slideLayouts/slideLayout13.xml"/><Relationship Id="rId15" Type="http://schemas.openxmlformats.org/officeDocument/2006/relationships/image" Target="../media/image2.png"/><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1"/>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3" y="-5159178"/>
            <a:ext cx="369901" cy="12000657"/>
          </a:xfrm>
          <a:prstGeom prst="rect">
            <a:avLst/>
          </a:prstGeom>
        </p:spPr>
      </p:pic>
      <p:sp>
        <p:nvSpPr>
          <p:cNvPr id="4" name="TextBox 3">
            <a:extLst>
              <a:ext uri="{FF2B5EF4-FFF2-40B4-BE49-F238E27FC236}">
                <a16:creationId xmlns:a16="http://schemas.microsoft.com/office/drawing/2014/main" id="{EBAACF2C-3CC3-342D-01EE-AFE380688425}"/>
              </a:ext>
            </a:extLst>
          </p:cNvPr>
          <p:cNvSpPr txBox="1"/>
          <p:nvPr userDrawn="1">
            <p:extLst>
              <p:ext uri="{1162E1C5-73C7-4A58-AE30-91384D911F3F}">
                <p184:classification xmlns:p184="http://schemas.microsoft.com/office/powerpoint/2018/4/main" val="hdr"/>
              </p:ext>
            </p:extLst>
          </p:nvPr>
        </p:nvSpPr>
        <p:spPr>
          <a:xfrm>
            <a:off x="63500" y="63500"/>
            <a:ext cx="2051050" cy="182880"/>
          </a:xfrm>
          <a:prstGeom prst="rect">
            <a:avLst/>
          </a:prstGeom>
        </p:spPr>
        <p:txBody>
          <a:bodyPr horzOverflow="overflow" lIns="0" tIns="0" rIns="0" bIns="0">
            <a:spAutoFit/>
          </a:bodyPr>
          <a:lstStyle/>
          <a:p>
            <a:pPr algn="l"/>
            <a:r>
              <a:rPr lang="en-US" sz="1200">
                <a:solidFill>
                  <a:srgbClr val="FF0000"/>
                </a:solidFill>
                <a:latin typeface="Calibri" panose="020F0502020204030204" pitchFamily="34" charset="0"/>
                <a:cs typeface="Calibri" panose="020F0502020204030204" pitchFamily="34" charset="0"/>
              </a:rPr>
              <a:t>Classification: RAKBANK-Internal</a:t>
            </a:r>
          </a:p>
        </p:txBody>
      </p:sp>
    </p:spTree>
    <p:extLst>
      <p:ext uri="{BB962C8B-B14F-4D97-AF65-F5344CB8AC3E}">
        <p14:creationId xmlns:p14="http://schemas.microsoft.com/office/powerpoint/2010/main" val="638969539"/>
      </p:ext>
    </p:extLst>
  </p:cSld>
  <p:clrMap bg1="lt1" tx1="dk1" bg2="lt2" tx2="dk2" accent1="accent1" accent2="accent2" accent3="accent3" accent4="accent4" accent5="accent5" accent6="accent6" hlink="hlink" folHlink="folHlink"/>
  <p:sldLayoutIdLst>
    <p:sldLayoutId id="2147484135" r:id="rId1"/>
    <p:sldLayoutId id="2147484136" r:id="rId2"/>
    <p:sldLayoutId id="2147484137" r:id="rId3"/>
    <p:sldLayoutId id="2147484138" r:id="rId4"/>
    <p:sldLayoutId id="2147484139" r:id="rId5"/>
    <p:sldLayoutId id="2147484140" r:id="rId6"/>
    <p:sldLayoutId id="2147484141" r:id="rId7"/>
    <p:sldLayoutId id="2147484142" r:id="rId8"/>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3" imgW="430" imgH="433" progId="TCLayout.ActiveDocument.1">
                  <p:embed/>
                </p:oleObj>
              </mc:Choice>
              <mc:Fallback>
                <p:oleObj name="think-cell Slide" r:id="rId13" imgW="430" imgH="433" progId="TCLayout.ActiveDocument.1">
                  <p:embed/>
                  <p:pic>
                    <p:nvPicPr>
                      <p:cNvPr id="2" name="Object 1" hidden="1"/>
                      <p:cNvPicPr/>
                      <p:nvPr/>
                    </p:nvPicPr>
                    <p:blipFill>
                      <a:blip r:embed="rId14"/>
                      <a:stretch>
                        <a:fillRect/>
                      </a:stretch>
                    </p:blipFill>
                    <p:spPr>
                      <a:xfrm>
                        <a:off x="2119" y="1591"/>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7">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8">
            <a:extLst>
              <a:ext uri="{28A0092B-C50C-407E-A947-70E740481C1C}">
                <a14:useLocalDpi xmlns:a14="http://schemas.microsoft.com/office/drawing/2010/main" val="0"/>
              </a:ext>
            </a:extLst>
          </a:blip>
          <a:srcRect l="37353" t="8741" r="101" b="27"/>
          <a:stretch/>
        </p:blipFill>
        <p:spPr bwMode="ltGray">
          <a:xfrm rot="16200000" flipH="1">
            <a:off x="6006723" y="-5159178"/>
            <a:ext cx="369901" cy="12000657"/>
          </a:xfrm>
          <a:prstGeom prst="rect">
            <a:avLst/>
          </a:prstGeom>
        </p:spPr>
      </p:pic>
      <p:sp>
        <p:nvSpPr>
          <p:cNvPr id="4" name="TextBox 3">
            <a:extLst>
              <a:ext uri="{FF2B5EF4-FFF2-40B4-BE49-F238E27FC236}">
                <a16:creationId xmlns:a16="http://schemas.microsoft.com/office/drawing/2014/main" id="{A560F66A-E67D-15A6-253F-8F575C1B9F9C}"/>
              </a:ext>
            </a:extLst>
          </p:cNvPr>
          <p:cNvSpPr txBox="1"/>
          <p:nvPr userDrawn="1">
            <p:extLst>
              <p:ext uri="{1162E1C5-73C7-4A58-AE30-91384D911F3F}">
                <p184:classification xmlns:p184="http://schemas.microsoft.com/office/powerpoint/2018/4/main" val="hdr"/>
              </p:ext>
            </p:extLst>
          </p:nvPr>
        </p:nvSpPr>
        <p:spPr>
          <a:xfrm>
            <a:off x="63500" y="63500"/>
            <a:ext cx="2051050" cy="182880"/>
          </a:xfrm>
          <a:prstGeom prst="rect">
            <a:avLst/>
          </a:prstGeom>
        </p:spPr>
        <p:txBody>
          <a:bodyPr horzOverflow="overflow" lIns="0" tIns="0" rIns="0" bIns="0">
            <a:spAutoFit/>
          </a:bodyPr>
          <a:lstStyle/>
          <a:p>
            <a:pPr algn="l"/>
            <a:r>
              <a:rPr lang="en-US" sz="1200">
                <a:solidFill>
                  <a:srgbClr val="FF0000"/>
                </a:solidFill>
                <a:latin typeface="Calibri" panose="020F0502020204030204" pitchFamily="34" charset="0"/>
                <a:cs typeface="Calibri" panose="020F0502020204030204" pitchFamily="34" charset="0"/>
              </a:rPr>
              <a:t>Classification: RAKBANK-Internal</a:t>
            </a:r>
          </a:p>
        </p:txBody>
      </p:sp>
    </p:spTree>
    <p:extLst>
      <p:ext uri="{BB962C8B-B14F-4D97-AF65-F5344CB8AC3E}">
        <p14:creationId xmlns:p14="http://schemas.microsoft.com/office/powerpoint/2010/main" val="2828143574"/>
      </p:ext>
    </p:extLst>
  </p:cSld>
  <p:clrMap bg1="lt1" tx1="dk1" bg2="lt2" tx2="dk2" accent1="accent1" accent2="accent2" accent3="accent3" accent4="accent4" accent5="accent5" accent6="accent6" hlink="hlink" folHlink="folHlink"/>
  <p:sldLayoutIdLst>
    <p:sldLayoutId id="2147484145" r:id="rId1"/>
    <p:sldLayoutId id="2147484146" r:id="rId2"/>
    <p:sldLayoutId id="2147484147" r:id="rId3"/>
    <p:sldLayoutId id="2147484148" r:id="rId4"/>
    <p:sldLayoutId id="2147484149" r:id="rId5"/>
    <p:sldLayoutId id="2147484150" r:id="rId6"/>
    <p:sldLayoutId id="2147484151" r:id="rId7"/>
    <p:sldLayoutId id="2147484152" r:id="rId8"/>
    <p:sldLayoutId id="2147484153" r:id="rId9"/>
    <p:sldLayoutId id="2147484154" r:id="rId10"/>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2667000"/>
            <a:ext cx="5919902" cy="952985"/>
          </a:xfrm>
          <a:prstGeom prst="rect">
            <a:avLst/>
          </a:prstGeom>
        </p:spPr>
        <p:txBody>
          <a:bodyPr vert="horz" wrap="square" lIns="0" tIns="9049" rIns="0" bIns="0" rtlCol="0">
            <a:spAutoFit/>
          </a:bodyPr>
          <a:lstStyle/>
          <a:p>
            <a:pPr marL="9525">
              <a:spcBef>
                <a:spcPts val="71"/>
              </a:spcBef>
              <a:defRPr/>
            </a:pPr>
            <a:r>
              <a:rPr lang="en-US" sz="2000" b="1" dirty="0">
                <a:solidFill>
                  <a:srgbClr val="2C2925"/>
                </a:solidFill>
                <a:latin typeface="Verdana" panose="020B0604030504040204" pitchFamily="34" charset="0"/>
                <a:ea typeface="Verdana" panose="020B0604030504040204" pitchFamily="34" charset="0"/>
                <a:cs typeface="Arial"/>
              </a:rPr>
              <a:t>Management Actions Update</a:t>
            </a:r>
          </a:p>
          <a:p>
            <a:pPr marL="9525">
              <a:spcBef>
                <a:spcPts val="71"/>
              </a:spcBef>
              <a:defRPr/>
            </a:pPr>
            <a:endParaRPr sz="2000" dirty="0">
              <a:solidFill>
                <a:srgbClr val="2D2926"/>
              </a:solidFill>
              <a:latin typeface="Verdana" panose="020B0604030504040204" pitchFamily="34" charset="0"/>
              <a:ea typeface="Verdana" panose="020B0604030504040204" pitchFamily="34" charset="0"/>
              <a:cs typeface="Arial"/>
            </a:endParaRPr>
          </a:p>
          <a:p>
            <a:pPr marL="9525">
              <a:spcBef>
                <a:spcPts val="4"/>
              </a:spcBef>
              <a:defRPr/>
            </a:pPr>
            <a:r>
              <a:rPr sz="2000" b="1" dirty="0">
                <a:solidFill>
                  <a:srgbClr val="2C2925"/>
                </a:solidFill>
                <a:latin typeface="Verdana" panose="020B0604030504040204" pitchFamily="34" charset="0"/>
                <a:ea typeface="Verdana" panose="020B0604030504040204" pitchFamily="34" charset="0"/>
                <a:cs typeface="Arial"/>
              </a:rPr>
              <a:t>Board</a:t>
            </a:r>
            <a:r>
              <a:rPr sz="2000" b="1" spc="-56" dirty="0">
                <a:solidFill>
                  <a:srgbClr val="2C2925"/>
                </a:solidFill>
                <a:latin typeface="Verdana" panose="020B0604030504040204" pitchFamily="34" charset="0"/>
                <a:ea typeface="Verdana" panose="020B0604030504040204" pitchFamily="34" charset="0"/>
                <a:cs typeface="Arial"/>
              </a:rPr>
              <a:t> </a:t>
            </a:r>
            <a:r>
              <a:rPr sz="2000" b="1" dirty="0">
                <a:solidFill>
                  <a:srgbClr val="2C2925"/>
                </a:solidFill>
                <a:latin typeface="Verdana" panose="020B0604030504040204" pitchFamily="34" charset="0"/>
                <a:ea typeface="Verdana" panose="020B0604030504040204" pitchFamily="34" charset="0"/>
                <a:cs typeface="Arial"/>
              </a:rPr>
              <a:t>Audit</a:t>
            </a:r>
            <a:r>
              <a:rPr sz="2000" b="1" spc="-26" dirty="0">
                <a:solidFill>
                  <a:srgbClr val="2C2925"/>
                </a:solidFill>
                <a:latin typeface="Verdana" panose="020B0604030504040204" pitchFamily="34" charset="0"/>
                <a:ea typeface="Verdana" panose="020B0604030504040204" pitchFamily="34" charset="0"/>
                <a:cs typeface="Arial"/>
              </a:rPr>
              <a:t> </a:t>
            </a:r>
            <a:r>
              <a:rPr sz="2000" b="1" spc="-8" dirty="0">
                <a:solidFill>
                  <a:srgbClr val="2C2925"/>
                </a:solidFill>
                <a:latin typeface="Verdana" panose="020B0604030504040204" pitchFamily="34" charset="0"/>
                <a:ea typeface="Verdana" panose="020B0604030504040204" pitchFamily="34" charset="0"/>
                <a:cs typeface="Arial"/>
              </a:rPr>
              <a:t>Committee</a:t>
            </a:r>
            <a:endParaRPr sz="2000" dirty="0">
              <a:solidFill>
                <a:srgbClr val="2D2926"/>
              </a:solidFill>
              <a:latin typeface="Verdana" panose="020B0604030504040204" pitchFamily="34" charset="0"/>
              <a:ea typeface="Verdana" panose="020B0604030504040204" pitchFamily="34" charset="0"/>
              <a:cs typeface="Arial"/>
            </a:endParaRPr>
          </a:p>
        </p:txBody>
      </p:sp>
      <p:sp>
        <p:nvSpPr>
          <p:cNvPr id="6" name="object 3">
            <a:extLst>
              <a:ext uri="{FF2B5EF4-FFF2-40B4-BE49-F238E27FC236}">
                <a16:creationId xmlns:a16="http://schemas.microsoft.com/office/drawing/2014/main" id="{5434E3EF-C2C9-962A-53CD-6195012B2903}"/>
              </a:ext>
            </a:extLst>
          </p:cNvPr>
          <p:cNvSpPr txBox="1"/>
          <p:nvPr/>
        </p:nvSpPr>
        <p:spPr>
          <a:xfrm>
            <a:off x="381000" y="3962400"/>
            <a:ext cx="2024409" cy="182101"/>
          </a:xfrm>
          <a:prstGeom prst="rect">
            <a:avLst/>
          </a:prstGeom>
        </p:spPr>
        <p:txBody>
          <a:bodyPr vert="horz" wrap="square" lIns="0" tIns="12700" rIns="0" bIns="0" rtlCol="0">
            <a:spAutoFit/>
          </a:bodyPr>
          <a:lstStyle/>
          <a:p>
            <a:pPr marL="38100">
              <a:spcBef>
                <a:spcPts val="100"/>
              </a:spcBef>
              <a:defRPr/>
            </a:pPr>
            <a:r>
              <a:rPr sz="1100" b="1" dirty="0">
                <a:solidFill>
                  <a:srgbClr val="2C2925"/>
                </a:solidFill>
                <a:latin typeface="Verdana" panose="020B0604030504040204" pitchFamily="34" charset="0"/>
                <a:ea typeface="Verdana" panose="020B0604030504040204" pitchFamily="34" charset="0"/>
                <a:cs typeface="Arial"/>
              </a:rPr>
              <a:t>Date:</a:t>
            </a:r>
            <a:r>
              <a:rPr sz="1100" b="1" spc="-35" dirty="0">
                <a:solidFill>
                  <a:srgbClr val="2C2925"/>
                </a:solidFill>
                <a:latin typeface="Verdana" panose="020B0604030504040204" pitchFamily="34" charset="0"/>
                <a:ea typeface="Verdana" panose="020B0604030504040204" pitchFamily="34" charset="0"/>
                <a:cs typeface="Arial"/>
              </a:rPr>
              <a:t> </a:t>
            </a:r>
            <a:r>
              <a:rPr lang="en-US" sz="1100" b="1" dirty="0">
                <a:solidFill>
                  <a:srgbClr val="2C2925"/>
                </a:solidFill>
                <a:latin typeface="Verdana" panose="020B0604030504040204" pitchFamily="34" charset="0"/>
                <a:ea typeface="Verdana" panose="020B0604030504040204" pitchFamily="34" charset="0"/>
                <a:cs typeface="Arial"/>
              </a:rPr>
              <a:t>11 December 2025</a:t>
            </a:r>
            <a:endParaRPr sz="1100" dirty="0">
              <a:solidFill>
                <a:srgbClr val="2D2926"/>
              </a:solidFill>
              <a:latin typeface="Verdana" panose="020B0604030504040204" pitchFamily="34" charset="0"/>
              <a:ea typeface="Verdana" panose="020B0604030504040204" pitchFamily="34" charset="0"/>
              <a:cs typeface="Arial"/>
            </a:endParaRPr>
          </a:p>
        </p:txBody>
      </p:sp>
      <p:sp>
        <p:nvSpPr>
          <p:cNvPr id="3" name="Slide Number Placeholder 2">
            <a:extLst>
              <a:ext uri="{FF2B5EF4-FFF2-40B4-BE49-F238E27FC236}">
                <a16:creationId xmlns:a16="http://schemas.microsoft.com/office/drawing/2014/main" id="{58FED1EC-C529-2CE0-FB11-6ECF4638CE12}"/>
              </a:ext>
            </a:extLst>
          </p:cNvPr>
          <p:cNvSpPr>
            <a:spLocks noGrp="1"/>
          </p:cNvSpPr>
          <p:nvPr>
            <p:ph type="sldNum" sz="quarter" idx="7"/>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fr-FR" sz="2000" dirty="0">
                <a:latin typeface="Verdana" panose="020B0604030504040204" pitchFamily="34" charset="0"/>
                <a:ea typeface="Verdana" panose="020B0604030504040204" pitchFamily="34" charset="0"/>
                <a:cs typeface="Verdana" panose="020B0604030504040204" pitchFamily="34" charset="0"/>
              </a:rPr>
              <a:t>2024 PwC Management </a:t>
            </a:r>
            <a:r>
              <a:rPr lang="fr-FR" sz="2000" dirty="0" err="1">
                <a:latin typeface="Verdana" panose="020B0604030504040204" pitchFamily="34" charset="0"/>
                <a:ea typeface="Verdana" panose="020B0604030504040204" pitchFamily="34" charset="0"/>
                <a:cs typeface="Verdana" panose="020B0604030504040204" pitchFamily="34" charset="0"/>
              </a:rPr>
              <a:t>Letter</a:t>
            </a:r>
            <a:br>
              <a:rPr lang="fr-FR" sz="2000" dirty="0">
                <a:latin typeface="Verdana" panose="020B0604030504040204" pitchFamily="34" charset="0"/>
                <a:ea typeface="Verdana" panose="020B0604030504040204" pitchFamily="34" charset="0"/>
                <a:cs typeface="Verdana" panose="020B0604030504040204" pitchFamily="34" charset="0"/>
              </a:rPr>
            </a:br>
            <a:r>
              <a:rPr lang="fr-FR" sz="2000" dirty="0">
                <a:latin typeface="Verdana" panose="020B0604030504040204" pitchFamily="34" charset="0"/>
                <a:ea typeface="Verdana" panose="020B0604030504040204" pitchFamily="34" charset="0"/>
                <a:cs typeface="Verdana" panose="020B0604030504040204" pitchFamily="34" charset="0"/>
              </a:rPr>
              <a:t>Management Actions Update</a:t>
            </a:r>
            <a:endParaRPr lang="en-US" sz="2000" b="0" dirty="0">
              <a:latin typeface="Verdana" panose="020B0604030504040204" pitchFamily="34" charset="0"/>
              <a:ea typeface="Verdana" panose="020B0604030504040204" pitchFamily="34" charset="0"/>
              <a:cs typeface="Verdana" panose="020B0604030504040204" pitchFamily="34" charset="0"/>
            </a:endParaRPr>
          </a:p>
        </p:txBody>
      </p:sp>
      <p:sp>
        <p:nvSpPr>
          <p:cNvPr id="3" name="Slide Number Placeholder 2">
            <a:extLst>
              <a:ext uri="{FF2B5EF4-FFF2-40B4-BE49-F238E27FC236}">
                <a16:creationId xmlns:a16="http://schemas.microsoft.com/office/drawing/2014/main" id="{D757D5F4-68BC-918B-130A-79D04D995009}"/>
              </a:ext>
            </a:extLst>
          </p:cNvPr>
          <p:cNvSpPr>
            <a:spLocks noGrp="1"/>
          </p:cNvSpPr>
          <p:nvPr>
            <p:ph type="sldNum" sz="quarter" idx="12"/>
          </p:nvPr>
        </p:nvSpPr>
        <p:spPr/>
        <p:txBody>
          <a:bodyPr/>
          <a:lstStyle/>
          <a:p>
            <a:fld id="{B3CE4FC1-9BFD-4D71-B62C-EB069A42157A}" type="slidenum">
              <a:rPr lang="en-US" smtClean="0">
                <a:solidFill>
                  <a:srgbClr val="FFFFFF"/>
                </a:solidFill>
              </a:rPr>
              <a:pPr/>
              <a:t>2</a:t>
            </a:fld>
            <a:endParaRPr lang="en-US">
              <a:solidFill>
                <a:srgbClr val="FFFFFF"/>
              </a:solidFill>
            </a:endParaRPr>
          </a:p>
        </p:txBody>
      </p:sp>
    </p:spTree>
    <p:extLst>
      <p:ext uri="{BB962C8B-B14F-4D97-AF65-F5344CB8AC3E}">
        <p14:creationId xmlns:p14="http://schemas.microsoft.com/office/powerpoint/2010/main" val="138444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0FC243F-F8EC-B5A8-2C9E-02B28A21E855}"/>
              </a:ext>
            </a:extLst>
          </p:cNvPr>
          <p:cNvCxnSpPr/>
          <p:nvPr/>
        </p:nvCxnSpPr>
        <p:spPr bwMode="auto">
          <a:xfrm>
            <a:off x="1196975" y="1205081"/>
            <a:ext cx="8099425"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le 1"/>
          <p:cNvSpPr>
            <a:spLocks noGrp="1"/>
          </p:cNvSpPr>
          <p:nvPr>
            <p:ph type="title"/>
          </p:nvPr>
        </p:nvSpPr>
        <p:spPr>
          <a:xfrm>
            <a:off x="0" y="1"/>
            <a:ext cx="12192000" cy="625476"/>
          </a:xfrm>
        </p:spPr>
        <p:txBody>
          <a:bodyPr anchor="ctr"/>
          <a:lstStyle/>
          <a:p>
            <a:r>
              <a:rPr lang="en-US" sz="2000" b="1" dirty="0">
                <a:latin typeface="Verdana" panose="020B0604030504040204" pitchFamily="34" charset="0"/>
                <a:ea typeface="Verdana" panose="020B0604030504040204" pitchFamily="34" charset="0"/>
              </a:rPr>
              <a:t>    </a:t>
            </a:r>
            <a:r>
              <a:rPr lang="en-US" sz="2000" dirty="0">
                <a:latin typeface="Verdana" panose="020B0604030504040204" pitchFamily="34" charset="0"/>
                <a:ea typeface="Verdana" panose="020B0604030504040204" pitchFamily="34" charset="0"/>
              </a:rPr>
              <a:t>Status of External Assurance Providers (PWC Management Letter) - 2024</a:t>
            </a:r>
          </a:p>
        </p:txBody>
      </p:sp>
      <p:sp>
        <p:nvSpPr>
          <p:cNvPr id="4" name="Slide Number Placeholder 3"/>
          <p:cNvSpPr>
            <a:spLocks noGrp="1"/>
          </p:cNvSpPr>
          <p:nvPr>
            <p:ph type="sldNum" sz="quarter" idx="4"/>
          </p:nvPr>
        </p:nvSpPr>
        <p:spPr/>
        <p:txBody>
          <a:bodyPr/>
          <a:lstStyle/>
          <a:p>
            <a:pPr>
              <a:defRPr/>
            </a:pPr>
            <a:fld id="{6516E9BE-843C-4425-80E4-36155279AD5E}" type="slidenum">
              <a:rPr lang="en-GB">
                <a:latin typeface="Calibri"/>
              </a:rPr>
              <a:pPr>
                <a:defRPr/>
              </a:pPr>
              <a:t>3</a:t>
            </a:fld>
            <a:endParaRPr lang="en-GB">
              <a:latin typeface="Calibri"/>
            </a:endParaRPr>
          </a:p>
        </p:txBody>
      </p:sp>
      <p:sp>
        <p:nvSpPr>
          <p:cNvPr id="3" name="TextBox 2">
            <a:extLst>
              <a:ext uri="{FF2B5EF4-FFF2-40B4-BE49-F238E27FC236}">
                <a16:creationId xmlns:a16="http://schemas.microsoft.com/office/drawing/2014/main" id="{8B46EF0D-C0C5-8473-1C71-64FF7357D348}"/>
              </a:ext>
            </a:extLst>
          </p:cNvPr>
          <p:cNvSpPr txBox="1"/>
          <p:nvPr/>
        </p:nvSpPr>
        <p:spPr>
          <a:xfrm>
            <a:off x="520700" y="5213881"/>
            <a:ext cx="11150600" cy="1169551"/>
          </a:xfrm>
          <a:prstGeom prst="rect">
            <a:avLst/>
          </a:prstGeom>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rPr>
              <a:t>PwC Management Letter – Follow-Up Summary</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800" dirty="0">
              <a:solidFill>
                <a:srgbClr val="2D2926"/>
              </a:solidFill>
              <a:latin typeface="Verdana" panose="020B0604030504040204" pitchFamily="34" charset="0"/>
              <a:ea typeface="Verdana" panose="020B0604030504040204" pitchFamily="34" charset="0"/>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US" sz="10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rPr>
              <a:t>Management has been requested to provide the latest status updates on 7 open action items presented on the following slides. </a:t>
            </a: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US" sz="10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US" sz="10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rPr>
              <a:t>Closed items will be subject to validation by Deloitte as part of their year-end audit procedures. </a:t>
            </a: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US" sz="10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US" sz="10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rPr>
              <a:t>GIA continues to track progress and will report closure once external confirmation is received.</a:t>
            </a:r>
          </a:p>
        </p:txBody>
      </p:sp>
      <p:graphicFrame>
        <p:nvGraphicFramePr>
          <p:cNvPr id="7" name="Chart 6">
            <a:extLst>
              <a:ext uri="{FF2B5EF4-FFF2-40B4-BE49-F238E27FC236}">
                <a16:creationId xmlns:a16="http://schemas.microsoft.com/office/drawing/2014/main" id="{3D5FB1AC-411B-F7A5-A4B4-B335D17AAA66}"/>
              </a:ext>
            </a:extLst>
          </p:cNvPr>
          <p:cNvGraphicFramePr>
            <a:graphicFrameLocks/>
          </p:cNvGraphicFramePr>
          <p:nvPr/>
        </p:nvGraphicFramePr>
        <p:xfrm>
          <a:off x="1358900" y="1126989"/>
          <a:ext cx="8645127" cy="416311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1">
            <a:extLst>
              <a:ext uri="{FF2B5EF4-FFF2-40B4-BE49-F238E27FC236}">
                <a16:creationId xmlns:a16="http://schemas.microsoft.com/office/drawing/2014/main" id="{1C403193-A6D5-B3DB-DB51-BDC7C73233A9}"/>
              </a:ext>
            </a:extLst>
          </p:cNvPr>
          <p:cNvSpPr txBox="1"/>
          <p:nvPr/>
        </p:nvSpPr>
        <p:spPr>
          <a:xfrm>
            <a:off x="5365694" y="872060"/>
            <a:ext cx="772969" cy="276999"/>
          </a:xfrm>
          <a:prstGeom prst="rect">
            <a:avLst/>
          </a:prstGeom>
          <a:solidFill>
            <a:schemeClr val="accent1">
              <a:lumMod val="50000"/>
            </a:schemeClr>
          </a:solidFill>
        </p:spPr>
        <p:txBody>
          <a:bodyPr wrap="none"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200" b="1" u="sng" dirty="0">
                <a:solidFill>
                  <a:schemeClr val="bg1"/>
                </a:solidFill>
                <a:latin typeface="Calibri" panose="020F0502020204030204" pitchFamily="34" charset="0"/>
              </a:rPr>
              <a:t># Actions</a:t>
            </a:r>
          </a:p>
        </p:txBody>
      </p:sp>
      <p:sp>
        <p:nvSpPr>
          <p:cNvPr id="6" name="TextBox 1">
            <a:extLst>
              <a:ext uri="{FF2B5EF4-FFF2-40B4-BE49-F238E27FC236}">
                <a16:creationId xmlns:a16="http://schemas.microsoft.com/office/drawing/2014/main" id="{1C403193-A6D5-B3DB-DB51-BDC7C73233A9}"/>
              </a:ext>
            </a:extLst>
          </p:cNvPr>
          <p:cNvSpPr txBox="1"/>
          <p:nvPr/>
        </p:nvSpPr>
        <p:spPr>
          <a:xfrm>
            <a:off x="1358900" y="872061"/>
            <a:ext cx="829073" cy="276999"/>
          </a:xfrm>
          <a:prstGeom prst="rect">
            <a:avLst/>
          </a:prstGeom>
          <a:solidFill>
            <a:schemeClr val="accent1">
              <a:lumMod val="50000"/>
            </a:schemeClr>
          </a:solidFill>
        </p:spPr>
        <p:txBody>
          <a:bodyPr wrap="none"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200" b="1" u="sng" dirty="0">
                <a:solidFill>
                  <a:schemeClr val="bg1"/>
                </a:solidFill>
                <a:latin typeface="Calibri" panose="020F0502020204030204" pitchFamily="34" charset="0"/>
              </a:rPr>
              <a:t># Findings</a:t>
            </a:r>
          </a:p>
        </p:txBody>
      </p:sp>
      <p:sp>
        <p:nvSpPr>
          <p:cNvPr id="15" name="Oval 14">
            <a:extLst>
              <a:ext uri="{FF2B5EF4-FFF2-40B4-BE49-F238E27FC236}">
                <a16:creationId xmlns:a16="http://schemas.microsoft.com/office/drawing/2014/main" id="{F76755A6-6FA9-A6DA-D767-7CDEDE2E72E2}"/>
              </a:ext>
            </a:extLst>
          </p:cNvPr>
          <p:cNvSpPr/>
          <p:nvPr/>
        </p:nvSpPr>
        <p:spPr bwMode="auto">
          <a:xfrm>
            <a:off x="1333499" y="1331835"/>
            <a:ext cx="215901" cy="276999"/>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1</a:t>
            </a:r>
          </a:p>
        </p:txBody>
      </p:sp>
      <p:sp>
        <p:nvSpPr>
          <p:cNvPr id="16" name="Oval 15">
            <a:extLst>
              <a:ext uri="{FF2B5EF4-FFF2-40B4-BE49-F238E27FC236}">
                <a16:creationId xmlns:a16="http://schemas.microsoft.com/office/drawing/2014/main" id="{5BAD6F0A-61EE-DF1D-DB91-D73E99EAA7C8}"/>
              </a:ext>
            </a:extLst>
          </p:cNvPr>
          <p:cNvSpPr/>
          <p:nvPr/>
        </p:nvSpPr>
        <p:spPr bwMode="auto">
          <a:xfrm>
            <a:off x="3324224" y="1869720"/>
            <a:ext cx="215901" cy="276999"/>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2</a:t>
            </a:r>
          </a:p>
        </p:txBody>
      </p:sp>
      <p:sp>
        <p:nvSpPr>
          <p:cNvPr id="17" name="Oval 16">
            <a:extLst>
              <a:ext uri="{FF2B5EF4-FFF2-40B4-BE49-F238E27FC236}">
                <a16:creationId xmlns:a16="http://schemas.microsoft.com/office/drawing/2014/main" id="{DC47AD5A-2EB0-8E0E-53D9-60A7A7545FE5}"/>
              </a:ext>
            </a:extLst>
          </p:cNvPr>
          <p:cNvSpPr/>
          <p:nvPr/>
        </p:nvSpPr>
        <p:spPr bwMode="auto">
          <a:xfrm>
            <a:off x="3324223" y="2371232"/>
            <a:ext cx="215901" cy="276999"/>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3</a:t>
            </a:r>
          </a:p>
        </p:txBody>
      </p:sp>
      <p:sp>
        <p:nvSpPr>
          <p:cNvPr id="18" name="Oval 17">
            <a:extLst>
              <a:ext uri="{FF2B5EF4-FFF2-40B4-BE49-F238E27FC236}">
                <a16:creationId xmlns:a16="http://schemas.microsoft.com/office/drawing/2014/main" id="{1D9D5EC1-0D87-BA61-1113-7161409479C2}"/>
              </a:ext>
            </a:extLst>
          </p:cNvPr>
          <p:cNvSpPr/>
          <p:nvPr/>
        </p:nvSpPr>
        <p:spPr bwMode="auto">
          <a:xfrm>
            <a:off x="2486024" y="2893436"/>
            <a:ext cx="215901" cy="276999"/>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4</a:t>
            </a:r>
          </a:p>
        </p:txBody>
      </p:sp>
      <p:sp>
        <p:nvSpPr>
          <p:cNvPr id="19" name="Oval 18">
            <a:extLst>
              <a:ext uri="{FF2B5EF4-FFF2-40B4-BE49-F238E27FC236}">
                <a16:creationId xmlns:a16="http://schemas.microsoft.com/office/drawing/2014/main" id="{FF96A165-7E71-AFBF-D9F8-3894BD2F133E}"/>
              </a:ext>
            </a:extLst>
          </p:cNvPr>
          <p:cNvSpPr/>
          <p:nvPr/>
        </p:nvSpPr>
        <p:spPr bwMode="auto">
          <a:xfrm>
            <a:off x="1972072" y="3403301"/>
            <a:ext cx="215901" cy="276999"/>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900" dirty="0">
                <a:solidFill>
                  <a:schemeClr val="bg1"/>
                </a:solidFill>
                <a:latin typeface="Verdana" panose="020B0604030504040204" pitchFamily="34" charset="0"/>
                <a:ea typeface="Verdana" panose="020B0604030504040204" pitchFamily="34" charset="0"/>
              </a:rPr>
              <a:t>5</a:t>
            </a:r>
            <a:endParaRPr kumimoji="0" lang="en-US" sz="900" b="0" i="0" u="none" strike="noStrike" cap="none" normalizeH="0" baseline="0" dirty="0">
              <a:ln>
                <a:noFill/>
              </a:ln>
              <a:solidFill>
                <a:schemeClr val="bg1"/>
              </a:solidFill>
              <a:effectLst/>
              <a:latin typeface="Verdana" panose="020B0604030504040204" pitchFamily="34" charset="0"/>
              <a:ea typeface="Verdana" panose="020B0604030504040204" pitchFamily="34" charset="0"/>
            </a:endParaRPr>
          </a:p>
        </p:txBody>
      </p:sp>
      <p:sp>
        <p:nvSpPr>
          <p:cNvPr id="20" name="Oval 19">
            <a:extLst>
              <a:ext uri="{FF2B5EF4-FFF2-40B4-BE49-F238E27FC236}">
                <a16:creationId xmlns:a16="http://schemas.microsoft.com/office/drawing/2014/main" id="{B036FB71-A316-3494-D237-862F5317AC69}"/>
              </a:ext>
            </a:extLst>
          </p:cNvPr>
          <p:cNvSpPr/>
          <p:nvPr/>
        </p:nvSpPr>
        <p:spPr bwMode="auto">
          <a:xfrm>
            <a:off x="3108323" y="3891966"/>
            <a:ext cx="215901" cy="276999"/>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900" dirty="0">
                <a:solidFill>
                  <a:schemeClr val="bg1"/>
                </a:solidFill>
                <a:latin typeface="Verdana" panose="020B0604030504040204" pitchFamily="34" charset="0"/>
                <a:ea typeface="Verdana" panose="020B0604030504040204" pitchFamily="34" charset="0"/>
              </a:rPr>
              <a:t>6</a:t>
            </a:r>
            <a:endParaRPr kumimoji="0" lang="en-US" sz="900" b="0" i="0" u="none" strike="noStrike" cap="none" normalizeH="0" baseline="0" dirty="0">
              <a:ln>
                <a:noFill/>
              </a:ln>
              <a:solidFill>
                <a:schemeClr val="bg1"/>
              </a:solidFill>
              <a:effectLst/>
              <a:latin typeface="Verdana" panose="020B0604030504040204" pitchFamily="34" charset="0"/>
              <a:ea typeface="Verdana" panose="020B0604030504040204" pitchFamily="34" charset="0"/>
            </a:endParaRPr>
          </a:p>
        </p:txBody>
      </p:sp>
      <p:sp>
        <p:nvSpPr>
          <p:cNvPr id="21" name="Oval 20">
            <a:extLst>
              <a:ext uri="{FF2B5EF4-FFF2-40B4-BE49-F238E27FC236}">
                <a16:creationId xmlns:a16="http://schemas.microsoft.com/office/drawing/2014/main" id="{334C2C4F-C348-AB7B-73F0-7B0C4810950D}"/>
              </a:ext>
            </a:extLst>
          </p:cNvPr>
          <p:cNvSpPr/>
          <p:nvPr/>
        </p:nvSpPr>
        <p:spPr bwMode="auto">
          <a:xfrm>
            <a:off x="2720975" y="4390992"/>
            <a:ext cx="215901" cy="276999"/>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bg1"/>
                </a:solidFill>
                <a:effectLst/>
                <a:latin typeface="Verdana" panose="020B0604030504040204" pitchFamily="34" charset="0"/>
                <a:ea typeface="Verdana" panose="020B0604030504040204" pitchFamily="34" charset="0"/>
              </a:rPr>
              <a:t>7</a:t>
            </a:r>
          </a:p>
        </p:txBody>
      </p:sp>
    </p:spTree>
    <p:extLst>
      <p:ext uri="{BB962C8B-B14F-4D97-AF65-F5344CB8AC3E}">
        <p14:creationId xmlns:p14="http://schemas.microsoft.com/office/powerpoint/2010/main" val="3795195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a:defRPr/>
            </a:pPr>
            <a:fld id="{6516E9BE-843C-4425-80E4-36155279AD5E}" type="slidenum">
              <a:rPr lang="en-GB">
                <a:latin typeface="Calibri"/>
              </a:rPr>
              <a:pPr>
                <a:defRPr/>
              </a:pPr>
              <a:t>4</a:t>
            </a:fld>
            <a:endParaRPr lang="en-GB">
              <a:latin typeface="Calibri"/>
            </a:endParaRPr>
          </a:p>
        </p:txBody>
      </p:sp>
      <p:graphicFrame>
        <p:nvGraphicFramePr>
          <p:cNvPr id="7" name="Table 6"/>
          <p:cNvGraphicFramePr>
            <a:graphicFrameLocks noGrp="1"/>
          </p:cNvGraphicFramePr>
          <p:nvPr/>
        </p:nvGraphicFramePr>
        <p:xfrm>
          <a:off x="508000" y="756432"/>
          <a:ext cx="11074399" cy="5733947"/>
        </p:xfrm>
        <a:graphic>
          <a:graphicData uri="http://schemas.openxmlformats.org/drawingml/2006/table">
            <a:tbl>
              <a:tblPr/>
              <a:tblGrid>
                <a:gridCol w="406400">
                  <a:extLst>
                    <a:ext uri="{9D8B030D-6E8A-4147-A177-3AD203B41FA5}">
                      <a16:colId xmlns:a16="http://schemas.microsoft.com/office/drawing/2014/main" val="20000"/>
                    </a:ext>
                  </a:extLst>
                </a:gridCol>
                <a:gridCol w="1511300">
                  <a:extLst>
                    <a:ext uri="{9D8B030D-6E8A-4147-A177-3AD203B41FA5}">
                      <a16:colId xmlns:a16="http://schemas.microsoft.com/office/drawing/2014/main" val="20002"/>
                    </a:ext>
                  </a:extLst>
                </a:gridCol>
                <a:gridCol w="3657600">
                  <a:extLst>
                    <a:ext uri="{9D8B030D-6E8A-4147-A177-3AD203B41FA5}">
                      <a16:colId xmlns:a16="http://schemas.microsoft.com/office/drawing/2014/main" val="3809593490"/>
                    </a:ext>
                  </a:extLst>
                </a:gridCol>
                <a:gridCol w="1676400">
                  <a:extLst>
                    <a:ext uri="{9D8B030D-6E8A-4147-A177-3AD203B41FA5}">
                      <a16:colId xmlns:a16="http://schemas.microsoft.com/office/drawing/2014/main" val="20005"/>
                    </a:ext>
                  </a:extLst>
                </a:gridCol>
                <a:gridCol w="3822699">
                  <a:extLst>
                    <a:ext uri="{9D8B030D-6E8A-4147-A177-3AD203B41FA5}">
                      <a16:colId xmlns:a16="http://schemas.microsoft.com/office/drawing/2014/main" val="1096488109"/>
                    </a:ext>
                  </a:extLst>
                </a:gridCol>
              </a:tblGrid>
              <a:tr h="488168">
                <a:tc>
                  <a:txBody>
                    <a:bodyPr/>
                    <a:lstStyle/>
                    <a:p>
                      <a:pPr marL="91440" indent="0" algn="ctr" fontAlgn="ctr"/>
                      <a:r>
                        <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S#</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indent="58738" algn="ctr" fontAlgn="ctr"/>
                      <a:r>
                        <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Finding Title</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algn="ctr"/>
                      <a:r>
                        <a:rPr lang="en-US" sz="1000" b="1" i="0" u="none" strike="noStrike" kern="1200" baseline="0" dirty="0">
                          <a:solidFill>
                            <a:srgbClr val="FFFFFF"/>
                          </a:solidFill>
                          <a:effectLst/>
                          <a:latin typeface="Verdana" panose="020B0604030504040204" pitchFamily="34" charset="0"/>
                          <a:ea typeface="Verdana" panose="020B0604030504040204" pitchFamily="34" charset="0"/>
                        </a:rPr>
                        <a:t>Management Action</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algn="ctr" fontAlgn="ctr"/>
                      <a:r>
                        <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Owner &amp; Last</a:t>
                      </a:r>
                      <a:r>
                        <a:rPr lang="en-US" sz="1000" b="1" i="0" u="none" strike="noStrike" baseline="0"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 Agreed Date</a:t>
                      </a:r>
                      <a:endPar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algn="ctr" fontAlgn="ctr"/>
                      <a:r>
                        <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Status Update</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3386499">
                <a:tc>
                  <a:txBody>
                    <a:bodyPr/>
                    <a:lstStyle/>
                    <a:p>
                      <a:pPr marL="0" indent="0" algn="ctr" defTabSz="914400" rtl="0" eaLnBrk="1" fontAlgn="ctr" latinLnBrk="0" hangingPunct="1">
                        <a:buFont typeface="+mj-lt"/>
                        <a:buNone/>
                      </a:pPr>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1</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l" fontAlgn="b"/>
                      <a:r>
                        <a:rPr lang="en-US" sz="1000" b="0" i="0" u="none" strike="noStrike" dirty="0">
                          <a:solidFill>
                            <a:srgbClr val="000000"/>
                          </a:solidFill>
                          <a:effectLst/>
                          <a:latin typeface="Verdana" panose="020B0604030504040204" pitchFamily="34" charset="0"/>
                          <a:ea typeface="Verdana" panose="020B0604030504040204" pitchFamily="34" charset="0"/>
                        </a:rPr>
                        <a:t>1. Open risks not addressed in a timely manner [Open from FY22]</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All high IRIS risks are being tracked and presented as part of MRC and BRC.</a:t>
                      </a:r>
                    </a:p>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The 9 risks related to Data Encryption and Masking are under remediation and being addressed as a special project. </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ctr" defTabSz="914400" rtl="0" eaLnBrk="1" fontAlgn="ctr" latinLnBrk="0" hangingPunct="1"/>
                      <a:r>
                        <a:rPr lang="en-GB" sz="1000" b="1" i="0" u="none" strike="noStrike" kern="1200" dirty="0">
                          <a:solidFill>
                            <a:srgbClr val="000000"/>
                          </a:solidFill>
                          <a:effectLst/>
                          <a:latin typeface="Verdana"/>
                          <a:ea typeface="Verdana"/>
                          <a:cs typeface="Verdana" panose="020B0604030504040204" pitchFamily="34" charset="0"/>
                        </a:rPr>
                        <a:t>Saket Saith</a:t>
                      </a:r>
                      <a:endParaRPr lang="en-GB" sz="1000" b="0" i="0" u="none" strike="noStrike" kern="1200" dirty="0">
                        <a:solidFill>
                          <a:srgbClr val="000000"/>
                        </a:solidFill>
                        <a:effectLst/>
                        <a:latin typeface="Verdana"/>
                        <a:ea typeface="Verdana"/>
                        <a:cs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a:ea typeface="Verdana"/>
                          <a:cs typeface="Verdana" panose="020B0604030504040204" pitchFamily="34" charset="0"/>
                        </a:rPr>
                        <a:t>Group Chief Technology &amp; Data Officer</a:t>
                      </a:r>
                    </a:p>
                    <a:p>
                      <a:pPr marL="0" indent="0" algn="ctr" defTabSz="914400" rtl="0" eaLnBrk="1" fontAlgn="ctr" latinLnBrk="0" hangingPunct="1"/>
                      <a:endParaRPr lang="en-US" sz="1000" b="0" i="0" u="none" strike="noStrike" kern="1200" dirty="0">
                        <a:solidFill>
                          <a:srgbClr val="000000"/>
                        </a:solidFill>
                        <a:effectLst/>
                        <a:latin typeface="Verdana"/>
                        <a:ea typeface="Verdana"/>
                        <a:cs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30-Nov-25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l"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1.All High Risks are tracked by IT as part of our Risk and Audit meetings fortnightly with the GCTDO and action plans are available for all 12 pending High risks.</a:t>
                      </a:r>
                    </a:p>
                    <a:p>
                      <a:pPr marL="0" indent="0" algn="l"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mn-cs"/>
                      </a:endParaRPr>
                    </a:p>
                    <a:p>
                      <a:pPr marL="0" indent="0" algn="l"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2.All High risks are presented in the MRC and BRC along with the overall trends of Medium and Low Risks.</a:t>
                      </a:r>
                    </a:p>
                    <a:p>
                      <a:pPr marL="0" indent="0" algn="l"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mn-cs"/>
                      </a:endParaRPr>
                    </a:p>
                    <a:p>
                      <a:pPr marL="0" indent="0" algn="l"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3.A RAF extension was raised for all risks related to Data Encryption and Masking which has been approved by the GCTDO. It is pending approval of CRO for finalization.</a:t>
                      </a:r>
                    </a:p>
                    <a:p>
                      <a:pPr marL="0" indent="0" algn="l" defTabSz="914400" rtl="0" eaLnBrk="1" fontAlgn="ctr" latinLnBrk="0" hangingPunct="1"/>
                      <a:endParaRPr lang="en-US" sz="1000" b="0" i="0" u="sng" strike="noStrike" kern="1200" dirty="0">
                        <a:solidFill>
                          <a:srgbClr val="000000"/>
                        </a:solidFill>
                        <a:effectLst/>
                        <a:latin typeface="Verdana" panose="020B0604030504040204" pitchFamily="34" charset="0"/>
                        <a:ea typeface="Verdana" panose="020B0604030504040204" pitchFamily="34" charset="0"/>
                        <a:cs typeface="+mn-cs"/>
                      </a:endParaRPr>
                    </a:p>
                    <a:p>
                      <a:pPr marL="0" indent="0" algn="l" defTabSz="914400" rtl="0" eaLnBrk="1" fontAlgn="ctr" latinLnBrk="0" hangingPunct="1"/>
                      <a:r>
                        <a:rPr lang="en-US" sz="1000" b="0" i="0" u="sng" strike="noStrike" kern="1200" dirty="0">
                          <a:solidFill>
                            <a:srgbClr val="000000"/>
                          </a:solidFill>
                          <a:effectLst/>
                          <a:latin typeface="Verdana" panose="020B0604030504040204" pitchFamily="34" charset="0"/>
                          <a:ea typeface="Verdana" panose="020B0604030504040204" pitchFamily="34" charset="0"/>
                          <a:cs typeface="+mn-cs"/>
                        </a:rPr>
                        <a:t>Update provided on 25-Nov-2025</a:t>
                      </a:r>
                    </a:p>
                    <a:p>
                      <a:pPr marL="0" indent="0" algn="l"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It was submitted to the CRO for approval; however, further information was requested (a gap assessment that outlines the scale of non-compliance). A position paper was written and submitted on 18 November 2025. We are awaiting feedback. A follow up was sent on 25 November 2025. If all goes well, we envisage obtaining approval by mid-December or earlier.</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1875220160"/>
                  </a:ext>
                </a:extLst>
              </a:tr>
              <a:tr h="1220715">
                <a:tc>
                  <a:txBody>
                    <a:bodyPr/>
                    <a:lstStyle/>
                    <a:p>
                      <a:pPr marL="0" indent="0" algn="ctr" defTabSz="914400" rtl="0" eaLnBrk="1" fontAlgn="ctr" latinLnBrk="0" hangingPunct="1">
                        <a:buFont typeface="+mj-lt"/>
                        <a:buNone/>
                      </a:pPr>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2</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l" fontAlgn="b"/>
                      <a:r>
                        <a:rPr lang="en-US" sz="1000" b="0" i="0" u="none" strike="noStrike" dirty="0">
                          <a:solidFill>
                            <a:srgbClr val="000000"/>
                          </a:solidFill>
                          <a:effectLst/>
                          <a:latin typeface="Verdana" panose="020B0604030504040204" pitchFamily="34" charset="0"/>
                          <a:ea typeface="Verdana" panose="020B0604030504040204" pitchFamily="34" charset="0"/>
                        </a:rPr>
                        <a:t>2. ECL roles and responsibilities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In April 2025, there has been a shift in roles and responsibilities between the Risk Analytics and Finance teams in relation to the ECL calculations for retail and non-retail portfolios.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ctr" defTabSz="914400" rtl="0" eaLnBrk="1" fontAlgn="ctr" latinLnBrk="0" hangingPunct="1"/>
                      <a:r>
                        <a:rPr lang="en-GB" sz="1000" b="1" i="0" u="none" strike="noStrike" kern="1200" dirty="0">
                          <a:solidFill>
                            <a:srgbClr val="000000"/>
                          </a:solidFill>
                          <a:effectLst/>
                          <a:latin typeface="Verdana"/>
                          <a:ea typeface="Verdana"/>
                          <a:cs typeface="Verdana" panose="020B0604030504040204" pitchFamily="34" charset="0"/>
                        </a:rPr>
                        <a:t>Farhan Mahmood</a:t>
                      </a:r>
                      <a:endParaRPr lang="en-GB" sz="1000" b="0" i="0" u="none" strike="noStrike" kern="1200" dirty="0">
                        <a:solidFill>
                          <a:srgbClr val="000000"/>
                        </a:solidFill>
                        <a:effectLst/>
                        <a:latin typeface="Verdana"/>
                        <a:ea typeface="Verdana"/>
                        <a:cs typeface="Verdana" panose="020B0604030504040204" pitchFamily="34" charset="0"/>
                      </a:endParaRPr>
                    </a:p>
                    <a:p>
                      <a:pPr marL="0" indent="0" algn="ctr" defTabSz="914400" rtl="0" eaLnBrk="1" fontAlgn="ctr" latinLnBrk="0" hangingPunct="1"/>
                      <a:r>
                        <a:rPr lang="en-GB" sz="1000" b="0" i="0" u="none" strike="noStrike" kern="1200" dirty="0">
                          <a:solidFill>
                            <a:srgbClr val="000000"/>
                          </a:solidFill>
                          <a:effectLst/>
                          <a:latin typeface="Verdana"/>
                          <a:ea typeface="Verdana"/>
                          <a:cs typeface="Verdana" panose="020B0604030504040204" pitchFamily="34" charset="0"/>
                        </a:rPr>
                        <a:t>Group Chief Risk Officer</a:t>
                      </a:r>
                    </a:p>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31-Oct-25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On track – Computations of the ECL provisions from the ECL engine for non-retail portfolio are now being performed by the Risk Analytics team. </a:t>
                      </a:r>
                    </a:p>
                    <a:p>
                      <a:pPr marL="0" indent="0" algn="just"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mn-cs"/>
                      </a:endParaRPr>
                    </a:p>
                    <a:p>
                      <a:pPr marL="0" marR="0" lvl="0" indent="0" algn="just" defTabSz="914400" rtl="0" eaLnBrk="1" fontAlgn="ctr" latinLnBrk="0" hangingPunct="1">
                        <a:lnSpc>
                          <a:spcPct val="100000"/>
                        </a:lnSpc>
                        <a:spcBef>
                          <a:spcPts val="0"/>
                        </a:spcBef>
                        <a:spcAft>
                          <a:spcPts val="0"/>
                        </a:spcAft>
                        <a:buClrTx/>
                        <a:buSzTx/>
                        <a:buFontTx/>
                        <a:buNone/>
                        <a:tabLst/>
                        <a:defRPr/>
                      </a:pPr>
                      <a:r>
                        <a:rPr lang="en-US" sz="1000" b="0" i="0" u="sng" strike="noStrike" kern="1200" dirty="0">
                          <a:solidFill>
                            <a:srgbClr val="000000"/>
                          </a:solidFill>
                          <a:effectLst/>
                          <a:latin typeface="Verdana" panose="020B0604030504040204" pitchFamily="34" charset="0"/>
                          <a:ea typeface="Verdana" panose="020B0604030504040204" pitchFamily="34" charset="0"/>
                          <a:cs typeface="+mn-cs"/>
                        </a:rPr>
                        <a:t>Update provided on 25-Nov-2025</a:t>
                      </a:r>
                    </a:p>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Implemented - </a:t>
                      </a:r>
                    </a:p>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•Roles and responsibilities detailed in the credit provision policy, approved in MRC and BRC,</a:t>
                      </a:r>
                    </a:p>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•Since April, the ECL calculation is performed by Risk analytics for both retail and wholesale portfolios.</a:t>
                      </a:r>
                    </a:p>
                    <a:p>
                      <a:pPr marL="0" indent="0" algn="just"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mn-cs"/>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3560316638"/>
                  </a:ext>
                </a:extLst>
              </a:tr>
            </a:tbl>
          </a:graphicData>
        </a:graphic>
      </p:graphicFrame>
      <p:sp>
        <p:nvSpPr>
          <p:cNvPr id="8" name="Title 1"/>
          <p:cNvSpPr txBox="1">
            <a:spLocks/>
          </p:cNvSpPr>
          <p:nvPr/>
        </p:nvSpPr>
        <p:spPr>
          <a:xfrm>
            <a:off x="0" y="1"/>
            <a:ext cx="12192000" cy="625476"/>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a:defRPr/>
            </a:pPr>
            <a:r>
              <a:rPr lang="en-US" sz="2000" b="1" kern="0" dirty="0">
                <a:solidFill>
                  <a:srgbClr val="FFFFFF"/>
                </a:solidFill>
                <a:latin typeface="Verdana" panose="020B0604030504040204" pitchFamily="34" charset="0"/>
                <a:ea typeface="Verdana" panose="020B0604030504040204" pitchFamily="34" charset="0"/>
              </a:rPr>
              <a:t>     </a:t>
            </a:r>
            <a:r>
              <a:rPr lang="en-US" sz="2000" kern="0" dirty="0">
                <a:solidFill>
                  <a:srgbClr val="FFFFFF"/>
                </a:solidFill>
                <a:latin typeface="Verdana" panose="020B0604030504040204" pitchFamily="34" charset="0"/>
                <a:ea typeface="Verdana" panose="020B0604030504040204" pitchFamily="34" charset="0"/>
              </a:rPr>
              <a:t>Details of Open PWC Management Letter Actions - 2024</a:t>
            </a:r>
            <a:endParaRPr lang="en-GB" sz="2000" kern="0" dirty="0">
              <a:solidFill>
                <a:srgbClr val="FFFFFF"/>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24455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a:defRPr/>
            </a:pPr>
            <a:fld id="{6516E9BE-843C-4425-80E4-36155279AD5E}" type="slidenum">
              <a:rPr lang="en-GB">
                <a:latin typeface="Calibri"/>
              </a:rPr>
              <a:pPr>
                <a:defRPr/>
              </a:pPr>
              <a:t>5</a:t>
            </a:fld>
            <a:endParaRPr lang="en-GB">
              <a:latin typeface="Calibri"/>
            </a:endParaRPr>
          </a:p>
        </p:txBody>
      </p:sp>
      <p:graphicFrame>
        <p:nvGraphicFramePr>
          <p:cNvPr id="7" name="Table 6"/>
          <p:cNvGraphicFramePr>
            <a:graphicFrameLocks noGrp="1"/>
          </p:cNvGraphicFramePr>
          <p:nvPr/>
        </p:nvGraphicFramePr>
        <p:xfrm>
          <a:off x="520700" y="749999"/>
          <a:ext cx="11029761" cy="5523801"/>
        </p:xfrm>
        <a:graphic>
          <a:graphicData uri="http://schemas.openxmlformats.org/drawingml/2006/table">
            <a:tbl>
              <a:tblPr/>
              <a:tblGrid>
                <a:gridCol w="404952">
                  <a:extLst>
                    <a:ext uri="{9D8B030D-6E8A-4147-A177-3AD203B41FA5}">
                      <a16:colId xmlns:a16="http://schemas.microsoft.com/office/drawing/2014/main" val="20000"/>
                    </a:ext>
                  </a:extLst>
                </a:gridCol>
                <a:gridCol w="1514009">
                  <a:extLst>
                    <a:ext uri="{9D8B030D-6E8A-4147-A177-3AD203B41FA5}">
                      <a16:colId xmlns:a16="http://schemas.microsoft.com/office/drawing/2014/main" val="20002"/>
                    </a:ext>
                  </a:extLst>
                </a:gridCol>
                <a:gridCol w="3651007">
                  <a:extLst>
                    <a:ext uri="{9D8B030D-6E8A-4147-A177-3AD203B41FA5}">
                      <a16:colId xmlns:a16="http://schemas.microsoft.com/office/drawing/2014/main" val="3809593490"/>
                    </a:ext>
                  </a:extLst>
                </a:gridCol>
                <a:gridCol w="1675050">
                  <a:extLst>
                    <a:ext uri="{9D8B030D-6E8A-4147-A177-3AD203B41FA5}">
                      <a16:colId xmlns:a16="http://schemas.microsoft.com/office/drawing/2014/main" val="20005"/>
                    </a:ext>
                  </a:extLst>
                </a:gridCol>
                <a:gridCol w="3784743">
                  <a:extLst>
                    <a:ext uri="{9D8B030D-6E8A-4147-A177-3AD203B41FA5}">
                      <a16:colId xmlns:a16="http://schemas.microsoft.com/office/drawing/2014/main" val="1096488109"/>
                    </a:ext>
                  </a:extLst>
                </a:gridCol>
              </a:tblGrid>
              <a:tr h="494601">
                <a:tc>
                  <a:txBody>
                    <a:bodyPr/>
                    <a:lstStyle/>
                    <a:p>
                      <a:pPr marL="91440" indent="0" algn="ctr" fontAlgn="ctr"/>
                      <a:r>
                        <a:rPr lang="en-US" sz="100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S#</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indent="58738" algn="ctr" fontAlgn="ctr"/>
                      <a:r>
                        <a:rPr lang="en-US" sz="100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Finding Title</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algn="ctr"/>
                      <a:r>
                        <a:rPr lang="en-US" sz="1000" b="1" i="0" u="none" strike="noStrike" kern="1200" baseline="0" dirty="0">
                          <a:solidFill>
                            <a:srgbClr val="FFFFFF"/>
                          </a:solidFill>
                          <a:effectLst/>
                          <a:latin typeface="Verdana" panose="020B0604030504040204" pitchFamily="34" charset="0"/>
                          <a:ea typeface="Verdana" panose="020B0604030504040204" pitchFamily="34" charset="0"/>
                        </a:rPr>
                        <a:t>Management Action</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algn="ctr" fontAlgn="ctr"/>
                      <a:r>
                        <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Owner &amp; Last</a:t>
                      </a:r>
                      <a:r>
                        <a:rPr lang="en-US" sz="1000" b="1" i="0" u="none" strike="noStrike" baseline="0"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 Agreed Date</a:t>
                      </a:r>
                      <a:endPar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algn="ctr" fontAlgn="ctr"/>
                      <a:r>
                        <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Status Update</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1070847">
                <a:tc rowSpan="3">
                  <a:txBody>
                    <a:bodyPr/>
                    <a:lstStyle/>
                    <a:p>
                      <a:pPr marL="0" indent="0" algn="ctr" defTabSz="914400" rtl="0" eaLnBrk="1" fontAlgn="ctr" latinLnBrk="0" hangingPunct="1">
                        <a:buFont typeface="+mj-lt"/>
                        <a:buNone/>
                      </a:pPr>
                      <a:r>
                        <a:rPr lang="en-US" sz="1000" b="0" i="0" u="none" strike="noStrike" kern="1200" dirty="0">
                          <a:solidFill>
                            <a:srgbClr val="000000"/>
                          </a:solidFill>
                          <a:effectLst/>
                          <a:latin typeface="Verdana" panose="020B0604030504040204" pitchFamily="34" charset="0"/>
                          <a:ea typeface="Verdana" panose="020B0604030504040204" pitchFamily="34" charset="0"/>
                        </a:rPr>
                        <a:t>3.</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rowSpan="3">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Verdana" panose="020B0604030504040204" pitchFamily="34" charset="0"/>
                          <a:ea typeface="Verdana" panose="020B0604030504040204" pitchFamily="34" charset="0"/>
                        </a:rPr>
                        <a:t>3. ECL model recommendations</a:t>
                      </a:r>
                    </a:p>
                    <a:p>
                      <a:pPr algn="l"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From a methodology perspective ECL is calculated based on discounted cash flows that it expects to receive at the EIR determined at initial recognition, or an approximation thereafter. Any changes/amendment will be reflected in existing documentation.</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rowSpan="3">
                  <a:txBody>
                    <a:bodyPr/>
                    <a:lstStyle/>
                    <a:p>
                      <a:pPr marL="0" indent="0" algn="ctr" defTabSz="914400" rtl="0" eaLnBrk="1" fontAlgn="ctr" latinLnBrk="0" hangingPunct="1"/>
                      <a:r>
                        <a:rPr lang="en-GB" sz="1000" b="1" i="0" u="none" strike="noStrike" kern="1200" dirty="0">
                          <a:solidFill>
                            <a:srgbClr val="000000"/>
                          </a:solidFill>
                          <a:effectLst/>
                          <a:latin typeface="Verdana"/>
                          <a:ea typeface="Verdana"/>
                          <a:cs typeface="Verdana" panose="020B0604030504040204" pitchFamily="34" charset="0"/>
                        </a:rPr>
                        <a:t>Farhan Mahmood</a:t>
                      </a:r>
                      <a:endParaRPr lang="en-GB" sz="1000" b="0" i="0" u="none" strike="noStrike" kern="1200" dirty="0">
                        <a:solidFill>
                          <a:srgbClr val="000000"/>
                        </a:solidFill>
                        <a:effectLst/>
                        <a:latin typeface="Verdana"/>
                        <a:ea typeface="Verdana"/>
                        <a:cs typeface="Verdana" panose="020B0604030504040204" pitchFamily="34" charset="0"/>
                      </a:endParaRPr>
                    </a:p>
                    <a:p>
                      <a:pPr marL="0" indent="0" algn="ctr" defTabSz="914400" rtl="0" eaLnBrk="1" fontAlgn="ctr" latinLnBrk="0" hangingPunct="1"/>
                      <a:r>
                        <a:rPr lang="en-GB" sz="1000" b="0" i="0" u="none" strike="noStrike" kern="1200" dirty="0">
                          <a:solidFill>
                            <a:srgbClr val="000000"/>
                          </a:solidFill>
                          <a:effectLst/>
                          <a:latin typeface="Verdana"/>
                          <a:ea typeface="Verdana"/>
                          <a:cs typeface="Verdana" panose="020B0604030504040204" pitchFamily="34" charset="0"/>
                        </a:rPr>
                        <a:t>Group Chief Risk Officer</a:t>
                      </a:r>
                    </a:p>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31-Dec-25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On track - Based on market practice and current assessment, the impact of using the contractual rate versus EIR appears to be low. We will perform a portfolio-level analysis to confirm if the difference is not material. We will also discuss the same with Deloitte to check their view at year end audit.</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2390481586"/>
                  </a:ext>
                </a:extLst>
              </a:tr>
              <a:tr h="773390">
                <a:tc vMerge="1">
                  <a:txBody>
                    <a:bodyPr/>
                    <a:lstStyle/>
                    <a:p>
                      <a:pPr marL="0" indent="0" algn="ctr" defTabSz="914400" rtl="0" eaLnBrk="1" fontAlgn="ctr" latinLnBrk="0" hangingPunct="1">
                        <a:buFont typeface="+mj-lt"/>
                        <a:buNone/>
                      </a:pPr>
                      <a:endParaRPr lang="en-US" sz="1000" b="0" i="0" u="none" strike="noStrike" kern="1200" dirty="0">
                        <a:solidFill>
                          <a:srgbClr val="000000"/>
                        </a:solidFill>
                        <a:effectLst/>
                        <a:latin typeface="Verdana" panose="020B0604030504040204" pitchFamily="34" charset="0"/>
                        <a:ea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vMerge="1">
                  <a:txBody>
                    <a:bodyPr/>
                    <a:lstStyle/>
                    <a:p>
                      <a:pPr algn="l"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IFRS 9 methodology document will be updated by December 2025 (annual review date).</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vMerge="1">
                  <a:txBody>
                    <a:bodyPr/>
                    <a:lstStyle/>
                    <a:p>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On track - As part of the periodic review exercise, the IFRS 9 methodology document will be updated to reflect changes / amendments that occurred since the last issuance.</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948081769"/>
                  </a:ext>
                </a:extLst>
              </a:tr>
              <a:tr h="773390">
                <a:tc vMerge="1">
                  <a:txBody>
                    <a:bodyPr/>
                    <a:lstStyle/>
                    <a:p>
                      <a:pPr marL="0" indent="0" algn="ctr" defTabSz="914400" rtl="0" eaLnBrk="1" fontAlgn="ctr" latinLnBrk="0" hangingPunct="1">
                        <a:buFont typeface="+mj-lt"/>
                        <a:buNone/>
                      </a:pPr>
                      <a:endParaRPr lang="en-US" sz="1000" b="0" i="0" u="none" strike="noStrike" kern="1200" dirty="0">
                        <a:solidFill>
                          <a:srgbClr val="000000"/>
                        </a:solidFill>
                        <a:effectLst/>
                        <a:latin typeface="Verdana" panose="020B0604030504040204" pitchFamily="34" charset="0"/>
                        <a:ea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vMerge="1">
                  <a:txBody>
                    <a:bodyPr/>
                    <a:lstStyle/>
                    <a:p>
                      <a:pPr algn="l"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ECL engine will run using the </a:t>
                      </a:r>
                      <a:r>
                        <a:rPr lang="en-US" sz="1000" b="0" i="0" u="none" strike="noStrike" dirty="0" err="1">
                          <a:solidFill>
                            <a:srgbClr val="000000"/>
                          </a:solidFill>
                          <a:effectLst/>
                          <a:latin typeface="Verdana" panose="020B0604030504040204" pitchFamily="34" charset="0"/>
                          <a:ea typeface="Verdana" panose="020B0604030504040204" pitchFamily="34" charset="0"/>
                        </a:rPr>
                        <a:t>PiT</a:t>
                      </a:r>
                      <a:r>
                        <a:rPr lang="en-US" sz="1000" b="0" i="0" u="none" strike="noStrike" dirty="0">
                          <a:solidFill>
                            <a:srgbClr val="000000"/>
                          </a:solidFill>
                          <a:effectLst/>
                          <a:latin typeface="Verdana" panose="020B0604030504040204" pitchFamily="34" charset="0"/>
                          <a:ea typeface="Verdana" panose="020B0604030504040204" pitchFamily="34" charset="0"/>
                        </a:rPr>
                        <a:t> PD model in the next financial year.</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vMerge="1">
                  <a:txBody>
                    <a:bodyPr/>
                    <a:lstStyle/>
                    <a:p>
                      <a:endParaRPr dirty="0"/>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algn="l" defTabSz="685800" rtl="0" eaLnBrk="1" fontAlgn="base"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On track - This point is applicable to Retail, BBG, and WBG portfolios, where the bank currently holds ECL based on TTC PDs. We will perform the calculation using also PiT PDs for these portfolios. </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2818798171"/>
                  </a:ext>
                </a:extLst>
              </a:tr>
              <a:tr h="922118">
                <a:tc rowSpan="2">
                  <a:txBody>
                    <a:bodyPr/>
                    <a:lstStyle/>
                    <a:p>
                      <a:pPr marL="0" indent="0" algn="ctr" defTabSz="914400" rtl="0" eaLnBrk="1" fontAlgn="ctr" latinLnBrk="0" hangingPunct="1">
                        <a:buFont typeface="+mj-lt"/>
                        <a:buNone/>
                      </a:pPr>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4.</a:t>
                      </a:r>
                    </a:p>
                    <a:p>
                      <a:pPr marL="0" indent="0" algn="ctr" defTabSz="914400" rtl="0" eaLnBrk="1" fontAlgn="ctr" latinLnBrk="0" hangingPunct="1">
                        <a:buFont typeface="+mj-lt"/>
                        <a:buNone/>
                      </a:pPr>
                      <a:endParaRPr lang="en-US" sz="1000" b="0" i="0" u="none" strike="noStrike" kern="1200" dirty="0">
                        <a:solidFill>
                          <a:srgbClr val="000000"/>
                        </a:solidFill>
                        <a:effectLst/>
                        <a:latin typeface="Verdana" panose="020B0604030504040204" pitchFamily="34" charset="0"/>
                        <a:ea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l" fontAlgn="b"/>
                      <a:r>
                        <a:rPr lang="en-US" sz="1000" b="0" i="0" u="none" strike="noStrike" dirty="0">
                          <a:solidFill>
                            <a:srgbClr val="000000"/>
                          </a:solidFill>
                          <a:effectLst/>
                          <a:latin typeface="Verdana" panose="020B0604030504040204" pitchFamily="34" charset="0"/>
                          <a:ea typeface="Verdana" panose="020B0604030504040204" pitchFamily="34" charset="0"/>
                        </a:rPr>
                        <a:t>4. Credit Risk Management Standards (CRMS)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IFRS 9 policy is prepared and will be approved by September 2025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ctr" defTabSz="914400" rtl="0" eaLnBrk="1" fontAlgn="ctr" latinLnBrk="0" hangingPunct="1"/>
                      <a:r>
                        <a:rPr lang="en-GB" sz="1000" b="1" i="0" u="none" strike="noStrike" kern="1200" dirty="0">
                          <a:solidFill>
                            <a:srgbClr val="000000"/>
                          </a:solidFill>
                          <a:effectLst/>
                          <a:latin typeface="Verdana"/>
                          <a:ea typeface="Verdana"/>
                          <a:cs typeface="Verdana" panose="020B0604030504040204" pitchFamily="34" charset="0"/>
                        </a:rPr>
                        <a:t>Jaffer Nini</a:t>
                      </a:r>
                      <a:endParaRPr lang="en-GB" sz="1000" b="0" i="0" u="none" strike="noStrike" kern="1200" dirty="0">
                        <a:solidFill>
                          <a:srgbClr val="000000"/>
                        </a:solidFill>
                        <a:effectLst/>
                        <a:latin typeface="Verdana"/>
                        <a:ea typeface="Verdana"/>
                        <a:cs typeface="Verdana" panose="020B0604030504040204" pitchFamily="34" charset="0"/>
                      </a:endParaRPr>
                    </a:p>
                    <a:p>
                      <a:pPr marL="0" indent="0" algn="ctr" defTabSz="914400" rtl="0" eaLnBrk="1" fontAlgn="ctr" latinLnBrk="0" hangingPunct="1"/>
                      <a:r>
                        <a:rPr lang="en-GB" sz="1000" b="0" i="0" u="none" strike="noStrike" kern="1200" dirty="0">
                          <a:solidFill>
                            <a:srgbClr val="000000"/>
                          </a:solidFill>
                          <a:effectLst/>
                          <a:latin typeface="Verdana"/>
                          <a:ea typeface="Verdana"/>
                          <a:cs typeface="Verdana" panose="020B0604030504040204" pitchFamily="34" charset="0"/>
                        </a:rPr>
                        <a:t>Group Chief Financial Officer</a:t>
                      </a:r>
                    </a:p>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rPr>
                        <a:t>31-Dec-25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Completed - The IFRS9 policy has been approved at MRC and BRC.</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364138109"/>
                  </a:ext>
                </a:extLst>
              </a:tr>
              <a:tr h="1368305">
                <a:tc vMerge="1">
                  <a:txBody>
                    <a:bodyPr/>
                    <a:lstStyle/>
                    <a:p>
                      <a:endParaRPr dirty="0"/>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l" fontAlgn="b"/>
                      <a:r>
                        <a:rPr lang="en-US" sz="1000" b="0" i="0" u="none" strike="noStrike" dirty="0">
                          <a:solidFill>
                            <a:srgbClr val="000000"/>
                          </a:solidFill>
                          <a:effectLst/>
                          <a:latin typeface="Verdana" panose="020B0604030504040204" pitchFamily="34" charset="0"/>
                          <a:ea typeface="Verdana" panose="020B0604030504040204" pitchFamily="34" charset="0"/>
                        </a:rPr>
                        <a:t>Stage 3 provisioning - Cash Flows discounting</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All non-retail stage 3 customers are fully provided post accounting for collateral. In future, if there are any such instances than Management will conduct multiple probability-weighted expected cash flows in line with IFRS 9 and CBUAE requirements. This approach will be updated in current IFRS 9 methodology document by December 2025 (annual review date).</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ctr" defTabSz="914400" rtl="0" eaLnBrk="1" fontAlgn="ctr" latinLnBrk="0" hangingPunct="1"/>
                      <a:r>
                        <a:rPr lang="en-GB" sz="1000" b="1" i="0" u="none" strike="noStrike" kern="1200" dirty="0">
                          <a:solidFill>
                            <a:srgbClr val="000000"/>
                          </a:solidFill>
                          <a:effectLst/>
                          <a:latin typeface="Verdana"/>
                          <a:ea typeface="Verdana"/>
                          <a:cs typeface="Verdana" panose="020B0604030504040204" pitchFamily="34" charset="0"/>
                        </a:rPr>
                        <a:t>Farhan Mahmood</a:t>
                      </a:r>
                      <a:endParaRPr lang="en-GB" sz="1000" b="0" i="0" u="none" strike="noStrike" kern="1200" dirty="0">
                        <a:solidFill>
                          <a:srgbClr val="000000"/>
                        </a:solidFill>
                        <a:effectLst/>
                        <a:latin typeface="Verdana"/>
                        <a:ea typeface="Verdana"/>
                        <a:cs typeface="Verdana" panose="020B0604030504040204" pitchFamily="34" charset="0"/>
                      </a:endParaRPr>
                    </a:p>
                    <a:p>
                      <a:pPr marL="0" indent="0" algn="ctr" defTabSz="914400" rtl="0" eaLnBrk="1" fontAlgn="ctr" latinLnBrk="0" hangingPunct="1"/>
                      <a:r>
                        <a:rPr lang="en-GB" sz="1000" b="0" i="0" u="none" strike="noStrike" kern="1200" dirty="0">
                          <a:solidFill>
                            <a:srgbClr val="000000"/>
                          </a:solidFill>
                          <a:effectLst/>
                          <a:latin typeface="Verdana"/>
                          <a:ea typeface="Verdana"/>
                          <a:cs typeface="Verdana" panose="020B0604030504040204" pitchFamily="34" charset="0"/>
                        </a:rPr>
                        <a:t>Group Chief Risk Officer</a:t>
                      </a:r>
                    </a:p>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31-Dec-25</a:t>
                      </a:r>
                    </a:p>
                    <a:p>
                      <a:endParaRPr dirty="0"/>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On track - The Bank will align to these requirements.</a:t>
                      </a:r>
                    </a:p>
                    <a:p>
                      <a:pPr marL="0" indent="0" algn="just"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mn-cs"/>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752179722"/>
                  </a:ext>
                </a:extLst>
              </a:tr>
            </a:tbl>
          </a:graphicData>
        </a:graphic>
      </p:graphicFrame>
      <p:sp>
        <p:nvSpPr>
          <p:cNvPr id="8" name="Title 1"/>
          <p:cNvSpPr txBox="1">
            <a:spLocks/>
          </p:cNvSpPr>
          <p:nvPr/>
        </p:nvSpPr>
        <p:spPr>
          <a:xfrm>
            <a:off x="0" y="1"/>
            <a:ext cx="12192000" cy="625476"/>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a:defRPr/>
            </a:pPr>
            <a:r>
              <a:rPr lang="en-US" sz="2000" b="1" kern="0" dirty="0">
                <a:solidFill>
                  <a:srgbClr val="FFFFFF"/>
                </a:solidFill>
                <a:latin typeface="Verdana" panose="020B0604030504040204" pitchFamily="34" charset="0"/>
                <a:ea typeface="Verdana" panose="020B0604030504040204" pitchFamily="34" charset="0"/>
              </a:rPr>
              <a:t>     </a:t>
            </a:r>
            <a:r>
              <a:rPr lang="en-US" sz="2000" kern="0" dirty="0">
                <a:solidFill>
                  <a:srgbClr val="FFFFFF"/>
                </a:solidFill>
                <a:latin typeface="Verdana" panose="020B0604030504040204" pitchFamily="34" charset="0"/>
                <a:ea typeface="Verdana" panose="020B0604030504040204" pitchFamily="34" charset="0"/>
              </a:rPr>
              <a:t>Details of Open PWC Management Letter Actions - 2024</a:t>
            </a:r>
            <a:endParaRPr lang="en-GB" sz="2000" kern="0" dirty="0">
              <a:solidFill>
                <a:srgbClr val="FFFFFF"/>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03253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a:defRPr/>
            </a:pPr>
            <a:fld id="{6516E9BE-843C-4425-80E4-36155279AD5E}" type="slidenum">
              <a:rPr lang="en-GB">
                <a:latin typeface="Calibri"/>
              </a:rPr>
              <a:pPr>
                <a:defRPr/>
              </a:pPr>
              <a:t>6</a:t>
            </a:fld>
            <a:endParaRPr lang="en-GB">
              <a:latin typeface="Calibri"/>
            </a:endParaRPr>
          </a:p>
        </p:txBody>
      </p:sp>
      <p:graphicFrame>
        <p:nvGraphicFramePr>
          <p:cNvPr id="7" name="Table 6"/>
          <p:cNvGraphicFramePr>
            <a:graphicFrameLocks noGrp="1"/>
          </p:cNvGraphicFramePr>
          <p:nvPr/>
        </p:nvGraphicFramePr>
        <p:xfrm>
          <a:off x="520700" y="737420"/>
          <a:ext cx="11023600" cy="5003693"/>
        </p:xfrm>
        <a:graphic>
          <a:graphicData uri="http://schemas.openxmlformats.org/drawingml/2006/table">
            <a:tbl>
              <a:tblPr/>
              <a:tblGrid>
                <a:gridCol w="444500">
                  <a:extLst>
                    <a:ext uri="{9D8B030D-6E8A-4147-A177-3AD203B41FA5}">
                      <a16:colId xmlns:a16="http://schemas.microsoft.com/office/drawing/2014/main" val="20000"/>
                    </a:ext>
                  </a:extLst>
                </a:gridCol>
                <a:gridCol w="1549400">
                  <a:extLst>
                    <a:ext uri="{9D8B030D-6E8A-4147-A177-3AD203B41FA5}">
                      <a16:colId xmlns:a16="http://schemas.microsoft.com/office/drawing/2014/main" val="20002"/>
                    </a:ext>
                  </a:extLst>
                </a:gridCol>
                <a:gridCol w="3644900">
                  <a:extLst>
                    <a:ext uri="{9D8B030D-6E8A-4147-A177-3AD203B41FA5}">
                      <a16:colId xmlns:a16="http://schemas.microsoft.com/office/drawing/2014/main" val="3809593490"/>
                    </a:ext>
                  </a:extLst>
                </a:gridCol>
                <a:gridCol w="1638300">
                  <a:extLst>
                    <a:ext uri="{9D8B030D-6E8A-4147-A177-3AD203B41FA5}">
                      <a16:colId xmlns:a16="http://schemas.microsoft.com/office/drawing/2014/main" val="20005"/>
                    </a:ext>
                  </a:extLst>
                </a:gridCol>
                <a:gridCol w="3746500">
                  <a:extLst>
                    <a:ext uri="{9D8B030D-6E8A-4147-A177-3AD203B41FA5}">
                      <a16:colId xmlns:a16="http://schemas.microsoft.com/office/drawing/2014/main" val="1096488109"/>
                    </a:ext>
                  </a:extLst>
                </a:gridCol>
              </a:tblGrid>
              <a:tr h="481780">
                <a:tc>
                  <a:txBody>
                    <a:bodyPr/>
                    <a:lstStyle/>
                    <a:p>
                      <a:pPr marL="91440" indent="0" algn="ctr" fontAlgn="ctr"/>
                      <a:r>
                        <a:rPr lang="en-US" sz="100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S#</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indent="58738" algn="ctr" fontAlgn="ctr"/>
                      <a:r>
                        <a:rPr lang="en-US" sz="100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Finding Title</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algn="ctr"/>
                      <a:r>
                        <a:rPr lang="en-US" sz="1000" b="1" i="0" u="none" strike="noStrike" kern="1200" baseline="0" dirty="0">
                          <a:solidFill>
                            <a:srgbClr val="FFFFFF"/>
                          </a:solidFill>
                          <a:effectLst/>
                          <a:latin typeface="Verdana" panose="020B0604030504040204" pitchFamily="34" charset="0"/>
                          <a:ea typeface="Verdana" panose="020B0604030504040204" pitchFamily="34" charset="0"/>
                        </a:rPr>
                        <a:t>Management Action</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algn="ctr" fontAlgn="ctr"/>
                      <a:r>
                        <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Owner &amp; Last</a:t>
                      </a:r>
                      <a:r>
                        <a:rPr lang="en-US" sz="1000" b="1" i="0" u="none" strike="noStrike" baseline="0"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 Agreed Date</a:t>
                      </a:r>
                      <a:endPar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tc>
                  <a:txBody>
                    <a:bodyPr/>
                    <a:lstStyle/>
                    <a:p>
                      <a:pPr marL="91440" algn="ctr" fontAlgn="ctr"/>
                      <a:r>
                        <a:rPr lang="en-US" sz="1000" b="1" i="0" u="none" strike="noStrike" dirty="0">
                          <a:solidFill>
                            <a:srgbClr val="FFFFFF"/>
                          </a:solidFill>
                          <a:effectLst/>
                          <a:latin typeface="Verdana" panose="020B0604030504040204" pitchFamily="34" charset="0"/>
                          <a:ea typeface="Verdana" panose="020B0604030504040204" pitchFamily="34" charset="0"/>
                          <a:cs typeface="Verdana" panose="020B0604030504040204" pitchFamily="34" charset="0"/>
                        </a:rPr>
                        <a:t>Status Update</a:t>
                      </a:r>
                    </a:p>
                  </a:txBody>
                  <a:tcPr marL="6736" marR="6736" marT="6736" marB="0" anchor="ctr">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742393">
                <a:tc rowSpan="2">
                  <a:txBody>
                    <a:bodyPr/>
                    <a:lstStyle/>
                    <a:p>
                      <a:pPr marL="0" indent="0" algn="ctr" defTabSz="914400" rtl="0" eaLnBrk="1" fontAlgn="ctr" latinLnBrk="0" hangingPunct="1">
                        <a:buFont typeface="+mj-lt"/>
                        <a:buNone/>
                      </a:pPr>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l" fontAlgn="b"/>
                      <a:r>
                        <a:rPr lang="en-US" sz="1000" b="0" i="0" u="none" strike="noStrike" dirty="0">
                          <a:solidFill>
                            <a:srgbClr val="000000"/>
                          </a:solidFill>
                          <a:effectLst/>
                          <a:latin typeface="Verdana" panose="020B0604030504040204" pitchFamily="34" charset="0"/>
                          <a:ea typeface="Verdana" panose="020B0604030504040204" pitchFamily="34" charset="0"/>
                        </a:rPr>
                        <a:t>5. Overall provisioning levels – Post Model Adjustments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The rationale and documentation for post model adjustments has been revisited in 2025 and same was tabled and approved in Q1’2025 Credit Provision Committee meeting.</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ctr" defTabSz="914400" rtl="0" eaLnBrk="1" fontAlgn="ctr" latinLnBrk="0" hangingPunct="1"/>
                      <a:r>
                        <a:rPr lang="en-GB" sz="1000" b="1" i="0" u="none" strike="noStrike" kern="1200" dirty="0">
                          <a:solidFill>
                            <a:srgbClr val="000000"/>
                          </a:solidFill>
                          <a:effectLst/>
                          <a:latin typeface="Verdana"/>
                          <a:ea typeface="Verdana"/>
                        </a:rPr>
                        <a:t>Farhan Mahmood</a:t>
                      </a:r>
                      <a:endParaRPr lang="en-GB" sz="1000" b="0" i="0" u="none" strike="noStrike" kern="1200" dirty="0">
                        <a:solidFill>
                          <a:srgbClr val="000000"/>
                        </a:solidFill>
                        <a:effectLst/>
                        <a:latin typeface="Verdana"/>
                        <a:ea typeface="Verdana"/>
                      </a:endParaRPr>
                    </a:p>
                    <a:p>
                      <a:pPr marL="0" indent="0" algn="ctr" defTabSz="914400" rtl="0" eaLnBrk="1" fontAlgn="ctr" latinLnBrk="0" hangingPunct="1"/>
                      <a:r>
                        <a:rPr lang="en-GB" sz="1000" b="0" i="0" u="none" strike="noStrike" kern="1200" dirty="0">
                          <a:solidFill>
                            <a:srgbClr val="000000"/>
                          </a:solidFill>
                          <a:effectLst/>
                          <a:latin typeface="Verdana"/>
                          <a:ea typeface="Verdana"/>
                        </a:rPr>
                        <a:t>Group Chief Risk Officer</a:t>
                      </a:r>
                    </a:p>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rPr>
                        <a:t>31-Dec-25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On track – Additional rationale and analysis are provided to support the decision during CPC meetings</a:t>
                      </a:r>
                      <a:endParaRPr lang="en-US" sz="1000" b="0" i="0" u="none" strike="noStrike" kern="1200" dirty="0">
                        <a:solidFill>
                          <a:srgbClr val="000000"/>
                        </a:solidFill>
                        <a:effectLst/>
                        <a:highlight>
                          <a:srgbClr val="FFFF00"/>
                        </a:highlight>
                        <a:latin typeface="Verdana" panose="020B0604030504040204" pitchFamily="34" charset="0"/>
                        <a:ea typeface="Verdana" panose="020B0604030504040204" pitchFamily="34" charset="0"/>
                        <a:cs typeface="+mn-cs"/>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2478591327"/>
                  </a:ext>
                </a:extLst>
              </a:tr>
              <a:tr h="742393">
                <a:tc vMerge="1">
                  <a:txBody>
                    <a:bodyPr/>
                    <a:lstStyle/>
                    <a:p>
                      <a:pPr marL="0" indent="0" algn="ctr" defTabSz="914400" rtl="0" eaLnBrk="1" fontAlgn="ctr" latinLnBrk="0" hangingPunct="1">
                        <a:buFont typeface="+mj-lt"/>
                        <a:buNone/>
                      </a:pPr>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l" fontAlgn="b"/>
                      <a:r>
                        <a:rPr lang="en-US" sz="1000" b="0" i="0" u="none" strike="noStrike" dirty="0">
                          <a:solidFill>
                            <a:srgbClr val="000000"/>
                          </a:solidFill>
                          <a:effectLst/>
                          <a:latin typeface="Verdana" panose="020B0604030504040204" pitchFamily="34" charset="0"/>
                          <a:ea typeface="Verdana" panose="020B0604030504040204" pitchFamily="34" charset="0"/>
                        </a:rPr>
                        <a:t>Overall provisioning levels – Month-end ECL reconciliation</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Proper reconciliation between model output through GL is in place and same is included in monthly MIS and quarterly overlay memo tabled in credit provision committee meeting.</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ctr" defTabSz="914400" rtl="0" eaLnBrk="1" fontAlgn="ctr" latinLnBrk="0" hangingPunct="1"/>
                      <a:r>
                        <a:rPr lang="en-GB" sz="1000" b="1" i="0" u="none" strike="noStrike" kern="1200" dirty="0">
                          <a:solidFill>
                            <a:srgbClr val="000000"/>
                          </a:solidFill>
                          <a:effectLst/>
                          <a:latin typeface="Verdana"/>
                          <a:ea typeface="Verdana"/>
                          <a:cs typeface="Verdana" panose="020B0604030504040204" pitchFamily="34" charset="0"/>
                        </a:rPr>
                        <a:t>Jaffer Nini</a:t>
                      </a:r>
                      <a:endParaRPr lang="en-GB" sz="1000" b="0" i="0" u="none" strike="noStrike" kern="1200" dirty="0">
                        <a:solidFill>
                          <a:srgbClr val="000000"/>
                        </a:solidFill>
                        <a:effectLst/>
                        <a:latin typeface="Verdana"/>
                        <a:ea typeface="Verdana"/>
                        <a:cs typeface="Verdana" panose="020B0604030504040204" pitchFamily="34" charset="0"/>
                      </a:endParaRPr>
                    </a:p>
                    <a:p>
                      <a:pPr marL="0" indent="0" algn="ctr" defTabSz="914400" rtl="0" eaLnBrk="1" fontAlgn="ctr" latinLnBrk="0" hangingPunct="1"/>
                      <a:r>
                        <a:rPr lang="en-GB" sz="1000" b="0" i="0" u="none" strike="noStrike" kern="1200" dirty="0">
                          <a:solidFill>
                            <a:srgbClr val="000000"/>
                          </a:solidFill>
                          <a:effectLst/>
                          <a:latin typeface="Verdana"/>
                          <a:ea typeface="Verdana"/>
                          <a:cs typeface="Verdana" panose="020B0604030504040204" pitchFamily="34" charset="0"/>
                        </a:rPr>
                        <a:t>Group Chief Financial Officer</a:t>
                      </a:r>
                    </a:p>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31-Dec-25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just"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Proper reconciliation between model output through GL is in place and same is included in monthly MIS and quarterly overlay memo tabled in credit provision committee meeting. No action pending from Finance.</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2089020985"/>
                  </a:ext>
                </a:extLst>
              </a:tr>
              <a:tr h="742393">
                <a:tc rowSpan="2">
                  <a:txBody>
                    <a:bodyPr/>
                    <a:lstStyle/>
                    <a:p>
                      <a:pPr marL="0" indent="0" algn="ctr" defTabSz="914400" rtl="0" eaLnBrk="1" fontAlgn="ctr" latinLnBrk="0" hangingPunct="1">
                        <a:buFont typeface="+mj-lt"/>
                        <a:buNone/>
                      </a:pPr>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6.</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rowSpan="2">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Verdana" panose="020B0604030504040204" pitchFamily="34" charset="0"/>
                          <a:ea typeface="Verdana" panose="020B0604030504040204" pitchFamily="34" charset="0"/>
                        </a:rPr>
                        <a:t>6. </a:t>
                      </a:r>
                      <a:r>
                        <a:rPr lang="en-US" sz="1000" b="0" i="0" u="none" strike="noStrike" dirty="0" err="1">
                          <a:solidFill>
                            <a:srgbClr val="000000"/>
                          </a:solidFill>
                          <a:effectLst/>
                          <a:latin typeface="Verdana" panose="020B0604030504040204" pitchFamily="34" charset="0"/>
                          <a:ea typeface="Verdana" panose="020B0604030504040204" pitchFamily="34" charset="0"/>
                        </a:rPr>
                        <a:t>Protego</a:t>
                      </a:r>
                      <a:r>
                        <a:rPr lang="en-US" sz="1000" b="0" i="0" u="none" strike="noStrike" dirty="0">
                          <a:solidFill>
                            <a:srgbClr val="000000"/>
                          </a:solidFill>
                          <a:effectLst/>
                          <a:latin typeface="Verdana" panose="020B0604030504040204" pitchFamily="34" charset="0"/>
                          <a:ea typeface="Verdana" panose="020B0604030504040204" pitchFamily="34" charset="0"/>
                        </a:rPr>
                        <a:t> Insurance Brokers L.L.C.</a:t>
                      </a:r>
                    </a:p>
                    <a:p>
                      <a:pPr algn="l"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dirty="0">
                          <a:solidFill>
                            <a:srgbClr val="000000"/>
                          </a:solidFill>
                          <a:effectLst/>
                          <a:latin typeface="Verdana" panose="020B0604030504040204" pitchFamily="34" charset="0"/>
                          <a:ea typeface="Verdana" panose="020B0604030504040204" pitchFamily="34" charset="0"/>
                        </a:rPr>
                        <a:t>Management will have the recon process automated by implementing the new system by end of 2026.</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rowSpan="2">
                  <a:txBody>
                    <a:bodyPr/>
                    <a:lstStyle/>
                    <a:p>
                      <a:pPr marL="0" indent="0" algn="ctr" defTabSz="914400" rtl="0" eaLnBrk="1" fontAlgn="ctr" latinLnBrk="0" hangingPunct="1"/>
                      <a:r>
                        <a:rPr lang="en-US" sz="1000" b="1"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Shehzad Hameed</a:t>
                      </a: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Managing Director Retail Banking</a:t>
                      </a:r>
                    </a:p>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31-Dec-26</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Verdana" panose="020B0604030504040204" pitchFamily="34" charset="0"/>
                          <a:ea typeface="Verdana" panose="020B0604030504040204" pitchFamily="34" charset="0"/>
                        </a:rPr>
                        <a:t>Core Broking System (</a:t>
                      </a:r>
                      <a:r>
                        <a:rPr lang="en-US" sz="1000" b="0" i="0" u="none" strike="noStrike" dirty="0" err="1">
                          <a:solidFill>
                            <a:srgbClr val="000000"/>
                          </a:solidFill>
                          <a:effectLst/>
                          <a:latin typeface="Verdana" panose="020B0604030504040204" pitchFamily="34" charset="0"/>
                          <a:ea typeface="Verdana" panose="020B0604030504040204" pitchFamily="34" charset="0"/>
                        </a:rPr>
                        <a:t>Praktora</a:t>
                      </a:r>
                      <a:r>
                        <a:rPr lang="en-US" sz="1000" b="0" i="0" u="none" strike="noStrike" dirty="0">
                          <a:solidFill>
                            <a:srgbClr val="000000"/>
                          </a:solidFill>
                          <a:effectLst/>
                          <a:latin typeface="Verdana" panose="020B0604030504040204" pitchFamily="34" charset="0"/>
                          <a:ea typeface="Verdana" panose="020B0604030504040204" pitchFamily="34" charset="0"/>
                        </a:rPr>
                        <a:t>) is under vendor assessment stage and shall be implemented early next year. </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1758877254"/>
                  </a:ext>
                </a:extLst>
              </a:tr>
              <a:tr h="742393">
                <a:tc vMerge="1">
                  <a:txBody>
                    <a:bodyPr/>
                    <a:lstStyle/>
                    <a:p>
                      <a:pPr marL="0" indent="0" algn="ctr" defTabSz="914400" rtl="0" eaLnBrk="1" fontAlgn="ctr" latinLnBrk="0" hangingPunct="1">
                        <a:buFont typeface="+mj-lt"/>
                        <a:buNone/>
                      </a:pPr>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vMerge="1">
                  <a:txBody>
                    <a:bodyPr/>
                    <a:lstStyle/>
                    <a:p>
                      <a:pPr algn="l"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Manual reconciliation process is performed by CFU team which has been improvised by </a:t>
                      </a:r>
                      <a:r>
                        <a:rPr lang="en-US" sz="1000" b="0" i="0" u="none" strike="noStrike" kern="1200" dirty="0" err="1">
                          <a:solidFill>
                            <a:srgbClr val="000000"/>
                          </a:solidFill>
                          <a:effectLst/>
                          <a:latin typeface="Verdana" panose="020B0604030504040204" pitchFamily="34" charset="0"/>
                          <a:ea typeface="Verdana" panose="020B0604030504040204" pitchFamily="34" charset="0"/>
                          <a:cs typeface="+mn-cs"/>
                        </a:rPr>
                        <a:t>standardising</a:t>
                      </a:r>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 the reconciliation templates.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vMerge="1">
                  <a:txBody>
                    <a:bodyPr/>
                    <a:lstStyle/>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Verdana" panose="020B0604030504040204" pitchFamily="34" charset="0"/>
                          <a:ea typeface="Verdana" panose="020B0604030504040204" pitchFamily="34" charset="0"/>
                        </a:rPr>
                        <a:t>As a tactical solution, CFU team have enhanced the manual reconciliation format and process to mitigate associated risks and improve the turnaround time (TAT).</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2724639744"/>
                  </a:ext>
                </a:extLst>
              </a:tr>
              <a:tr h="742393">
                <a:tc>
                  <a:txBody>
                    <a:bodyPr/>
                    <a:lstStyle/>
                    <a:p>
                      <a:pPr marL="0" indent="0" algn="ctr" defTabSz="914400" rtl="0" eaLnBrk="1" fontAlgn="ctr" latinLnBrk="0" hangingPunct="1">
                        <a:buFont typeface="+mj-lt"/>
                        <a:buNone/>
                      </a:pPr>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7.</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l" fontAlgn="b"/>
                      <a:r>
                        <a:rPr lang="en-US" sz="1000" b="0" i="0" u="none" strike="noStrike" dirty="0">
                          <a:solidFill>
                            <a:srgbClr val="000000"/>
                          </a:solidFill>
                          <a:effectLst/>
                          <a:latin typeface="Verdana" panose="020B0604030504040204" pitchFamily="34" charset="0"/>
                          <a:ea typeface="Verdana" panose="020B0604030504040204" pitchFamily="34" charset="0"/>
                        </a:rPr>
                        <a:t>7. Financial statement manual preparation</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fontAlgn="b"/>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Management has process notes to manage inherent risk as a temporary measure while planning for a more </a:t>
                      </a:r>
                    </a:p>
                    <a:p>
                      <a:pPr algn="just" fontAlgn="b"/>
                      <a:r>
                        <a:rPr lang="en-US" sz="1000" b="0" i="0" u="none" strike="noStrike" kern="1200" dirty="0">
                          <a:solidFill>
                            <a:srgbClr val="000000"/>
                          </a:solidFill>
                          <a:effectLst/>
                          <a:latin typeface="Verdana" panose="020B0604030504040204" pitchFamily="34" charset="0"/>
                          <a:ea typeface="Verdana" panose="020B0604030504040204" pitchFamily="34" charset="0"/>
                          <a:cs typeface="+mn-cs"/>
                        </a:rPr>
                        <a:t>permanent solution around automation of the financial statement preparation through implementation of ERP solution</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indent="0" algn="ctr" defTabSz="914400" rtl="0" eaLnBrk="1" fontAlgn="ctr" latinLnBrk="0" hangingPunct="1"/>
                      <a:r>
                        <a:rPr lang="en-GB" sz="1000" b="1" i="0" u="none" strike="noStrike" kern="1200" dirty="0">
                          <a:solidFill>
                            <a:srgbClr val="000000"/>
                          </a:solidFill>
                          <a:effectLst/>
                          <a:latin typeface="Verdana"/>
                          <a:ea typeface="Verdana"/>
                          <a:cs typeface="Verdana" panose="020B0604030504040204" pitchFamily="34" charset="0"/>
                        </a:rPr>
                        <a:t>Jaffer Nini</a:t>
                      </a:r>
                      <a:endParaRPr lang="en-GB" sz="1000" b="0" i="0" u="none" strike="noStrike" kern="1200" dirty="0">
                        <a:solidFill>
                          <a:srgbClr val="000000"/>
                        </a:solidFill>
                        <a:effectLst/>
                        <a:latin typeface="Verdana"/>
                        <a:ea typeface="Verdana"/>
                        <a:cs typeface="Verdana" panose="020B0604030504040204" pitchFamily="34" charset="0"/>
                      </a:endParaRPr>
                    </a:p>
                    <a:p>
                      <a:pPr marL="0" indent="0" algn="ctr" defTabSz="914400" rtl="0" eaLnBrk="1" fontAlgn="ctr" latinLnBrk="0" hangingPunct="1"/>
                      <a:r>
                        <a:rPr lang="en-GB" sz="1000" b="0" i="0" u="none" strike="noStrike" kern="1200" dirty="0">
                          <a:solidFill>
                            <a:srgbClr val="000000"/>
                          </a:solidFill>
                          <a:effectLst/>
                          <a:latin typeface="Verdana"/>
                          <a:ea typeface="Verdana"/>
                          <a:cs typeface="Verdana" panose="020B0604030504040204" pitchFamily="34" charset="0"/>
                        </a:rPr>
                        <a:t>Group Chief Financial Officer</a:t>
                      </a:r>
                    </a:p>
                    <a:p>
                      <a:pPr marL="0" indent="0" algn="ctr" defTabSz="914400" rtl="0" eaLnBrk="1" fontAlgn="ctr" latinLnBrk="0" hangingPunct="1"/>
                      <a:endPar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indent="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31-Dec-25</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Verdana" panose="020B0604030504040204" pitchFamily="34" charset="0"/>
                          <a:ea typeface="Verdana" panose="020B0604030504040204" pitchFamily="34" charset="0"/>
                        </a:rPr>
                        <a:t>Management has process notes to manage inherent risk as a temporary measure while planning for a more permanent solution around automation of the financial statement preparation through implementation of ERP solution.</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1555200968"/>
                  </a:ext>
                </a:extLst>
              </a:tr>
            </a:tbl>
          </a:graphicData>
        </a:graphic>
      </p:graphicFrame>
      <p:sp>
        <p:nvSpPr>
          <p:cNvPr id="8" name="Title 1"/>
          <p:cNvSpPr txBox="1">
            <a:spLocks/>
          </p:cNvSpPr>
          <p:nvPr/>
        </p:nvSpPr>
        <p:spPr>
          <a:xfrm>
            <a:off x="0" y="1"/>
            <a:ext cx="12192000" cy="625476"/>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a:defRPr/>
            </a:pPr>
            <a:r>
              <a:rPr lang="en-US" sz="2000" b="1" kern="0" dirty="0">
                <a:solidFill>
                  <a:srgbClr val="FFFFFF"/>
                </a:solidFill>
                <a:latin typeface="Verdana" panose="020B0604030504040204" pitchFamily="34" charset="0"/>
                <a:ea typeface="Verdana" panose="020B0604030504040204" pitchFamily="34" charset="0"/>
              </a:rPr>
              <a:t>     </a:t>
            </a:r>
            <a:r>
              <a:rPr lang="en-US" sz="2000" kern="0" dirty="0">
                <a:solidFill>
                  <a:srgbClr val="FFFFFF"/>
                </a:solidFill>
                <a:latin typeface="Verdana" panose="020B0604030504040204" pitchFamily="34" charset="0"/>
                <a:ea typeface="Verdana" panose="020B0604030504040204" pitchFamily="34" charset="0"/>
              </a:rPr>
              <a:t>Details of Open PWC Management Letter Actions - 2024</a:t>
            </a:r>
            <a:endParaRPr lang="en-GB" sz="2000" kern="0" dirty="0">
              <a:solidFill>
                <a:srgbClr val="FFFFFF"/>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84942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7FC5D-2E05-3E90-5B0F-946EA0FD984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A18187-C67F-339D-34CC-BB43BA3A24AE}"/>
              </a:ext>
            </a:extLst>
          </p:cNvPr>
          <p:cNvSpPr/>
          <p:nvPr/>
        </p:nvSpPr>
        <p:spPr bwMode="auto">
          <a:xfrm>
            <a:off x="8229600" y="457200"/>
            <a:ext cx="3200400" cy="1066800"/>
          </a:xfrm>
          <a:prstGeom prst="rect">
            <a:avLst/>
          </a:prstGeom>
          <a:solidFill>
            <a:srgbClr val="ED1D24"/>
          </a:solidFill>
          <a:ln w="9525" cap="flat" cmpd="sng" algn="ctr">
            <a:solidFill>
              <a:srgbClr val="ED1D2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p:txBody>
      </p:sp>
      <p:sp>
        <p:nvSpPr>
          <p:cNvPr id="5" name="Title 4">
            <a:extLst>
              <a:ext uri="{FF2B5EF4-FFF2-40B4-BE49-F238E27FC236}">
                <a16:creationId xmlns:a16="http://schemas.microsoft.com/office/drawing/2014/main" id="{148C5D9E-432D-47EF-A3EC-DFDE97BC58B6}"/>
              </a:ext>
            </a:extLst>
          </p:cNvPr>
          <p:cNvSpPr>
            <a:spLocks noGrp="1"/>
          </p:cNvSpPr>
          <p:nvPr>
            <p:ph type="ctrTitle"/>
          </p:nvPr>
        </p:nvSpPr>
        <p:spPr/>
        <p:txBody>
          <a:bodyPr/>
          <a:lstStyle/>
          <a:p>
            <a:r>
              <a:rPr lang="en-US" sz="2000" dirty="0">
                <a:latin typeface="Verdana" panose="020B0604030504040204" pitchFamily="34" charset="0"/>
                <a:ea typeface="Verdana" panose="020B0604030504040204" pitchFamily="34" charset="0"/>
                <a:cs typeface="Verdana" panose="020B0604030504040204" pitchFamily="34" charset="0"/>
              </a:rPr>
              <a:t>RAKBANK GROUP</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Open Management Actions Summary - Update</a:t>
            </a:r>
            <a:br>
              <a:rPr lang="en-US" sz="2000" b="0" dirty="0">
                <a:latin typeface="Verdana" panose="020B0604030504040204" pitchFamily="34" charset="0"/>
                <a:ea typeface="Verdana" panose="020B0604030504040204" pitchFamily="34" charset="0"/>
                <a:cs typeface="Verdana" panose="020B0604030504040204" pitchFamily="34" charset="0"/>
              </a:rPr>
            </a:br>
            <a:endParaRPr lang="en-US" sz="2000" b="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a:extLst>
              <a:ext uri="{FF2B5EF4-FFF2-40B4-BE49-F238E27FC236}">
                <a16:creationId xmlns:a16="http://schemas.microsoft.com/office/drawing/2014/main" id="{FB60866E-5BD6-F202-FF14-FE548C73E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0233" y="457200"/>
            <a:ext cx="3114134" cy="903099"/>
          </a:xfrm>
          <a:prstGeom prst="rect">
            <a:avLst/>
          </a:prstGeom>
        </p:spPr>
      </p:pic>
      <p:sp>
        <p:nvSpPr>
          <p:cNvPr id="6" name="Slide Number Placeholder 5">
            <a:extLst>
              <a:ext uri="{FF2B5EF4-FFF2-40B4-BE49-F238E27FC236}">
                <a16:creationId xmlns:a16="http://schemas.microsoft.com/office/drawing/2014/main" id="{9119AE19-B8F4-0B44-12BB-64E70DAC8788}"/>
              </a:ext>
            </a:extLst>
          </p:cNvPr>
          <p:cNvSpPr>
            <a:spLocks noGrp="1"/>
          </p:cNvSpPr>
          <p:nvPr>
            <p:ph type="sldNum" sz="quarter" idx="12"/>
          </p:nvPr>
        </p:nvSpPr>
        <p:spPr/>
        <p:txBody>
          <a:bodyPr/>
          <a:lstStyle/>
          <a:p>
            <a:fld id="{B3CE4FC1-9BFD-4D71-B62C-EB069A42157A}" type="slidenum">
              <a:rPr lang="en-US" smtClean="0">
                <a:solidFill>
                  <a:srgbClr val="FFFFFF"/>
                </a:solidFill>
              </a:rPr>
              <a:pPr/>
              <a:t>7</a:t>
            </a:fld>
            <a:endParaRPr lang="en-US">
              <a:solidFill>
                <a:srgbClr val="FFFFFF"/>
              </a:solidFill>
            </a:endParaRPr>
          </a:p>
        </p:txBody>
      </p:sp>
    </p:spTree>
    <p:extLst>
      <p:ext uri="{BB962C8B-B14F-4D97-AF65-F5344CB8AC3E}">
        <p14:creationId xmlns:p14="http://schemas.microsoft.com/office/powerpoint/2010/main" val="3947209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A28275C-83E2-03EC-4A47-457A66A4A7E5}"/>
              </a:ext>
            </a:extLst>
          </p:cNvPr>
          <p:cNvPicPr>
            <a:picLocks noChangeAspect="1"/>
          </p:cNvPicPr>
          <p:nvPr/>
        </p:nvPicPr>
        <p:blipFill>
          <a:blip r:embed="rId3"/>
          <a:stretch>
            <a:fillRect/>
          </a:stretch>
        </p:blipFill>
        <p:spPr>
          <a:xfrm>
            <a:off x="454344" y="776176"/>
            <a:ext cx="11283312" cy="5644717"/>
          </a:xfrm>
          <a:prstGeom prst="rect">
            <a:avLst/>
          </a:prstGeom>
        </p:spPr>
      </p:pic>
      <p:sp>
        <p:nvSpPr>
          <p:cNvPr id="9" name="Title 1"/>
          <p:cNvSpPr>
            <a:spLocks noGrp="1"/>
          </p:cNvSpPr>
          <p:nvPr>
            <p:ph type="title"/>
          </p:nvPr>
        </p:nvSpPr>
        <p:spPr>
          <a:xfrm>
            <a:off x="0" y="1"/>
            <a:ext cx="12192000" cy="614750"/>
          </a:xfrm>
        </p:spPr>
        <p:txBody>
          <a:bodyPr anchor="ctr"/>
          <a:lstStyle/>
          <a:p>
            <a:r>
              <a:rPr lang="en-US" sz="2000" b="1" dirty="0">
                <a:latin typeface="Verdana" panose="020B0604030504040204" pitchFamily="34" charset="0"/>
                <a:ea typeface="Verdana" panose="020B0604030504040204" pitchFamily="34" charset="0"/>
              </a:rPr>
              <a:t>    </a:t>
            </a:r>
            <a:r>
              <a:rPr lang="en-US" sz="2000" dirty="0">
                <a:latin typeface="Verdana" panose="020B0604030504040204" pitchFamily="34" charset="0"/>
                <a:ea typeface="Verdana" panose="020B0604030504040204" pitchFamily="34" charset="0"/>
              </a:rPr>
              <a:t>Open Management Actions Summary - GROUP </a:t>
            </a:r>
          </a:p>
        </p:txBody>
      </p:sp>
      <p:sp>
        <p:nvSpPr>
          <p:cNvPr id="4" name="Slide Number Placeholder 3"/>
          <p:cNvSpPr>
            <a:spLocks noGrp="1"/>
          </p:cNvSpPr>
          <p:nvPr>
            <p:ph type="sldNum" sz="quarter" idx="4"/>
          </p:nvPr>
        </p:nvSpPr>
        <p:spPr/>
        <p:txBody>
          <a:bodyPr/>
          <a:lstStyle/>
          <a:p>
            <a:pPr>
              <a:defRPr/>
            </a:pPr>
            <a:fld id="{6516E9BE-843C-4425-80E4-36155279AD5E}" type="slidenum">
              <a:rPr lang="en-GB">
                <a:latin typeface="Calibri"/>
              </a:rPr>
              <a:pPr>
                <a:defRPr/>
              </a:pPr>
              <a:t>8</a:t>
            </a:fld>
            <a:endParaRPr lang="en-GB">
              <a:latin typeface="Calibri"/>
            </a:endParaRPr>
          </a:p>
        </p:txBody>
      </p:sp>
      <p:sp>
        <p:nvSpPr>
          <p:cNvPr id="3" name="TextBox 2">
            <a:extLst>
              <a:ext uri="{FF2B5EF4-FFF2-40B4-BE49-F238E27FC236}">
                <a16:creationId xmlns:a16="http://schemas.microsoft.com/office/drawing/2014/main" id="{34F9FE98-206A-55D3-F4D7-1DC93A9B83E7}"/>
              </a:ext>
            </a:extLst>
          </p:cNvPr>
          <p:cNvSpPr txBox="1"/>
          <p:nvPr/>
        </p:nvSpPr>
        <p:spPr>
          <a:xfrm>
            <a:off x="454344" y="6068830"/>
            <a:ext cx="8524610" cy="584775"/>
          </a:xfrm>
          <a:prstGeom prst="rect">
            <a:avLst/>
          </a:prstGeom>
          <a:noFill/>
        </p:spPr>
        <p:txBody>
          <a:bodyPr wrap="square" lIns="91440" tIns="45720" rIns="91440" bIns="45720" anchor="t">
            <a:spAutoFit/>
          </a:bodyPr>
          <a:lstStyle/>
          <a:p>
            <a:pPr algn="just">
              <a:defRPr/>
            </a:pPr>
            <a:r>
              <a:rPr lang="en-US" sz="800" b="1" u="sng" dirty="0">
                <a:solidFill>
                  <a:srgbClr val="252423"/>
                </a:solidFill>
                <a:latin typeface="Verdana" panose="020B0604030504040204" pitchFamily="34" charset="0"/>
              </a:rPr>
              <a:t>Note: </a:t>
            </a:r>
            <a:r>
              <a:rPr lang="en-US" sz="800" dirty="0">
                <a:solidFill>
                  <a:srgbClr val="252423"/>
                </a:solidFill>
                <a:latin typeface="Verdana" panose="020B0604030504040204" pitchFamily="34" charset="0"/>
              </a:rPr>
              <a:t> </a:t>
            </a:r>
          </a:p>
          <a:p>
            <a:pPr marL="171450" indent="-171450" algn="just">
              <a:buFont typeface="Arial" panose="020B0604020202020204" pitchFamily="34" charset="0"/>
              <a:buChar char="•"/>
              <a:defRPr/>
            </a:pPr>
            <a:endParaRPr lang="en-US" sz="800" dirty="0">
              <a:solidFill>
                <a:srgbClr val="252423"/>
              </a:solidFill>
              <a:latin typeface="Verdana" panose="020B0604030504040204" pitchFamily="34" charset="0"/>
              <a:ea typeface="Verdana" panose="020B0604030504040204" pitchFamily="34" charset="0"/>
            </a:endParaRPr>
          </a:p>
          <a:p>
            <a:pPr marL="171450" indent="-171450" algn="just">
              <a:buFont typeface="Arial" panose="020B0604020202020204" pitchFamily="34" charset="0"/>
              <a:buChar char="•"/>
              <a:defRPr/>
            </a:pPr>
            <a:r>
              <a:rPr lang="en-US" sz="800" dirty="0">
                <a:solidFill>
                  <a:srgbClr val="252423"/>
                </a:solidFill>
                <a:latin typeface="Verdana"/>
                <a:ea typeface="Verdana"/>
                <a:cs typeface="Arial"/>
              </a:rPr>
              <a:t>RAKINSURANCE - Management actions’ summary is shared from page 12-13 of this presentation.</a:t>
            </a:r>
          </a:p>
          <a:p>
            <a:pPr marL="171450" indent="-171450" algn="just">
              <a:buFont typeface="Arial" panose="020B0604020202020204" pitchFamily="34" charset="0"/>
              <a:buChar char="•"/>
              <a:defRPr/>
            </a:pPr>
            <a:r>
              <a:rPr lang="en-US" sz="800" dirty="0" err="1">
                <a:solidFill>
                  <a:srgbClr val="252423"/>
                </a:solidFill>
                <a:latin typeface="Verdana" panose="020B0604030504040204" pitchFamily="34" charset="0"/>
                <a:ea typeface="Verdana" panose="020B0604030504040204" pitchFamily="34" charset="0"/>
              </a:rPr>
              <a:t>RAKislamic</a:t>
            </a:r>
            <a:r>
              <a:rPr lang="en-US" sz="800" dirty="0">
                <a:solidFill>
                  <a:srgbClr val="252423"/>
                </a:solidFill>
                <a:latin typeface="Verdana" panose="020B0604030504040204" pitchFamily="34" charset="0"/>
                <a:ea typeface="Verdana" panose="020B0604030504040204" pitchFamily="34" charset="0"/>
              </a:rPr>
              <a:t> - An update on the total open actions is provided under the Internal </a:t>
            </a:r>
            <a:r>
              <a:rPr lang="en-US" sz="800" dirty="0" err="1">
                <a:solidFill>
                  <a:srgbClr val="252423"/>
                </a:solidFill>
                <a:latin typeface="Verdana" panose="020B0604030504040204" pitchFamily="34" charset="0"/>
                <a:ea typeface="Verdana" panose="020B0604030504040204" pitchFamily="34" charset="0"/>
              </a:rPr>
              <a:t>Shari’ah</a:t>
            </a:r>
            <a:r>
              <a:rPr lang="en-US" sz="800" dirty="0">
                <a:solidFill>
                  <a:srgbClr val="252423"/>
                </a:solidFill>
                <a:latin typeface="Verdana" panose="020B0604030504040204" pitchFamily="34" charset="0"/>
                <a:ea typeface="Verdana" panose="020B0604030504040204" pitchFamily="34" charset="0"/>
              </a:rPr>
              <a:t> Audit Update section.</a:t>
            </a:r>
          </a:p>
        </p:txBody>
      </p:sp>
      <p:sp>
        <p:nvSpPr>
          <p:cNvPr id="7" name="TextBox 6">
            <a:extLst>
              <a:ext uri="{FF2B5EF4-FFF2-40B4-BE49-F238E27FC236}">
                <a16:creationId xmlns:a16="http://schemas.microsoft.com/office/drawing/2014/main" id="{41517FDB-D690-A8AB-76D5-83D8D8460039}"/>
              </a:ext>
            </a:extLst>
          </p:cNvPr>
          <p:cNvSpPr txBox="1"/>
          <p:nvPr/>
        </p:nvSpPr>
        <p:spPr>
          <a:xfrm rot="19590220">
            <a:off x="9065552" y="5712607"/>
            <a:ext cx="490972" cy="246221"/>
          </a:xfrm>
          <a:prstGeom prst="rect">
            <a:avLst/>
          </a:prstGeom>
          <a:solidFill>
            <a:schemeClr val="bg1"/>
          </a:solidFill>
        </p:spPr>
        <p:txBody>
          <a:bodyPr wrap="square" rtlCol="0" anchor="t">
            <a:spAutoFit/>
          </a:bodyPr>
          <a:lstStyle/>
          <a:p>
            <a:pPr algn="r"/>
            <a:r>
              <a:rPr lang="en-US" sz="1000" dirty="0">
                <a:latin typeface="Calibri" panose="020F0502020204030204" pitchFamily="34" charset="0"/>
              </a:rPr>
              <a:t>RBD</a:t>
            </a:r>
          </a:p>
        </p:txBody>
      </p:sp>
      <p:sp>
        <p:nvSpPr>
          <p:cNvPr id="14" name="TextBox 13">
            <a:extLst>
              <a:ext uri="{FF2B5EF4-FFF2-40B4-BE49-F238E27FC236}">
                <a16:creationId xmlns:a16="http://schemas.microsoft.com/office/drawing/2014/main" id="{36A390EA-EA2B-9F72-B980-91F1F7717E9A}"/>
              </a:ext>
            </a:extLst>
          </p:cNvPr>
          <p:cNvSpPr txBox="1"/>
          <p:nvPr/>
        </p:nvSpPr>
        <p:spPr>
          <a:xfrm rot="19590220">
            <a:off x="8960461" y="5853465"/>
            <a:ext cx="1040883" cy="246221"/>
          </a:xfrm>
          <a:prstGeom prst="rect">
            <a:avLst/>
          </a:prstGeom>
          <a:solidFill>
            <a:schemeClr val="bg1"/>
          </a:solidFill>
        </p:spPr>
        <p:txBody>
          <a:bodyPr wrap="square" rtlCol="0" anchor="t">
            <a:spAutoFit/>
          </a:bodyPr>
          <a:lstStyle/>
          <a:p>
            <a:pPr algn="r"/>
            <a:r>
              <a:rPr lang="en-US" sz="1000" dirty="0">
                <a:latin typeface="Calibri" panose="020F0502020204030204" pitchFamily="34" charset="0"/>
              </a:rPr>
              <a:t>RAKINSURANCE</a:t>
            </a:r>
          </a:p>
        </p:txBody>
      </p:sp>
    </p:spTree>
    <p:extLst>
      <p:ext uri="{BB962C8B-B14F-4D97-AF65-F5344CB8AC3E}">
        <p14:creationId xmlns:p14="http://schemas.microsoft.com/office/powerpoint/2010/main" val="3645710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B3FAC63-8818-0C25-2460-44E08E1B5FE9}"/>
              </a:ext>
            </a:extLst>
          </p:cNvPr>
          <p:cNvPicPr>
            <a:picLocks noChangeAspect="1"/>
          </p:cNvPicPr>
          <p:nvPr/>
        </p:nvPicPr>
        <p:blipFill>
          <a:blip r:embed="rId3"/>
          <a:stretch>
            <a:fillRect/>
          </a:stretch>
        </p:blipFill>
        <p:spPr>
          <a:xfrm>
            <a:off x="529127" y="705697"/>
            <a:ext cx="11270987" cy="5749532"/>
          </a:xfrm>
          <a:prstGeom prst="rect">
            <a:avLst/>
          </a:prstGeom>
        </p:spPr>
      </p:pic>
      <p:sp>
        <p:nvSpPr>
          <p:cNvPr id="9" name="Title 1"/>
          <p:cNvSpPr>
            <a:spLocks noGrp="1"/>
          </p:cNvSpPr>
          <p:nvPr>
            <p:ph type="title"/>
          </p:nvPr>
        </p:nvSpPr>
        <p:spPr>
          <a:xfrm>
            <a:off x="0" y="1"/>
            <a:ext cx="12192000" cy="614750"/>
          </a:xfrm>
        </p:spPr>
        <p:txBody>
          <a:bodyPr anchor="ctr"/>
          <a:lstStyle/>
          <a:p>
            <a:r>
              <a:rPr lang="en-US" sz="2000" b="1" dirty="0">
                <a:latin typeface="Verdana" panose="020B0604030504040204" pitchFamily="34" charset="0"/>
                <a:ea typeface="Verdana" panose="020B0604030504040204" pitchFamily="34" charset="0"/>
              </a:rPr>
              <a:t>    </a:t>
            </a:r>
            <a:r>
              <a:rPr lang="en-US" sz="2000" dirty="0">
                <a:latin typeface="Verdana" panose="020B0604030504040204" pitchFamily="34" charset="0"/>
                <a:ea typeface="Verdana" panose="020B0604030504040204" pitchFamily="34" charset="0"/>
              </a:rPr>
              <a:t>Open Management Actions Summary – RAKBANK </a:t>
            </a:r>
            <a:r>
              <a:rPr lang="en-US" sz="1600" dirty="0">
                <a:latin typeface="Verdana" panose="020B0604030504040204" pitchFamily="34" charset="0"/>
                <a:ea typeface="Verdana" panose="020B0604030504040204" pitchFamily="34" charset="0"/>
              </a:rPr>
              <a:t>(excluding </a:t>
            </a:r>
            <a:r>
              <a:rPr lang="en-US" sz="1600" dirty="0" err="1">
                <a:latin typeface="Verdana" panose="020B0604030504040204" pitchFamily="34" charset="0"/>
                <a:ea typeface="Verdana" panose="020B0604030504040204" pitchFamily="34" charset="0"/>
              </a:rPr>
              <a:t>RAKislamic</a:t>
            </a:r>
            <a:r>
              <a:rPr lang="en-US" sz="1600" dirty="0">
                <a:latin typeface="Verdana" panose="020B0604030504040204" pitchFamily="34" charset="0"/>
                <a:ea typeface="Verdana" panose="020B0604030504040204" pitchFamily="34" charset="0"/>
              </a:rPr>
              <a:t> &amp; RAKINSURANCE)</a:t>
            </a:r>
            <a:endParaRPr lang="en-US" sz="2000" dirty="0">
              <a:latin typeface="Verdana" panose="020B0604030504040204" pitchFamily="34" charset="0"/>
              <a:ea typeface="Verdana" panose="020B0604030504040204" pitchFamily="34" charset="0"/>
            </a:endParaRPr>
          </a:p>
        </p:txBody>
      </p:sp>
      <p:sp>
        <p:nvSpPr>
          <p:cNvPr id="4" name="Slide Number Placeholder 3"/>
          <p:cNvSpPr>
            <a:spLocks noGrp="1"/>
          </p:cNvSpPr>
          <p:nvPr>
            <p:ph type="sldNum" sz="quarter" idx="4"/>
          </p:nvPr>
        </p:nvSpPr>
        <p:spPr/>
        <p:txBody>
          <a:bodyPr/>
          <a:lstStyle/>
          <a:p>
            <a:pPr>
              <a:defRPr/>
            </a:pPr>
            <a:fld id="{6516E9BE-843C-4425-80E4-36155279AD5E}" type="slidenum">
              <a:rPr lang="en-GB">
                <a:latin typeface="Calibri"/>
              </a:rPr>
              <a:pPr>
                <a:defRPr/>
              </a:pPr>
              <a:t>9</a:t>
            </a:fld>
            <a:endParaRPr lang="en-GB">
              <a:latin typeface="Calibri"/>
            </a:endParaRPr>
          </a:p>
        </p:txBody>
      </p:sp>
      <p:sp>
        <p:nvSpPr>
          <p:cNvPr id="2" name="TextBox 1">
            <a:extLst>
              <a:ext uri="{FF2B5EF4-FFF2-40B4-BE49-F238E27FC236}">
                <a16:creationId xmlns:a16="http://schemas.microsoft.com/office/drawing/2014/main" id="{BADD7508-2109-DFED-FEE7-1390C7E01EA2}"/>
              </a:ext>
            </a:extLst>
          </p:cNvPr>
          <p:cNvSpPr txBox="1"/>
          <p:nvPr/>
        </p:nvSpPr>
        <p:spPr>
          <a:xfrm>
            <a:off x="1076779" y="4176263"/>
            <a:ext cx="490972" cy="230832"/>
          </a:xfrm>
          <a:prstGeom prst="rect">
            <a:avLst/>
          </a:prstGeom>
          <a:solidFill>
            <a:schemeClr val="bg1"/>
          </a:solidFill>
        </p:spPr>
        <p:txBody>
          <a:bodyPr wrap="square" rtlCol="0" anchor="t">
            <a:spAutoFit/>
          </a:bodyPr>
          <a:lstStyle/>
          <a:p>
            <a:pPr algn="r"/>
            <a:r>
              <a:rPr lang="en-US" sz="900" b="1" dirty="0">
                <a:latin typeface="Verdana" panose="020B0604030504040204" pitchFamily="34" charset="0"/>
                <a:ea typeface="Verdana" panose="020B0604030504040204" pitchFamily="34" charset="0"/>
              </a:rPr>
              <a:t>RBD</a:t>
            </a:r>
          </a:p>
        </p:txBody>
      </p:sp>
      <p:sp>
        <p:nvSpPr>
          <p:cNvPr id="5" name="TextBox 4">
            <a:extLst>
              <a:ext uri="{FF2B5EF4-FFF2-40B4-BE49-F238E27FC236}">
                <a16:creationId xmlns:a16="http://schemas.microsoft.com/office/drawing/2014/main" id="{E0EB1809-73C7-53C9-F120-B751586E1FD4}"/>
              </a:ext>
            </a:extLst>
          </p:cNvPr>
          <p:cNvSpPr txBox="1"/>
          <p:nvPr/>
        </p:nvSpPr>
        <p:spPr>
          <a:xfrm>
            <a:off x="9509427" y="5732795"/>
            <a:ext cx="490972" cy="230832"/>
          </a:xfrm>
          <a:prstGeom prst="rect">
            <a:avLst/>
          </a:prstGeom>
          <a:solidFill>
            <a:schemeClr val="bg1"/>
          </a:solidFill>
        </p:spPr>
        <p:txBody>
          <a:bodyPr wrap="square" rtlCol="0" anchor="t">
            <a:spAutoFit/>
          </a:bodyPr>
          <a:lstStyle/>
          <a:p>
            <a:pPr algn="r"/>
            <a:r>
              <a:rPr lang="en-US" sz="900" dirty="0">
                <a:latin typeface="Calibri" panose="020F0502020204030204" pitchFamily="34" charset="0"/>
              </a:rPr>
              <a:t>RBD</a:t>
            </a:r>
          </a:p>
        </p:txBody>
      </p:sp>
      <p:sp>
        <p:nvSpPr>
          <p:cNvPr id="11" name="TextBox 10">
            <a:extLst>
              <a:ext uri="{FF2B5EF4-FFF2-40B4-BE49-F238E27FC236}">
                <a16:creationId xmlns:a16="http://schemas.microsoft.com/office/drawing/2014/main" id="{A50EE2E2-C71D-5471-5A98-C271E0FFA7D6}"/>
              </a:ext>
            </a:extLst>
          </p:cNvPr>
          <p:cNvSpPr txBox="1"/>
          <p:nvPr/>
        </p:nvSpPr>
        <p:spPr>
          <a:xfrm>
            <a:off x="511632" y="6152303"/>
            <a:ext cx="8524610" cy="461665"/>
          </a:xfrm>
          <a:prstGeom prst="rect">
            <a:avLst/>
          </a:prstGeom>
          <a:noFill/>
        </p:spPr>
        <p:txBody>
          <a:bodyPr wrap="square" lIns="91440" tIns="45720" rIns="91440" bIns="45720" anchor="t">
            <a:spAutoFit/>
          </a:bodyPr>
          <a:lstStyle/>
          <a:p>
            <a:pPr algn="just">
              <a:defRPr/>
            </a:pPr>
            <a:r>
              <a:rPr lang="en-US" sz="800" b="1" u="sng" dirty="0">
                <a:solidFill>
                  <a:srgbClr val="252423"/>
                </a:solidFill>
                <a:latin typeface="Verdana" panose="020B0604030504040204" pitchFamily="34" charset="0"/>
              </a:rPr>
              <a:t>Note: </a:t>
            </a:r>
            <a:r>
              <a:rPr lang="en-US" sz="800" dirty="0">
                <a:solidFill>
                  <a:srgbClr val="252423"/>
                </a:solidFill>
                <a:latin typeface="Verdana" panose="020B0604030504040204" pitchFamily="34" charset="0"/>
              </a:rPr>
              <a:t> </a:t>
            </a:r>
          </a:p>
          <a:p>
            <a:pPr marL="171450" indent="-171450" algn="just">
              <a:buFont typeface="Arial" panose="020B0604020202020204" pitchFamily="34" charset="0"/>
              <a:buChar char="•"/>
              <a:defRPr/>
            </a:pPr>
            <a:endParaRPr lang="en-US" sz="800" dirty="0">
              <a:solidFill>
                <a:srgbClr val="252423"/>
              </a:solidFill>
              <a:latin typeface="Verdana" panose="020B0604030504040204" pitchFamily="34" charset="0"/>
              <a:ea typeface="Verdana" panose="020B0604030504040204" pitchFamily="34" charset="0"/>
            </a:endParaRPr>
          </a:p>
          <a:p>
            <a:pPr algn="just">
              <a:defRPr/>
            </a:pPr>
            <a:r>
              <a:rPr lang="en-US" sz="800" dirty="0">
                <a:solidFill>
                  <a:srgbClr val="252423"/>
                </a:solidFill>
                <a:latin typeface="Verdana"/>
                <a:ea typeface="Verdana"/>
                <a:cs typeface="Arial"/>
              </a:rPr>
              <a:t>The number of actions excludes those related to </a:t>
            </a:r>
            <a:r>
              <a:rPr lang="en-US" sz="800" dirty="0" err="1">
                <a:solidFill>
                  <a:srgbClr val="252423"/>
                </a:solidFill>
                <a:latin typeface="Verdana"/>
                <a:ea typeface="Verdana"/>
                <a:cs typeface="Arial"/>
              </a:rPr>
              <a:t>RAKislamic</a:t>
            </a:r>
            <a:r>
              <a:rPr lang="en-US" sz="800" dirty="0">
                <a:solidFill>
                  <a:srgbClr val="252423"/>
                </a:solidFill>
                <a:latin typeface="Verdana"/>
                <a:ea typeface="Verdana"/>
                <a:cs typeface="Arial"/>
              </a:rPr>
              <a:t> and RAKINSURANCE divisions, including actions from GIA audits</a:t>
            </a:r>
            <a:endParaRPr lang="en-US" sz="800" dirty="0">
              <a:solidFill>
                <a:srgbClr val="252423"/>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95802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050"/>
            <a:ext cx="12192000" cy="625476"/>
          </a:xfrm>
        </p:spPr>
        <p:txBody>
          <a:bodyPr anchor="ctr"/>
          <a:lstStyle/>
          <a:p>
            <a:r>
              <a:rPr lang="en-US" sz="2000" b="1" dirty="0">
                <a:latin typeface="Verdana" panose="020B0604030504040204" pitchFamily="34" charset="0"/>
                <a:ea typeface="Verdana" panose="020B0604030504040204" pitchFamily="34" charset="0"/>
              </a:rPr>
              <a:t>    </a:t>
            </a:r>
            <a:r>
              <a:rPr lang="en-US" sz="2000" dirty="0">
                <a:latin typeface="Verdana" panose="020B0604030504040204" pitchFamily="34" charset="0"/>
                <a:ea typeface="Verdana" panose="020B0604030504040204" pitchFamily="34" charset="0"/>
              </a:rPr>
              <a:t>Overdue Management Actions Summary - </a:t>
            </a:r>
            <a:r>
              <a:rPr lang="en-US" sz="1800" dirty="0">
                <a:latin typeface="Verdana" panose="020B0604030504040204" pitchFamily="34" charset="0"/>
                <a:ea typeface="Verdana" panose="020B0604030504040204" pitchFamily="34" charset="0"/>
              </a:rPr>
              <a:t>RAKBANK </a:t>
            </a:r>
            <a:r>
              <a:rPr lang="en-US" sz="1600" dirty="0">
                <a:latin typeface="Verdana" panose="020B0604030504040204" pitchFamily="34" charset="0"/>
                <a:ea typeface="Verdana" panose="020B0604030504040204" pitchFamily="34" charset="0"/>
              </a:rPr>
              <a:t>(</a:t>
            </a:r>
            <a:r>
              <a:rPr lang="en-US" sz="1500" dirty="0">
                <a:latin typeface="Verdana" panose="020B0604030504040204" pitchFamily="34" charset="0"/>
                <a:ea typeface="Verdana" panose="020B0604030504040204" pitchFamily="34" charset="0"/>
              </a:rPr>
              <a:t>excl. </a:t>
            </a:r>
            <a:r>
              <a:rPr lang="en-US" sz="1500" dirty="0" err="1">
                <a:latin typeface="Verdana" panose="020B0604030504040204" pitchFamily="34" charset="0"/>
                <a:ea typeface="Verdana" panose="020B0604030504040204" pitchFamily="34" charset="0"/>
              </a:rPr>
              <a:t>RAKislamic</a:t>
            </a:r>
            <a:r>
              <a:rPr lang="en-US" sz="1500" dirty="0">
                <a:latin typeface="Verdana" panose="020B0604030504040204" pitchFamily="34" charset="0"/>
                <a:ea typeface="Verdana" panose="020B0604030504040204" pitchFamily="34" charset="0"/>
              </a:rPr>
              <a:t> &amp; RAKINSURANCE</a:t>
            </a:r>
            <a:r>
              <a:rPr lang="en-US" sz="1600" dirty="0">
                <a:latin typeface="Verdana" panose="020B0604030504040204" pitchFamily="34" charset="0"/>
                <a:ea typeface="Verdana" panose="020B0604030504040204" pitchFamily="34" charset="0"/>
              </a:rPr>
              <a:t>)</a:t>
            </a:r>
          </a:p>
        </p:txBody>
      </p:sp>
      <p:sp>
        <p:nvSpPr>
          <p:cNvPr id="3" name="Slide Number Placeholder 2">
            <a:extLst>
              <a:ext uri="{FF2B5EF4-FFF2-40B4-BE49-F238E27FC236}">
                <a16:creationId xmlns:a16="http://schemas.microsoft.com/office/drawing/2014/main" id="{BB7808D0-9E5A-901A-DB9C-636E9EF04311}"/>
              </a:ext>
            </a:extLst>
          </p:cNvPr>
          <p:cNvSpPr>
            <a:spLocks noGrp="1"/>
          </p:cNvSpPr>
          <p:nvPr>
            <p:ph type="sldNum" sz="quarter" idx="4"/>
          </p:nvPr>
        </p:nvSpPr>
        <p:spPr/>
        <p:txBody>
          <a:bodyPr/>
          <a:lstStyle/>
          <a:p>
            <a:pPr>
              <a:defRPr/>
            </a:pPr>
            <a:fld id="{6516E9BE-843C-4425-80E4-36155279AD5E}" type="slidenum">
              <a:rPr lang="en-GB" smtClean="0"/>
              <a:pPr>
                <a:defRPr/>
              </a:pPr>
              <a:t>10</a:t>
            </a:fld>
            <a:endParaRPr lang="en-GB"/>
          </a:p>
        </p:txBody>
      </p:sp>
      <p:sp>
        <p:nvSpPr>
          <p:cNvPr id="6" name="TextBox 5">
            <a:extLst>
              <a:ext uri="{FF2B5EF4-FFF2-40B4-BE49-F238E27FC236}">
                <a16:creationId xmlns:a16="http://schemas.microsoft.com/office/drawing/2014/main" id="{857FE9DD-F0EE-2BAF-71B2-C5EFC1D4386B}"/>
              </a:ext>
            </a:extLst>
          </p:cNvPr>
          <p:cNvSpPr txBox="1"/>
          <p:nvPr/>
        </p:nvSpPr>
        <p:spPr>
          <a:xfrm>
            <a:off x="1083605" y="4499113"/>
            <a:ext cx="679508" cy="253916"/>
          </a:xfrm>
          <a:prstGeom prst="rect">
            <a:avLst/>
          </a:prstGeom>
          <a:solidFill>
            <a:schemeClr val="bg1"/>
          </a:solidFill>
        </p:spPr>
        <p:txBody>
          <a:bodyPr wrap="square" lIns="91440" tIns="45720" rIns="91440" bIns="45720" rtlCol="0" anchor="t">
            <a:spAutoFit/>
          </a:bodyPr>
          <a:lstStyle/>
          <a:p>
            <a:pPr algn="r"/>
            <a:r>
              <a:rPr lang="en-US" sz="1050" b="1" dirty="0">
                <a:latin typeface="Verdana"/>
                <a:ea typeface="Calibri"/>
                <a:cs typeface="Arial"/>
              </a:rPr>
              <a:t>RBD</a:t>
            </a:r>
          </a:p>
        </p:txBody>
      </p:sp>
      <p:sp>
        <p:nvSpPr>
          <p:cNvPr id="5" name="TextBox 4">
            <a:extLst>
              <a:ext uri="{FF2B5EF4-FFF2-40B4-BE49-F238E27FC236}">
                <a16:creationId xmlns:a16="http://schemas.microsoft.com/office/drawing/2014/main" id="{A7EFB550-AE92-076B-B2EB-808F93F57EA8}"/>
              </a:ext>
            </a:extLst>
          </p:cNvPr>
          <p:cNvSpPr txBox="1"/>
          <p:nvPr/>
        </p:nvSpPr>
        <p:spPr>
          <a:xfrm>
            <a:off x="2098222" y="2993541"/>
            <a:ext cx="329293" cy="246221"/>
          </a:xfrm>
          <a:prstGeom prst="rect">
            <a:avLst/>
          </a:prstGeom>
          <a:noFill/>
        </p:spPr>
        <p:txBody>
          <a:bodyPr wrap="square">
            <a:spAutoFit/>
          </a:bodyPr>
          <a:lstStyle/>
          <a:p>
            <a:r>
              <a:rPr lang="en-US" sz="1000" b="1" dirty="0">
                <a:solidFill>
                  <a:schemeClr val="bg1"/>
                </a:solidFill>
                <a:effectLst/>
                <a:latin typeface="Segoe UI" panose="020B0502040204020203" pitchFamily="34" charset="0"/>
                <a:ea typeface="Verdana" panose="020B0604030504040204" pitchFamily="34" charset="0"/>
                <a:cs typeface="Segoe UI" panose="020B0502040204020203" pitchFamily="34" charset="0"/>
              </a:rPr>
              <a:t>*</a:t>
            </a:r>
            <a:r>
              <a:rPr lang="en-US" sz="800" b="1" dirty="0">
                <a:solidFill>
                  <a:schemeClr val="bg1"/>
                </a:solidFill>
                <a:effectLst/>
                <a:latin typeface="Segoe UI" panose="020B0502040204020203" pitchFamily="34" charset="0"/>
                <a:ea typeface="Verdana" panose="020B0604030504040204" pitchFamily="34" charset="0"/>
                <a:cs typeface="Segoe UI" panose="020B0502040204020203" pitchFamily="34" charset="0"/>
              </a:rPr>
              <a:t> </a:t>
            </a:r>
            <a:endParaRPr lang="en-US" b="1" dirty="0">
              <a:solidFill>
                <a:schemeClr val="bg1"/>
              </a:solidFill>
            </a:endParaRPr>
          </a:p>
        </p:txBody>
      </p:sp>
      <p:pic>
        <p:nvPicPr>
          <p:cNvPr id="10" name="Picture 9">
            <a:extLst>
              <a:ext uri="{FF2B5EF4-FFF2-40B4-BE49-F238E27FC236}">
                <a16:creationId xmlns:a16="http://schemas.microsoft.com/office/drawing/2014/main" id="{E44A0FAB-63A4-4A16-40DB-8940E1C3B8AB}"/>
              </a:ext>
            </a:extLst>
          </p:cNvPr>
          <p:cNvPicPr>
            <a:picLocks noChangeAspect="1"/>
          </p:cNvPicPr>
          <p:nvPr/>
        </p:nvPicPr>
        <p:blipFill>
          <a:blip r:embed="rId2"/>
          <a:stretch>
            <a:fillRect/>
          </a:stretch>
        </p:blipFill>
        <p:spPr>
          <a:xfrm>
            <a:off x="421181" y="718458"/>
            <a:ext cx="11400706" cy="5759598"/>
          </a:xfrm>
          <a:prstGeom prst="rect">
            <a:avLst/>
          </a:prstGeom>
        </p:spPr>
      </p:pic>
      <p:sp>
        <p:nvSpPr>
          <p:cNvPr id="11" name="TextBox 10">
            <a:extLst>
              <a:ext uri="{FF2B5EF4-FFF2-40B4-BE49-F238E27FC236}">
                <a16:creationId xmlns:a16="http://schemas.microsoft.com/office/drawing/2014/main" id="{4F2FBFDB-4CD5-482C-92C2-B006550B0CF9}"/>
              </a:ext>
            </a:extLst>
          </p:cNvPr>
          <p:cNvSpPr txBox="1"/>
          <p:nvPr/>
        </p:nvSpPr>
        <p:spPr>
          <a:xfrm>
            <a:off x="674917" y="6093117"/>
            <a:ext cx="8524610" cy="461665"/>
          </a:xfrm>
          <a:prstGeom prst="rect">
            <a:avLst/>
          </a:prstGeom>
          <a:noFill/>
        </p:spPr>
        <p:txBody>
          <a:bodyPr wrap="square" lIns="91440" tIns="45720" rIns="91440" bIns="45720" anchor="t">
            <a:spAutoFit/>
          </a:bodyPr>
          <a:lstStyle/>
          <a:p>
            <a:pPr algn="just">
              <a:defRPr/>
            </a:pPr>
            <a:r>
              <a:rPr lang="en-US" sz="800" b="1" u="sng" dirty="0">
                <a:solidFill>
                  <a:srgbClr val="252423"/>
                </a:solidFill>
                <a:latin typeface="Verdana" panose="020B0604030504040204" pitchFamily="34" charset="0"/>
              </a:rPr>
              <a:t>Note: </a:t>
            </a:r>
            <a:r>
              <a:rPr lang="en-US" sz="800" dirty="0">
                <a:solidFill>
                  <a:srgbClr val="252423"/>
                </a:solidFill>
                <a:latin typeface="Verdana" panose="020B0604030504040204" pitchFamily="34" charset="0"/>
              </a:rPr>
              <a:t> </a:t>
            </a:r>
          </a:p>
          <a:p>
            <a:pPr marL="171450" indent="-171450" algn="just">
              <a:buFont typeface="Arial" panose="020B0604020202020204" pitchFamily="34" charset="0"/>
              <a:buChar char="•"/>
              <a:defRPr/>
            </a:pPr>
            <a:endParaRPr lang="en-US" sz="800" dirty="0">
              <a:solidFill>
                <a:srgbClr val="252423"/>
              </a:solidFill>
              <a:latin typeface="Verdana" panose="020B0604030504040204" pitchFamily="34" charset="0"/>
              <a:ea typeface="Verdana" panose="020B0604030504040204" pitchFamily="34" charset="0"/>
            </a:endParaRPr>
          </a:p>
          <a:p>
            <a:pPr algn="just">
              <a:defRPr/>
            </a:pPr>
            <a:r>
              <a:rPr lang="en-US" sz="800" dirty="0">
                <a:solidFill>
                  <a:srgbClr val="252423"/>
                </a:solidFill>
                <a:latin typeface="Verdana"/>
                <a:ea typeface="Verdana"/>
                <a:cs typeface="Arial"/>
              </a:rPr>
              <a:t>The number of actions excludes those related to </a:t>
            </a:r>
            <a:r>
              <a:rPr lang="en-US" sz="800" dirty="0" err="1">
                <a:solidFill>
                  <a:srgbClr val="252423"/>
                </a:solidFill>
                <a:latin typeface="Verdana"/>
                <a:ea typeface="Verdana"/>
                <a:cs typeface="Arial"/>
              </a:rPr>
              <a:t>RAKislamic</a:t>
            </a:r>
            <a:r>
              <a:rPr lang="en-US" sz="800" dirty="0">
                <a:solidFill>
                  <a:srgbClr val="252423"/>
                </a:solidFill>
                <a:latin typeface="Verdana"/>
                <a:ea typeface="Verdana"/>
                <a:cs typeface="Arial"/>
              </a:rPr>
              <a:t> and RAKINSURANCE divisions, including actions from GIA audits</a:t>
            </a:r>
            <a:endParaRPr lang="en-US" sz="800" dirty="0">
              <a:solidFill>
                <a:srgbClr val="252423"/>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801157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625476"/>
          </a:xfrm>
        </p:spPr>
        <p:txBody>
          <a:bodyPr anchor="ctr"/>
          <a:lstStyle/>
          <a:p>
            <a:r>
              <a:rPr lang="en-US" sz="2000" b="1" dirty="0">
                <a:latin typeface="Verdana" panose="020B0604030504040204" pitchFamily="34" charset="0"/>
                <a:ea typeface="Verdana" panose="020B0604030504040204" pitchFamily="34" charset="0"/>
              </a:rPr>
              <a:t>    </a:t>
            </a:r>
            <a:r>
              <a:rPr lang="en-US" sz="2000" dirty="0">
                <a:latin typeface="Verdana" panose="020B0604030504040204" pitchFamily="34" charset="0"/>
                <a:ea typeface="Verdana" panose="020B0604030504040204" pitchFamily="34" charset="0"/>
              </a:rPr>
              <a:t>Open Management Actions Overview (Quarter-wise) - GROUP</a:t>
            </a:r>
          </a:p>
        </p:txBody>
      </p:sp>
      <p:sp>
        <p:nvSpPr>
          <p:cNvPr id="3" name="Slide Number Placeholder 2">
            <a:extLst>
              <a:ext uri="{FF2B5EF4-FFF2-40B4-BE49-F238E27FC236}">
                <a16:creationId xmlns:a16="http://schemas.microsoft.com/office/drawing/2014/main" id="{BB7808D0-9E5A-901A-DB9C-636E9EF04311}"/>
              </a:ext>
            </a:extLst>
          </p:cNvPr>
          <p:cNvSpPr>
            <a:spLocks noGrp="1"/>
          </p:cNvSpPr>
          <p:nvPr>
            <p:ph type="sldNum" sz="quarter" idx="4"/>
          </p:nvPr>
        </p:nvSpPr>
        <p:spPr>
          <a:xfrm>
            <a:off x="11582400" y="6624251"/>
            <a:ext cx="914400" cy="233749"/>
          </a:xfrm>
        </p:spPr>
        <p:txBody>
          <a:bodyPr/>
          <a:lstStyle/>
          <a:p>
            <a:pPr>
              <a:defRPr/>
            </a:pPr>
            <a:fld id="{6516E9BE-843C-4425-80E4-36155279AD5E}" type="slidenum">
              <a:rPr lang="en-GB" smtClean="0"/>
              <a:pPr>
                <a:defRPr/>
              </a:pPr>
              <a:t>11</a:t>
            </a:fld>
            <a:endParaRPr lang="en-GB" dirty="0"/>
          </a:p>
        </p:txBody>
      </p:sp>
      <p:pic>
        <p:nvPicPr>
          <p:cNvPr id="8" name="Picture 7">
            <a:extLst>
              <a:ext uri="{FF2B5EF4-FFF2-40B4-BE49-F238E27FC236}">
                <a16:creationId xmlns:a16="http://schemas.microsoft.com/office/drawing/2014/main" id="{927AEA6E-111A-D129-7FA9-B66007F90399}"/>
              </a:ext>
            </a:extLst>
          </p:cNvPr>
          <p:cNvPicPr>
            <a:picLocks noChangeAspect="1"/>
          </p:cNvPicPr>
          <p:nvPr/>
        </p:nvPicPr>
        <p:blipFill>
          <a:blip r:embed="rId3"/>
          <a:stretch>
            <a:fillRect/>
          </a:stretch>
        </p:blipFill>
        <p:spPr>
          <a:xfrm>
            <a:off x="393958" y="766895"/>
            <a:ext cx="11406155" cy="5742761"/>
          </a:xfrm>
          <a:prstGeom prst="rect">
            <a:avLst/>
          </a:prstGeom>
        </p:spPr>
      </p:pic>
    </p:spTree>
    <p:extLst>
      <p:ext uri="{BB962C8B-B14F-4D97-AF65-F5344CB8AC3E}">
        <p14:creationId xmlns:p14="http://schemas.microsoft.com/office/powerpoint/2010/main" val="3252865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4A2662-0B29-43D0-0F0A-92150E3196D9}"/>
              </a:ext>
            </a:extLst>
          </p:cNvPr>
          <p:cNvSpPr/>
          <p:nvPr/>
        </p:nvSpPr>
        <p:spPr bwMode="auto">
          <a:xfrm>
            <a:off x="8229600" y="457200"/>
            <a:ext cx="3200400" cy="1066800"/>
          </a:xfrm>
          <a:prstGeom prst="rect">
            <a:avLst/>
          </a:prstGeom>
          <a:solidFill>
            <a:srgbClr val="ED1D24"/>
          </a:solidFill>
          <a:ln w="9525" cap="flat" cmpd="sng" algn="ctr">
            <a:solidFill>
              <a:srgbClr val="ED1D2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p:txBody>
      </p:sp>
      <p:sp>
        <p:nvSpPr>
          <p:cNvPr id="5" name="Title 4"/>
          <p:cNvSpPr>
            <a:spLocks noGrp="1"/>
          </p:cNvSpPr>
          <p:nvPr>
            <p:ph type="ctrTitle"/>
          </p:nvPr>
        </p:nvSpPr>
        <p:spPr/>
        <p:txBody>
          <a:bodyPr/>
          <a:lstStyle/>
          <a:p>
            <a:r>
              <a:rPr lang="en-US" sz="2000" dirty="0">
                <a:latin typeface="Verdana" panose="020B0604030504040204" pitchFamily="34" charset="0"/>
                <a:ea typeface="Verdana" panose="020B0604030504040204" pitchFamily="34" charset="0"/>
                <a:cs typeface="Verdana" panose="020B0604030504040204" pitchFamily="34" charset="0"/>
              </a:rPr>
              <a:t>RAKINSURANCE</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Open Management Actions Update</a:t>
            </a:r>
            <a:br>
              <a:rPr lang="en-US" sz="2000" b="0" dirty="0">
                <a:latin typeface="Verdana" panose="020B0604030504040204" pitchFamily="34" charset="0"/>
                <a:ea typeface="Verdana" panose="020B0604030504040204" pitchFamily="34" charset="0"/>
                <a:cs typeface="Verdana" panose="020B0604030504040204" pitchFamily="34" charset="0"/>
              </a:rPr>
            </a:br>
            <a:endParaRPr lang="en-US" sz="2000" b="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a:extLst>
              <a:ext uri="{FF2B5EF4-FFF2-40B4-BE49-F238E27FC236}">
                <a16:creationId xmlns:a16="http://schemas.microsoft.com/office/drawing/2014/main" id="{477C6B51-359A-01F4-26FF-F53F09CC6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0233" y="457200"/>
            <a:ext cx="3114134" cy="903099"/>
          </a:xfrm>
          <a:prstGeom prst="rect">
            <a:avLst/>
          </a:prstGeom>
        </p:spPr>
      </p:pic>
      <p:sp>
        <p:nvSpPr>
          <p:cNvPr id="6" name="Slide Number Placeholder 5">
            <a:extLst>
              <a:ext uri="{FF2B5EF4-FFF2-40B4-BE49-F238E27FC236}">
                <a16:creationId xmlns:a16="http://schemas.microsoft.com/office/drawing/2014/main" id="{9C364B6D-8618-0D49-0691-1FFF92E17B02}"/>
              </a:ext>
            </a:extLst>
          </p:cNvPr>
          <p:cNvSpPr>
            <a:spLocks noGrp="1"/>
          </p:cNvSpPr>
          <p:nvPr>
            <p:ph type="sldNum" sz="quarter" idx="12"/>
          </p:nvPr>
        </p:nvSpPr>
        <p:spPr/>
        <p:txBody>
          <a:bodyPr/>
          <a:lstStyle/>
          <a:p>
            <a:fld id="{B3CE4FC1-9BFD-4D71-B62C-EB069A42157A}" type="slidenum">
              <a:rPr lang="en-US" smtClean="0">
                <a:solidFill>
                  <a:srgbClr val="FFFFFF"/>
                </a:solidFill>
              </a:rPr>
              <a:pPr/>
              <a:t>12</a:t>
            </a:fld>
            <a:endParaRPr lang="en-US">
              <a:solidFill>
                <a:srgbClr val="FFFFFF"/>
              </a:solidFill>
            </a:endParaRPr>
          </a:p>
        </p:txBody>
      </p:sp>
    </p:spTree>
    <p:extLst>
      <p:ext uri="{BB962C8B-B14F-4D97-AF65-F5344CB8AC3E}">
        <p14:creationId xmlns:p14="http://schemas.microsoft.com/office/powerpoint/2010/main" val="416607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50BB7D-36C8-94F1-65DB-6F9685C826FE}"/>
              </a:ext>
            </a:extLst>
          </p:cNvPr>
          <p:cNvSpPr/>
          <p:nvPr/>
        </p:nvSpPr>
        <p:spPr bwMode="auto">
          <a:xfrm flipH="1">
            <a:off x="968030" y="839947"/>
            <a:ext cx="10166858" cy="5582078"/>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sp>
        <p:nvSpPr>
          <p:cNvPr id="9" name="Title 1"/>
          <p:cNvSpPr>
            <a:spLocks noGrp="1"/>
          </p:cNvSpPr>
          <p:nvPr>
            <p:ph type="title"/>
          </p:nvPr>
        </p:nvSpPr>
        <p:spPr>
          <a:xfrm>
            <a:off x="0" y="1"/>
            <a:ext cx="12192000" cy="614750"/>
          </a:xfrm>
        </p:spPr>
        <p:txBody>
          <a:bodyPr anchor="ctr"/>
          <a:lstStyle/>
          <a:p>
            <a:r>
              <a:rPr lang="en-US" sz="2000" dirty="0">
                <a:latin typeface="Verdana" panose="020B0604030504040204" pitchFamily="34" charset="0"/>
                <a:ea typeface="Verdana" panose="020B0604030504040204" pitchFamily="34" charset="0"/>
              </a:rPr>
              <a:t>    Open and Overdue Management Actions (RAKINSURANCE)</a:t>
            </a:r>
          </a:p>
        </p:txBody>
      </p:sp>
      <p:sp>
        <p:nvSpPr>
          <p:cNvPr id="4" name="Slide Number Placeholder 3"/>
          <p:cNvSpPr>
            <a:spLocks noGrp="1"/>
          </p:cNvSpPr>
          <p:nvPr>
            <p:ph type="sldNum" sz="quarter" idx="4"/>
          </p:nvPr>
        </p:nvSpPr>
        <p:spPr/>
        <p:txBody>
          <a:bodyPr/>
          <a:lstStyle/>
          <a:p>
            <a:pPr>
              <a:defRPr/>
            </a:pPr>
            <a:fld id="{6516E9BE-843C-4425-80E4-36155279AD5E}" type="slidenum">
              <a:rPr lang="en-GB">
                <a:latin typeface="Calibri"/>
              </a:rPr>
              <a:pPr>
                <a:defRPr/>
              </a:pPr>
              <a:t>13</a:t>
            </a:fld>
            <a:endParaRPr lang="en-GB">
              <a:latin typeface="Calibri"/>
            </a:endParaRPr>
          </a:p>
        </p:txBody>
      </p:sp>
      <p:sp>
        <p:nvSpPr>
          <p:cNvPr id="7" name="TextBox 6">
            <a:extLst>
              <a:ext uri="{FF2B5EF4-FFF2-40B4-BE49-F238E27FC236}">
                <a16:creationId xmlns:a16="http://schemas.microsoft.com/office/drawing/2014/main" id="{083C7E0D-88A3-C0BD-A479-B36DF62C5992}"/>
              </a:ext>
            </a:extLst>
          </p:cNvPr>
          <p:cNvSpPr txBox="1"/>
          <p:nvPr/>
        </p:nvSpPr>
        <p:spPr>
          <a:xfrm>
            <a:off x="1169703" y="839947"/>
            <a:ext cx="2552302" cy="369332"/>
          </a:xfrm>
          <a:prstGeom prst="rect">
            <a:avLst/>
          </a:prstGeom>
          <a:noFill/>
        </p:spPr>
        <p:txBody>
          <a:bodyPr wrap="none" rtlCol="0" anchor="t">
            <a:spAutoFit/>
          </a:bodyPr>
          <a:lstStyle/>
          <a:p>
            <a:r>
              <a:rPr lang="en-US" b="1" u="sng" dirty="0">
                <a:latin typeface="Verdana" panose="020B0604030504040204" pitchFamily="34" charset="0"/>
                <a:ea typeface="Verdana" panose="020B0604030504040204" pitchFamily="34" charset="0"/>
              </a:rPr>
              <a:t>Actions Summary:</a:t>
            </a:r>
            <a:endParaRPr lang="en-AE" b="1" u="sng" dirty="0" err="1">
              <a:latin typeface="Verdana" panose="020B0604030504040204" pitchFamily="34" charset="0"/>
              <a:ea typeface="Verdana" panose="020B0604030504040204" pitchFamily="34" charset="0"/>
            </a:endParaRPr>
          </a:p>
        </p:txBody>
      </p:sp>
      <p:sp>
        <p:nvSpPr>
          <p:cNvPr id="8" name="TextBox 7">
            <a:extLst>
              <a:ext uri="{FF2B5EF4-FFF2-40B4-BE49-F238E27FC236}">
                <a16:creationId xmlns:a16="http://schemas.microsoft.com/office/drawing/2014/main" id="{E0A89669-C44E-EAD9-2EA8-9761F07F7AF7}"/>
              </a:ext>
            </a:extLst>
          </p:cNvPr>
          <p:cNvSpPr txBox="1"/>
          <p:nvPr/>
        </p:nvSpPr>
        <p:spPr>
          <a:xfrm>
            <a:off x="5994400" y="853133"/>
            <a:ext cx="2412840" cy="369332"/>
          </a:xfrm>
          <a:prstGeom prst="rect">
            <a:avLst/>
          </a:prstGeom>
          <a:noFill/>
        </p:spPr>
        <p:txBody>
          <a:bodyPr wrap="none" rtlCol="0" anchor="t">
            <a:spAutoFit/>
          </a:bodyPr>
          <a:lstStyle/>
          <a:p>
            <a:r>
              <a:rPr lang="en-US" b="1" u="sng" dirty="0">
                <a:latin typeface="Verdana" panose="020B0604030504040204" pitchFamily="34" charset="0"/>
                <a:ea typeface="Verdana" panose="020B0604030504040204" pitchFamily="34" charset="0"/>
              </a:rPr>
              <a:t>Overdue Actions:</a:t>
            </a:r>
            <a:endParaRPr lang="en-AE" b="1" u="sng" dirty="0" err="1">
              <a:latin typeface="Verdana" panose="020B0604030504040204" pitchFamily="34" charset="0"/>
              <a:ea typeface="Verdana" panose="020B0604030504040204" pitchFamily="34" charset="0"/>
            </a:endParaRPr>
          </a:p>
        </p:txBody>
      </p:sp>
      <p:pic>
        <p:nvPicPr>
          <p:cNvPr id="5" name="Picture 4">
            <a:extLst>
              <a:ext uri="{FF2B5EF4-FFF2-40B4-BE49-F238E27FC236}">
                <a16:creationId xmlns:a16="http://schemas.microsoft.com/office/drawing/2014/main" id="{2CC0BCE1-6C8E-8CE0-E693-9A6ACF11CB5A}"/>
              </a:ext>
            </a:extLst>
          </p:cNvPr>
          <p:cNvPicPr>
            <a:picLocks noChangeAspect="1"/>
          </p:cNvPicPr>
          <p:nvPr/>
        </p:nvPicPr>
        <p:blipFill>
          <a:blip r:embed="rId3"/>
          <a:stretch>
            <a:fillRect/>
          </a:stretch>
        </p:blipFill>
        <p:spPr>
          <a:xfrm>
            <a:off x="6046914" y="1235651"/>
            <a:ext cx="4957341" cy="5078063"/>
          </a:xfrm>
          <a:prstGeom prst="rect">
            <a:avLst/>
          </a:prstGeom>
        </p:spPr>
      </p:pic>
      <p:pic>
        <p:nvPicPr>
          <p:cNvPr id="11" name="Picture 10">
            <a:extLst>
              <a:ext uri="{FF2B5EF4-FFF2-40B4-BE49-F238E27FC236}">
                <a16:creationId xmlns:a16="http://schemas.microsoft.com/office/drawing/2014/main" id="{88193A69-20B0-B678-C8D4-B862D8BE00DA}"/>
              </a:ext>
            </a:extLst>
          </p:cNvPr>
          <p:cNvPicPr>
            <a:picLocks noChangeAspect="1"/>
          </p:cNvPicPr>
          <p:nvPr/>
        </p:nvPicPr>
        <p:blipFill>
          <a:blip r:embed="rId4"/>
          <a:stretch>
            <a:fillRect/>
          </a:stretch>
        </p:blipFill>
        <p:spPr>
          <a:xfrm>
            <a:off x="1041859" y="1387004"/>
            <a:ext cx="2920541" cy="2041996"/>
          </a:xfrm>
          <a:prstGeom prst="rect">
            <a:avLst/>
          </a:prstGeom>
        </p:spPr>
      </p:pic>
    </p:spTree>
    <p:extLst>
      <p:ext uri="{BB962C8B-B14F-4D97-AF65-F5344CB8AC3E}">
        <p14:creationId xmlns:p14="http://schemas.microsoft.com/office/powerpoint/2010/main" val="28445508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2.xml><?xml version="1.0" encoding="utf-8"?>
<a:theme xmlns:a="http://schemas.openxmlformats.org/drawingml/2006/main" name="2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XMLData TextToDisplay="RightsWATCHMark">3|RAK-Rakbank All-Confidential|{00000000-0000-0000-0000-000000000000}</XMLData>
</file>

<file path=customXml/item2.xml><?xml version="1.0" encoding="utf-8"?>
<XMLData TextToDisplay="%CLASSIFICATIONDATETIME%">07:41 21/09/2021</XMLData>
</file>

<file path=customXml/item3.xml><?xml version="1.0" encoding="utf-8"?>
<GTBClassification>
  <attrValue xml:space="preserve">RAKBANK-Confidential</attrValue>
  <customPropName>RAKBANK Classification</customPropName>
  <timestamp>9/30/2021 10:25:50 AM</timestamp>
  <userName>WATANI_RAK\farhaali</userName>
  <computerName>RBDT4490.rakbank.co.ae</computerName>
  <guid>{4da0e3ed-a1bd-4c94-82a3-e958357fa577}</guid>
</GTBClassification>
</file>

<file path=customXml/item4.xml><?xml version="1.0" encoding="utf-8"?>
<XMLData TextToDisplay="%DOCUMENTGUID%">{00000000-0000-0000-0000-000000000000}</XMLData>
</file>

<file path=customXml/itemProps1.xml><?xml version="1.0" encoding="utf-8"?>
<ds:datastoreItem xmlns:ds="http://schemas.openxmlformats.org/officeDocument/2006/customXml" ds:itemID="{C33F9D44-0F94-4374-8620-3006C62EA69B}">
  <ds:schemaRefs/>
</ds:datastoreItem>
</file>

<file path=customXml/itemProps2.xml><?xml version="1.0" encoding="utf-8"?>
<ds:datastoreItem xmlns:ds="http://schemas.openxmlformats.org/officeDocument/2006/customXml" ds:itemID="{A17FFAE3-84F2-40C9-B4EE-0C877480534B}">
  <ds:schemaRefs/>
</ds:datastoreItem>
</file>

<file path=customXml/itemProps3.xml><?xml version="1.0" encoding="utf-8"?>
<ds:datastoreItem xmlns:ds="http://schemas.openxmlformats.org/officeDocument/2006/customXml" ds:itemID="{6BEA0AF3-B783-4400-A5B6-F30CEF4D9BFC}">
  <ds:schemaRefs/>
</ds:datastoreItem>
</file>

<file path=customXml/itemProps4.xml><?xml version="1.0" encoding="utf-8"?>
<ds:datastoreItem xmlns:ds="http://schemas.openxmlformats.org/officeDocument/2006/customXml" ds:itemID="{F5E72446-2CD9-49C7-8678-859CC9B29804}">
  <ds:schemaRefs/>
</ds:datastoreItem>
</file>

<file path=docProps/app.xml><?xml version="1.0" encoding="utf-8"?>
<Properties xmlns="http://schemas.openxmlformats.org/officeDocument/2006/extended-properties" xmlns:vt="http://schemas.openxmlformats.org/officeDocument/2006/docPropsVTypes">
  <Template/>
  <TotalTime>4013</TotalTime>
  <Words>1335</Words>
  <Application>Microsoft Office PowerPoint</Application>
  <PresentationFormat>Widescreen</PresentationFormat>
  <Paragraphs>172</Paragraphs>
  <Slides>13</Slides>
  <Notes>4</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Segoe UI</vt:lpstr>
      <vt:lpstr>Times New Roman</vt:lpstr>
      <vt:lpstr>Trebuchet MS</vt:lpstr>
      <vt:lpstr>Verdana</vt:lpstr>
      <vt:lpstr>Wingdings</vt:lpstr>
      <vt:lpstr>1_Group Strategy Template 2018</vt:lpstr>
      <vt:lpstr>2_Group Strategy Template 2018</vt:lpstr>
      <vt:lpstr>think-cell Slide</vt:lpstr>
      <vt:lpstr>PowerPoint Presentation</vt:lpstr>
      <vt:lpstr>2024 PwC Management Letter Management Actions Update</vt:lpstr>
      <vt:lpstr>    Status of External Assurance Providers (PWC Management Letter) - 2024</vt:lpstr>
      <vt:lpstr>PowerPoint Presentation</vt:lpstr>
      <vt:lpstr>PowerPoint Presentation</vt:lpstr>
      <vt:lpstr>PowerPoint Presentation</vt:lpstr>
      <vt:lpstr>RAKBANK GROUP Open Management Actions Summary - Update </vt:lpstr>
      <vt:lpstr>    Open Management Actions Summary - GROUP </vt:lpstr>
      <vt:lpstr>    Open Management Actions Summary – RAKBANK (excluding RAKislamic &amp; RAKINSURANCE)</vt:lpstr>
      <vt:lpstr>    Overdue Management Actions Summary - RAKBANK (excl. RAKislamic &amp; RAKINSURANCE)</vt:lpstr>
      <vt:lpstr>    Open Management Actions Overview (Quarter-wise) - GROUP</vt:lpstr>
      <vt:lpstr>RAKINSURANCE Open Management Actions Update </vt:lpstr>
      <vt:lpstr>    Open and Overdue Management Actions (RAKINSURANCE)</vt:lpstr>
    </vt:vector>
  </TitlesOfParts>
  <Company>Relationship marketing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dc:title>
  <dc:creator>Nicola.Thompson@rakbank.ae</dc:creator>
  <cp:lastModifiedBy>Deepa Ajit</cp:lastModifiedBy>
  <cp:revision>342</cp:revision>
  <cp:lastPrinted>2024-07-16T11:25:28Z</cp:lastPrinted>
  <dcterms:created xsi:type="dcterms:W3CDTF">2007-05-09T13:59:27Z</dcterms:created>
  <dcterms:modified xsi:type="dcterms:W3CDTF">2025-12-05T13:26:50Z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3|RAK-Rakbank All-Confidential|{00000000-0000-0000-0000-000000000000}</vt:lpwstr>
  </property>
  <property fmtid="{D5CDD505-2E9C-101B-9397-08002B2CF9AE}" pid="3" name="RAKBANK Classification">
    <vt:lpwstr>RAKBANK-Confidential</vt:lpwstr>
  </property>
  <property fmtid="{D5CDD505-2E9C-101B-9397-08002B2CF9AE}" pid="4" name="ClassifiedBy">
    <vt:lpwstr>WATANI_RAK\farhaali</vt:lpwstr>
  </property>
  <property fmtid="{D5CDD505-2E9C-101B-9397-08002B2CF9AE}" pid="5" name="ClassificationHost">
    <vt:lpwstr>RBDT4490.rakbank.co.ae</vt:lpwstr>
  </property>
  <property fmtid="{D5CDD505-2E9C-101B-9397-08002B2CF9AE}" pid="6" name="ClassificationDate">
    <vt:lpwstr>9/30/2021 10:25:50 AM</vt:lpwstr>
  </property>
  <property fmtid="{D5CDD505-2E9C-101B-9397-08002B2CF9AE}" pid="7" name="ClassificationGUID">
    <vt:lpwstr>{4da0e3ed-a1bd-4c94-82a3-e958357fa577}</vt:lpwstr>
  </property>
  <property fmtid="{D5CDD505-2E9C-101B-9397-08002B2CF9AE}" pid="8" name="MSIP_Label_4de9b19c-85c7-4812-9bbe-e788e29f7580_Enabled">
    <vt:lpwstr>true</vt:lpwstr>
  </property>
  <property fmtid="{D5CDD505-2E9C-101B-9397-08002B2CF9AE}" pid="9" name="MSIP_Label_4de9b19c-85c7-4812-9bbe-e788e29f7580_SetDate">
    <vt:lpwstr>2024-07-11T10:40:29Z</vt:lpwstr>
  </property>
  <property fmtid="{D5CDD505-2E9C-101B-9397-08002B2CF9AE}" pid="10" name="MSIP_Label_4de9b19c-85c7-4812-9bbe-e788e29f7580_Method">
    <vt:lpwstr>Standard</vt:lpwstr>
  </property>
  <property fmtid="{D5CDD505-2E9C-101B-9397-08002B2CF9AE}" pid="11" name="MSIP_Label_4de9b19c-85c7-4812-9bbe-e788e29f7580_Name">
    <vt:lpwstr>RAKBANK-Internal</vt:lpwstr>
  </property>
  <property fmtid="{D5CDD505-2E9C-101B-9397-08002B2CF9AE}" pid="12" name="MSIP_Label_4de9b19c-85c7-4812-9bbe-e788e29f7580_SiteId">
    <vt:lpwstr>fbb70b95-2828-4ce3-90d5-c6e1ff243618</vt:lpwstr>
  </property>
  <property fmtid="{D5CDD505-2E9C-101B-9397-08002B2CF9AE}" pid="13" name="MSIP_Label_4de9b19c-85c7-4812-9bbe-e788e29f7580_ActionId">
    <vt:lpwstr>c33e6601-0275-4d7b-b08b-0c72469bd9f4</vt:lpwstr>
  </property>
  <property fmtid="{D5CDD505-2E9C-101B-9397-08002B2CF9AE}" pid="14" name="MSIP_Label_4de9b19c-85c7-4812-9bbe-e788e29f7580_ContentBits">
    <vt:lpwstr>1</vt:lpwstr>
  </property>
  <property fmtid="{D5CDD505-2E9C-101B-9397-08002B2CF9AE}" pid="15" name="ClassificationContentMarkingHeaderLocations">
    <vt:lpwstr>1_Group Strategy Template 2018:4\2_Group Strategy Template 2018:4</vt:lpwstr>
  </property>
  <property fmtid="{D5CDD505-2E9C-101B-9397-08002B2CF9AE}" pid="16" name="ClassificationContentMarkingHeaderText">
    <vt:lpwstr>Classification: RAKBANK-Internal</vt:lpwstr>
  </property>
</Properties>
</file>